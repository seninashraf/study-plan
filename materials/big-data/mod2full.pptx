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79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80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</p:sldIdLst>
  <p:sldSz cy="5143500" cx="9144000"/>
  <p:notesSz cx="9144000" cy="51435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  <p:ext uri="GoogleSlidesCustomDataVersion2">
      <go:slidesCustomData xmlns:go="http://customooxmlschemas.google.com/" r:id="rId89" roundtripDataSignature="AMtx7mhEUyEjRZ9HUYoXSkLrcYWlXu/mB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1448122-8A8F-4DB4-BDEA-ED05E2EE1155}">
  <a:tblStyle styleId="{F1448122-8A8F-4DB4-BDEA-ED05E2EE115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84" Type="http://schemas.openxmlformats.org/officeDocument/2006/relationships/slide" Target="slides/slide78.xml"/><Relationship Id="rId83" Type="http://schemas.openxmlformats.org/officeDocument/2006/relationships/slide" Target="slides/slide77.xml"/><Relationship Id="rId42" Type="http://schemas.openxmlformats.org/officeDocument/2006/relationships/slide" Target="slides/slide36.xml"/><Relationship Id="rId86" Type="http://schemas.openxmlformats.org/officeDocument/2006/relationships/slide" Target="slides/slide80.xml"/><Relationship Id="rId41" Type="http://schemas.openxmlformats.org/officeDocument/2006/relationships/slide" Target="slides/slide35.xml"/><Relationship Id="rId85" Type="http://schemas.openxmlformats.org/officeDocument/2006/relationships/slide" Target="slides/slide79.xml"/><Relationship Id="rId44" Type="http://schemas.openxmlformats.org/officeDocument/2006/relationships/slide" Target="slides/slide38.xml"/><Relationship Id="rId88" Type="http://schemas.openxmlformats.org/officeDocument/2006/relationships/slide" Target="slides/slide82.xml"/><Relationship Id="rId43" Type="http://schemas.openxmlformats.org/officeDocument/2006/relationships/slide" Target="slides/slide37.xml"/><Relationship Id="rId87" Type="http://schemas.openxmlformats.org/officeDocument/2006/relationships/slide" Target="slides/slide81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89" Type="http://customschemas.google.com/relationships/presentationmetadata" Target="metadata"/><Relationship Id="rId80" Type="http://schemas.openxmlformats.org/officeDocument/2006/relationships/slide" Target="slides/slide74.xml"/><Relationship Id="rId82" Type="http://schemas.openxmlformats.org/officeDocument/2006/relationships/slide" Target="slides/slide76.xml"/><Relationship Id="rId81" Type="http://schemas.openxmlformats.org/officeDocument/2006/relationships/slide" Target="slides/slide75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31" Type="http://schemas.openxmlformats.org/officeDocument/2006/relationships/slide" Target="slides/slide25.xml"/><Relationship Id="rId75" Type="http://schemas.openxmlformats.org/officeDocument/2006/relationships/slide" Target="slides/slide69.xml"/><Relationship Id="rId30" Type="http://schemas.openxmlformats.org/officeDocument/2006/relationships/slide" Target="slides/slide24.xml"/><Relationship Id="rId74" Type="http://schemas.openxmlformats.org/officeDocument/2006/relationships/slide" Target="slides/slide68.xml"/><Relationship Id="rId33" Type="http://schemas.openxmlformats.org/officeDocument/2006/relationships/slide" Target="slides/slide27.xml"/><Relationship Id="rId77" Type="http://schemas.openxmlformats.org/officeDocument/2006/relationships/slide" Target="slides/slide71.xml"/><Relationship Id="rId32" Type="http://schemas.openxmlformats.org/officeDocument/2006/relationships/slide" Target="slides/slide26.xml"/><Relationship Id="rId76" Type="http://schemas.openxmlformats.org/officeDocument/2006/relationships/slide" Target="slides/slide70.xml"/><Relationship Id="rId35" Type="http://schemas.openxmlformats.org/officeDocument/2006/relationships/slide" Target="slides/slide29.xml"/><Relationship Id="rId79" Type="http://schemas.openxmlformats.org/officeDocument/2006/relationships/slide" Target="slides/slide73.xml"/><Relationship Id="rId34" Type="http://schemas.openxmlformats.org/officeDocument/2006/relationships/slide" Target="slides/slide28.xml"/><Relationship Id="rId78" Type="http://schemas.openxmlformats.org/officeDocument/2006/relationships/slide" Target="slides/slide72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22" Type="http://schemas.openxmlformats.org/officeDocument/2006/relationships/slide" Target="slides/slide16.xml"/><Relationship Id="rId66" Type="http://schemas.openxmlformats.org/officeDocument/2006/relationships/slide" Target="slides/slide60.xml"/><Relationship Id="rId21" Type="http://schemas.openxmlformats.org/officeDocument/2006/relationships/slide" Target="slides/slide15.xml"/><Relationship Id="rId65" Type="http://schemas.openxmlformats.org/officeDocument/2006/relationships/slide" Target="slides/slide59.xml"/><Relationship Id="rId24" Type="http://schemas.openxmlformats.org/officeDocument/2006/relationships/slide" Target="slides/slide18.xml"/><Relationship Id="rId68" Type="http://schemas.openxmlformats.org/officeDocument/2006/relationships/slide" Target="slides/slide62.xml"/><Relationship Id="rId23" Type="http://schemas.openxmlformats.org/officeDocument/2006/relationships/slide" Target="slides/slide17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slide" Target="slides/slide63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0eb984004b_0_5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20eb984004b_0_5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2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0eb984004b_0_11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20eb984004b_0_11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2232a3d51ce_0_0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2232a3d51ce_0_0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232a3d51ce_0_18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232a3d51ce_0_18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232a3d51ce_0_27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2232a3d51ce_0_27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232a3d51ce_0_12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232a3d51ce_0_12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0eb984004b_0_20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20eb984004b_0_20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3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2232a3d51ce_0_34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2232a3d51ce_0_34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8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8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9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9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bd7c502c7d_0_9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g2bd7c502c7d_0_9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0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0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237bfeee9f_0_13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g2237bfeee9f_0_13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2237bfeee9f_0_6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2237bfeee9f_0_6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2bde9b46a58_0_1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2bde9b46a58_0_1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2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2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237bfeee9f_0_0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2237bfeee9f_0_0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2233044a85a_0_18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g2233044a85a_0_18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4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4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5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5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226974b3126_0_3:notes"/>
          <p:cNvSpPr txBox="1"/>
          <p:nvPr>
            <p:ph idx="1" type="body"/>
          </p:nvPr>
        </p:nvSpPr>
        <p:spPr>
          <a:xfrm>
            <a:off x="914400" y="2443163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g226974b3126_0_3:notes"/>
          <p:cNvSpPr/>
          <p:nvPr>
            <p:ph idx="2" type="sldImg"/>
          </p:nvPr>
        </p:nvSpPr>
        <p:spPr>
          <a:xfrm>
            <a:off x="508250" y="385763"/>
            <a:ext cx="8128500" cy="19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226974b3126_0_299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226974b3126_0_299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226974b3126_0_156:notes"/>
          <p:cNvSpPr txBox="1"/>
          <p:nvPr>
            <p:ph idx="1" type="body"/>
          </p:nvPr>
        </p:nvSpPr>
        <p:spPr>
          <a:xfrm>
            <a:off x="914400" y="2443163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g226974b3126_0_156:notes"/>
          <p:cNvSpPr/>
          <p:nvPr>
            <p:ph idx="2" type="sldImg"/>
          </p:nvPr>
        </p:nvSpPr>
        <p:spPr>
          <a:xfrm>
            <a:off x="508250" y="385763"/>
            <a:ext cx="8128500" cy="19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226974b3126_0_216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226974b3126_0_216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226974b3126_0_225:notes"/>
          <p:cNvSpPr txBox="1"/>
          <p:nvPr>
            <p:ph idx="1" type="body"/>
          </p:nvPr>
        </p:nvSpPr>
        <p:spPr>
          <a:xfrm>
            <a:off x="914400" y="2443163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g226974b3126_0_225:notes"/>
          <p:cNvSpPr/>
          <p:nvPr>
            <p:ph idx="2" type="sldImg"/>
          </p:nvPr>
        </p:nvSpPr>
        <p:spPr>
          <a:xfrm>
            <a:off x="508250" y="385763"/>
            <a:ext cx="8128500" cy="19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226974b3126_0_280:notes"/>
          <p:cNvSpPr txBox="1"/>
          <p:nvPr>
            <p:ph idx="1" type="body"/>
          </p:nvPr>
        </p:nvSpPr>
        <p:spPr>
          <a:xfrm>
            <a:off x="914400" y="2443163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g226974b3126_0_280:notes"/>
          <p:cNvSpPr/>
          <p:nvPr>
            <p:ph idx="2" type="sldImg"/>
          </p:nvPr>
        </p:nvSpPr>
        <p:spPr>
          <a:xfrm>
            <a:off x="508250" y="385763"/>
            <a:ext cx="8128500" cy="19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2c42be31073_0_8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2c42be31073_0_8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226974b3126_0_289:notes"/>
          <p:cNvSpPr txBox="1"/>
          <p:nvPr>
            <p:ph idx="1" type="body"/>
          </p:nvPr>
        </p:nvSpPr>
        <p:spPr>
          <a:xfrm>
            <a:off x="914400" y="2443163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g226974b3126_0_289:notes"/>
          <p:cNvSpPr/>
          <p:nvPr>
            <p:ph idx="2" type="sldImg"/>
          </p:nvPr>
        </p:nvSpPr>
        <p:spPr>
          <a:xfrm>
            <a:off x="508250" y="385763"/>
            <a:ext cx="8128500" cy="19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226974b3126_0_307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226974b3126_0_307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226974b3126_0_314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226974b3126_0_314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226974b3126_0_320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226974b3126_0_320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227a03650a9_0_0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227a03650a9_0_0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7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7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22a20d60717_0_13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22a20d60717_0_13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22a20d60717_0_7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g22a20d60717_0_7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26bff9f8a4a_0_0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g26bff9f8a4a_0_0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22a20d60717_0_0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g22a20d60717_0_0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9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9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0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20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22a20d60717_0_26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22a20d60717_0_26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1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21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2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22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22a20d60717_0_32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g22a20d60717_0_32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1e0cfc764f5_0_4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1e0cfc764f5_0_4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1e0cfc764f5_0_11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1e0cfc764f5_0_11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26bff9f8a4a_0_7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" name="Google Shape;373;g26bff9f8a4a_0_7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26bff9f8a4a_1_10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26bff9f8a4a_1_10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26bff9f8a4a_1_16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26bff9f8a4a_1_16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26bff9f8a4a_1_21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9" name="Google Shape;389;g26bff9f8a4a_1_21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23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23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25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25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27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27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26bff9f8a4a_1_37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26bff9f8a4a_1_37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9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29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22e8e8dd105_0_0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3" name="Google Shape;423;g22e8e8dd105_0_0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26c314548da_0_22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g26c314548da_0_22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31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31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26c314548da_0_1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g26c314548da_0_1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26c314548da_0_9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g26c314548da_0_9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32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32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1e11cf50403_0_7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1e11cf50403_0_7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1e11cf50403_0_13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5" name="Google Shape;465;g1e11cf50403_0_13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1e11cf50403_0_21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1" name="Google Shape;471;g1e11cf50403_0_21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1e11cf50403_0_38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9" name="Google Shape;479;g1e11cf50403_0_38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26c314548da_0_16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4" name="Google Shape;484;g26c314548da_0_16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219c5fb9f9d_0_0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9" name="Google Shape;489;g219c5fb9f9d_0_0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2c800573588_0_1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6" name="Google Shape;496;g2c800573588_0_1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2310cd6c3bc_0_0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2" name="Google Shape;502;g2310cd6c3bc_0_0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2c800573588_0_13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8" name="Google Shape;508;g2c800573588_0_13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2c800573588_0_21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4" name="Google Shape;514;g2c800573588_0_21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2c800573588_0_31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1" name="Google Shape;521;g2c800573588_0_31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g26d23e5dc12_0_39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6" name="Google Shape;526;g26d23e5dc12_0_39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2c800573588_0_8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2c800573588_0_8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26d23e5dc12_0_1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26d23e5dc12_0_1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26d23e5dc12_0_8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5" name="Google Shape;545;g26d23e5dc12_0_8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26d23e5dc12_0_21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1" name="Google Shape;551;g26d23e5dc12_0_21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g26d23e5dc12_0_28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8" name="Google Shape;558;g26d23e5dc12_0_28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g26d23e5dc12_0_48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4" name="Google Shape;564;g26d23e5dc12_0_48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g2c623facacc_0_0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9" name="Google Shape;569;g2c623facacc_0_0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4"/>
          <p:cNvSpPr txBox="1"/>
          <p:nvPr>
            <p:ph type="ctrTitle"/>
          </p:nvPr>
        </p:nvSpPr>
        <p:spPr>
          <a:xfrm>
            <a:off x="3182420" y="1879849"/>
            <a:ext cx="2779159" cy="817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5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4"/>
          <p:cNvSpPr txBox="1"/>
          <p:nvPr>
            <p:ph idx="1" type="subTitle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4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4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4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5"/>
          <p:cNvSpPr txBox="1"/>
          <p:nvPr>
            <p:ph type="title"/>
          </p:nvPr>
        </p:nvSpPr>
        <p:spPr>
          <a:xfrm>
            <a:off x="384724" y="1176604"/>
            <a:ext cx="8374551" cy="6388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50">
                <a:solidFill>
                  <a:srgbClr val="02052D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5"/>
          <p:cNvSpPr txBox="1"/>
          <p:nvPr>
            <p:ph idx="1" type="body"/>
          </p:nvPr>
        </p:nvSpPr>
        <p:spPr>
          <a:xfrm>
            <a:off x="146449" y="1834021"/>
            <a:ext cx="8376920" cy="2389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5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5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5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6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6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6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7"/>
          <p:cNvSpPr txBox="1"/>
          <p:nvPr>
            <p:ph type="title"/>
          </p:nvPr>
        </p:nvSpPr>
        <p:spPr>
          <a:xfrm>
            <a:off x="384724" y="1176604"/>
            <a:ext cx="8374551" cy="6388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50">
                <a:solidFill>
                  <a:srgbClr val="02052D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7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7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7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8"/>
          <p:cNvSpPr txBox="1"/>
          <p:nvPr>
            <p:ph type="title"/>
          </p:nvPr>
        </p:nvSpPr>
        <p:spPr>
          <a:xfrm>
            <a:off x="384724" y="1176604"/>
            <a:ext cx="8374551" cy="6388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50">
                <a:solidFill>
                  <a:srgbClr val="02052D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8"/>
          <p:cNvSpPr txBox="1"/>
          <p:nvPr>
            <p:ph idx="1" type="body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8"/>
          <p:cNvSpPr txBox="1"/>
          <p:nvPr>
            <p:ph idx="2" type="body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8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38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8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">
  <p:cSld name="OBJECT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226974b3126_0_47"/>
          <p:cNvSpPr txBox="1"/>
          <p:nvPr>
            <p:ph type="title"/>
          </p:nvPr>
        </p:nvSpPr>
        <p:spPr>
          <a:xfrm>
            <a:off x="1271397" y="177889"/>
            <a:ext cx="6601200" cy="9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g226974b3126_0_47"/>
          <p:cNvSpPr txBox="1"/>
          <p:nvPr>
            <p:ph idx="1" type="body"/>
          </p:nvPr>
        </p:nvSpPr>
        <p:spPr>
          <a:xfrm>
            <a:off x="841044" y="1213675"/>
            <a:ext cx="7684800" cy="17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g226974b3126_0_47"/>
          <p:cNvSpPr txBox="1"/>
          <p:nvPr>
            <p:ph idx="11" type="ftr"/>
          </p:nvPr>
        </p:nvSpPr>
        <p:spPr>
          <a:xfrm>
            <a:off x="1853564" y="4699109"/>
            <a:ext cx="54324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g226974b3126_0_47"/>
          <p:cNvSpPr txBox="1"/>
          <p:nvPr>
            <p:ph idx="10" type="dt"/>
          </p:nvPr>
        </p:nvSpPr>
        <p:spPr>
          <a:xfrm>
            <a:off x="765454" y="4779119"/>
            <a:ext cx="385500" cy="16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g226974b3126_0_47"/>
          <p:cNvSpPr txBox="1"/>
          <p:nvPr>
            <p:ph idx="12" type="sldNum"/>
          </p:nvPr>
        </p:nvSpPr>
        <p:spPr>
          <a:xfrm>
            <a:off x="8606663" y="4779119"/>
            <a:ext cx="256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43815" marR="0" rtl="0" algn="l">
              <a:lnSpc>
                <a:spcPct val="116428"/>
              </a:lnSpc>
              <a:spcBef>
                <a:spcPts val="0"/>
              </a:spcBef>
              <a:buNone/>
              <a:defRPr b="0" i="0" sz="1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43815" marR="0" rtl="0" algn="l">
              <a:lnSpc>
                <a:spcPct val="116428"/>
              </a:lnSpc>
              <a:spcBef>
                <a:spcPts val="0"/>
              </a:spcBef>
              <a:buNone/>
              <a:defRPr b="0" i="0" sz="1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43815" marR="0" rtl="0" algn="l">
              <a:lnSpc>
                <a:spcPct val="116428"/>
              </a:lnSpc>
              <a:spcBef>
                <a:spcPts val="0"/>
              </a:spcBef>
              <a:buNone/>
              <a:defRPr b="0" i="0" sz="1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43815" marR="0" rtl="0" algn="l">
              <a:lnSpc>
                <a:spcPct val="116428"/>
              </a:lnSpc>
              <a:spcBef>
                <a:spcPts val="0"/>
              </a:spcBef>
              <a:buNone/>
              <a:defRPr b="0" i="0" sz="1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43815" marR="0" rtl="0" algn="l">
              <a:lnSpc>
                <a:spcPct val="116428"/>
              </a:lnSpc>
              <a:spcBef>
                <a:spcPts val="0"/>
              </a:spcBef>
              <a:buNone/>
              <a:defRPr b="0" i="0" sz="1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43815" marR="0" rtl="0" algn="l">
              <a:lnSpc>
                <a:spcPct val="116428"/>
              </a:lnSpc>
              <a:spcBef>
                <a:spcPts val="0"/>
              </a:spcBef>
              <a:buNone/>
              <a:defRPr b="0" i="0" sz="1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43815" marR="0" rtl="0" algn="l">
              <a:lnSpc>
                <a:spcPct val="116428"/>
              </a:lnSpc>
              <a:spcBef>
                <a:spcPts val="0"/>
              </a:spcBef>
              <a:buNone/>
              <a:defRPr b="0" i="0" sz="1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43815" marR="0" rtl="0" algn="l">
              <a:lnSpc>
                <a:spcPct val="116428"/>
              </a:lnSpc>
              <a:spcBef>
                <a:spcPts val="0"/>
              </a:spcBef>
              <a:buNone/>
              <a:defRPr b="0" i="0" sz="1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43815" marR="0" rtl="0" algn="l">
              <a:lnSpc>
                <a:spcPct val="116428"/>
              </a:lnSpc>
              <a:spcBef>
                <a:spcPts val="0"/>
              </a:spcBef>
              <a:buNone/>
              <a:defRPr b="0" i="0" sz="1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4381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800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2">
  <p:cSld name="OBJECT_2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226974b3126_0_206"/>
          <p:cNvSpPr txBox="1"/>
          <p:nvPr>
            <p:ph type="title"/>
          </p:nvPr>
        </p:nvSpPr>
        <p:spPr>
          <a:xfrm>
            <a:off x="1271397" y="177889"/>
            <a:ext cx="6601200" cy="9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g226974b3126_0_206"/>
          <p:cNvSpPr txBox="1"/>
          <p:nvPr>
            <p:ph idx="1" type="body"/>
          </p:nvPr>
        </p:nvSpPr>
        <p:spPr>
          <a:xfrm>
            <a:off x="841044" y="1213675"/>
            <a:ext cx="7684800" cy="17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g226974b3126_0_206"/>
          <p:cNvSpPr txBox="1"/>
          <p:nvPr>
            <p:ph idx="11" type="ftr"/>
          </p:nvPr>
        </p:nvSpPr>
        <p:spPr>
          <a:xfrm>
            <a:off x="1853564" y="4699109"/>
            <a:ext cx="54324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g226974b3126_0_206"/>
          <p:cNvSpPr txBox="1"/>
          <p:nvPr>
            <p:ph idx="10" type="dt"/>
          </p:nvPr>
        </p:nvSpPr>
        <p:spPr>
          <a:xfrm>
            <a:off x="765454" y="4779119"/>
            <a:ext cx="385500" cy="16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g226974b3126_0_206"/>
          <p:cNvSpPr txBox="1"/>
          <p:nvPr>
            <p:ph idx="12" type="sldNum"/>
          </p:nvPr>
        </p:nvSpPr>
        <p:spPr>
          <a:xfrm>
            <a:off x="8606663" y="4779119"/>
            <a:ext cx="256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43815" marR="0" rtl="0" algn="l">
              <a:lnSpc>
                <a:spcPct val="116428"/>
              </a:lnSpc>
              <a:spcBef>
                <a:spcPts val="0"/>
              </a:spcBef>
              <a:buNone/>
              <a:defRPr b="0" i="0" sz="1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43815" marR="0" rtl="0" algn="l">
              <a:lnSpc>
                <a:spcPct val="116428"/>
              </a:lnSpc>
              <a:spcBef>
                <a:spcPts val="0"/>
              </a:spcBef>
              <a:buNone/>
              <a:defRPr b="0" i="0" sz="1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43815" marR="0" rtl="0" algn="l">
              <a:lnSpc>
                <a:spcPct val="116428"/>
              </a:lnSpc>
              <a:spcBef>
                <a:spcPts val="0"/>
              </a:spcBef>
              <a:buNone/>
              <a:defRPr b="0" i="0" sz="1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43815" marR="0" rtl="0" algn="l">
              <a:lnSpc>
                <a:spcPct val="116428"/>
              </a:lnSpc>
              <a:spcBef>
                <a:spcPts val="0"/>
              </a:spcBef>
              <a:buNone/>
              <a:defRPr b="0" i="0" sz="1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43815" marR="0" rtl="0" algn="l">
              <a:lnSpc>
                <a:spcPct val="116428"/>
              </a:lnSpc>
              <a:spcBef>
                <a:spcPts val="0"/>
              </a:spcBef>
              <a:buNone/>
              <a:defRPr b="0" i="0" sz="1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43815" marR="0" rtl="0" algn="l">
              <a:lnSpc>
                <a:spcPct val="116428"/>
              </a:lnSpc>
              <a:spcBef>
                <a:spcPts val="0"/>
              </a:spcBef>
              <a:buNone/>
              <a:defRPr b="0" i="0" sz="1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43815" marR="0" rtl="0" algn="l">
              <a:lnSpc>
                <a:spcPct val="116428"/>
              </a:lnSpc>
              <a:spcBef>
                <a:spcPts val="0"/>
              </a:spcBef>
              <a:buNone/>
              <a:defRPr b="0" i="0" sz="1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43815" marR="0" rtl="0" algn="l">
              <a:lnSpc>
                <a:spcPct val="116428"/>
              </a:lnSpc>
              <a:spcBef>
                <a:spcPts val="0"/>
              </a:spcBef>
              <a:buNone/>
              <a:defRPr b="0" i="0" sz="1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43815" marR="0" rtl="0" algn="l">
              <a:lnSpc>
                <a:spcPct val="116428"/>
              </a:lnSpc>
              <a:spcBef>
                <a:spcPts val="0"/>
              </a:spcBef>
              <a:buNone/>
              <a:defRPr b="0" i="0" sz="1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4381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800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3">
  <p:cSld name="OBJECT_3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226974b3126_0_272"/>
          <p:cNvSpPr txBox="1"/>
          <p:nvPr>
            <p:ph type="title"/>
          </p:nvPr>
        </p:nvSpPr>
        <p:spPr>
          <a:xfrm>
            <a:off x="1271397" y="177889"/>
            <a:ext cx="6601200" cy="9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g226974b3126_0_272"/>
          <p:cNvSpPr txBox="1"/>
          <p:nvPr>
            <p:ph idx="1" type="body"/>
          </p:nvPr>
        </p:nvSpPr>
        <p:spPr>
          <a:xfrm>
            <a:off x="841044" y="1213675"/>
            <a:ext cx="7684800" cy="17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g226974b3126_0_272"/>
          <p:cNvSpPr txBox="1"/>
          <p:nvPr>
            <p:ph idx="11" type="ftr"/>
          </p:nvPr>
        </p:nvSpPr>
        <p:spPr>
          <a:xfrm>
            <a:off x="1853564" y="4699109"/>
            <a:ext cx="54324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g226974b3126_0_272"/>
          <p:cNvSpPr txBox="1"/>
          <p:nvPr>
            <p:ph idx="10" type="dt"/>
          </p:nvPr>
        </p:nvSpPr>
        <p:spPr>
          <a:xfrm>
            <a:off x="765454" y="4779119"/>
            <a:ext cx="385500" cy="16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g226974b3126_0_272"/>
          <p:cNvSpPr txBox="1"/>
          <p:nvPr>
            <p:ph idx="12" type="sldNum"/>
          </p:nvPr>
        </p:nvSpPr>
        <p:spPr>
          <a:xfrm>
            <a:off x="8606663" y="4779119"/>
            <a:ext cx="256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43815" marR="0" rtl="0" algn="l">
              <a:lnSpc>
                <a:spcPct val="116428"/>
              </a:lnSpc>
              <a:spcBef>
                <a:spcPts val="0"/>
              </a:spcBef>
              <a:buNone/>
              <a:defRPr b="0" i="0" sz="1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43815" marR="0" rtl="0" algn="l">
              <a:lnSpc>
                <a:spcPct val="116428"/>
              </a:lnSpc>
              <a:spcBef>
                <a:spcPts val="0"/>
              </a:spcBef>
              <a:buNone/>
              <a:defRPr b="0" i="0" sz="1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43815" marR="0" rtl="0" algn="l">
              <a:lnSpc>
                <a:spcPct val="116428"/>
              </a:lnSpc>
              <a:spcBef>
                <a:spcPts val="0"/>
              </a:spcBef>
              <a:buNone/>
              <a:defRPr b="0" i="0" sz="1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43815" marR="0" rtl="0" algn="l">
              <a:lnSpc>
                <a:spcPct val="116428"/>
              </a:lnSpc>
              <a:spcBef>
                <a:spcPts val="0"/>
              </a:spcBef>
              <a:buNone/>
              <a:defRPr b="0" i="0" sz="1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43815" marR="0" rtl="0" algn="l">
              <a:lnSpc>
                <a:spcPct val="116428"/>
              </a:lnSpc>
              <a:spcBef>
                <a:spcPts val="0"/>
              </a:spcBef>
              <a:buNone/>
              <a:defRPr b="0" i="0" sz="1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43815" marR="0" rtl="0" algn="l">
              <a:lnSpc>
                <a:spcPct val="116428"/>
              </a:lnSpc>
              <a:spcBef>
                <a:spcPts val="0"/>
              </a:spcBef>
              <a:buNone/>
              <a:defRPr b="0" i="0" sz="1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43815" marR="0" rtl="0" algn="l">
              <a:lnSpc>
                <a:spcPct val="116428"/>
              </a:lnSpc>
              <a:spcBef>
                <a:spcPts val="0"/>
              </a:spcBef>
              <a:buNone/>
              <a:defRPr b="0" i="0" sz="1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43815" marR="0" rtl="0" algn="l">
              <a:lnSpc>
                <a:spcPct val="116428"/>
              </a:lnSpc>
              <a:spcBef>
                <a:spcPts val="0"/>
              </a:spcBef>
              <a:buNone/>
              <a:defRPr b="0" i="0" sz="1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43815" marR="0" rtl="0" algn="l">
              <a:lnSpc>
                <a:spcPct val="116428"/>
              </a:lnSpc>
              <a:spcBef>
                <a:spcPts val="0"/>
              </a:spcBef>
              <a:buNone/>
              <a:defRPr b="0" i="0" sz="1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4381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800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3"/>
          <p:cNvSpPr txBox="1"/>
          <p:nvPr>
            <p:ph type="title"/>
          </p:nvPr>
        </p:nvSpPr>
        <p:spPr>
          <a:xfrm>
            <a:off x="384724" y="1176604"/>
            <a:ext cx="8374551" cy="6388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50" u="none" cap="none" strike="noStrike">
                <a:solidFill>
                  <a:srgbClr val="02052D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33"/>
          <p:cNvSpPr txBox="1"/>
          <p:nvPr>
            <p:ph idx="1" type="body"/>
          </p:nvPr>
        </p:nvSpPr>
        <p:spPr>
          <a:xfrm>
            <a:off x="146449" y="1834021"/>
            <a:ext cx="8376920" cy="2389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33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888888"/>
                </a:solidFill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9" name="Google Shape;9;p33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888888"/>
                </a:solidFill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0" name="Google Shape;10;p33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aws.amazon.com/athena/" TargetMode="External"/><Relationship Id="rId4" Type="http://schemas.openxmlformats.org/officeDocument/2006/relationships/hyperlink" Target="https://aws.amazon.com/redshift/" TargetMode="External"/><Relationship Id="rId5" Type="http://schemas.openxmlformats.org/officeDocument/2006/relationships/hyperlink" Target="https://aws.amazon.com/kinesis/data-firehose/" TargetMode="External"/><Relationship Id="rId6" Type="http://schemas.openxmlformats.org/officeDocument/2006/relationships/hyperlink" Target="https://www.elastic.co/products/elasticsearch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6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9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7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8.jp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8.jp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6.jp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3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3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3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21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11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20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12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15.pn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12.pn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22.png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19.png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3" Type="http://schemas.openxmlformats.org/officeDocument/2006/relationships/hyperlink" Target="https://pandeyusolution.wordpress.com/estimating-moments/" TargetMode="External"/><Relationship Id="rId4" Type="http://schemas.openxmlformats.org/officeDocument/2006/relationships/hyperlink" Target="https://www.studysmarter.co.uk/explanations/engineering/engineering-mathematics/method-of-moment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"/>
          <p:cNvSpPr txBox="1"/>
          <p:nvPr>
            <p:ph type="ctrTitle"/>
          </p:nvPr>
        </p:nvSpPr>
        <p:spPr>
          <a:xfrm>
            <a:off x="3182420" y="1879849"/>
            <a:ext cx="27792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latin typeface="Calibri"/>
                <a:ea typeface="Calibri"/>
                <a:cs typeface="Calibri"/>
                <a:sym typeface="Calibri"/>
              </a:rPr>
              <a:t>Module 2</a:t>
            </a:r>
            <a:endParaRPr b="1" sz="3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"/>
          <p:cNvSpPr txBox="1"/>
          <p:nvPr/>
        </p:nvSpPr>
        <p:spPr>
          <a:xfrm>
            <a:off x="1901177" y="2892921"/>
            <a:ext cx="53289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800" u="none" cap="none" strike="noStrike">
                <a:solidFill>
                  <a:srgbClr val="02052D"/>
                </a:solidFill>
                <a:latin typeface="Calibri"/>
                <a:ea typeface="Calibri"/>
                <a:cs typeface="Calibri"/>
                <a:sym typeface="Calibri"/>
              </a:rPr>
              <a:t>Introduction to Stream Computing</a:t>
            </a:r>
            <a:endParaRPr i="0" sz="2800" u="none" cap="none" strike="noStrike">
              <a:solidFill>
                <a:srgbClr val="02052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20eb984004b_0_5"/>
          <p:cNvSpPr txBox="1"/>
          <p:nvPr>
            <p:ph idx="1" type="body"/>
          </p:nvPr>
        </p:nvSpPr>
        <p:spPr>
          <a:xfrm>
            <a:off x="962325" y="1559650"/>
            <a:ext cx="7057200" cy="2616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/>
              <a:t>Introduction to Stream Computing</a:t>
            </a:r>
            <a:endParaRPr b="1" sz="2000"/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Introduction to stream concepts – Streaming data architecture, Stream data model, Sampling techniques for efficient stream processing, Filtering streams – Bloom filter, Count distinct problem – Flajolet martin algorithm, Estimating moments, Counting oneness in a window – DGIM Algorithm</a:t>
            </a:r>
            <a:endParaRPr sz="2000"/>
          </a:p>
        </p:txBody>
      </p:sp>
      <p:sp>
        <p:nvSpPr>
          <p:cNvPr id="68" name="Google Shape;68;g20eb984004b_0_5"/>
          <p:cNvSpPr txBox="1"/>
          <p:nvPr/>
        </p:nvSpPr>
        <p:spPr>
          <a:xfrm>
            <a:off x="634125" y="620050"/>
            <a:ext cx="79056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Module contents</a:t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"/>
          <p:cNvSpPr txBox="1"/>
          <p:nvPr>
            <p:ph type="title"/>
          </p:nvPr>
        </p:nvSpPr>
        <p:spPr>
          <a:xfrm>
            <a:off x="771849" y="405697"/>
            <a:ext cx="1694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Stream</a:t>
            </a:r>
            <a:endParaRPr b="1" sz="23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2"/>
          <p:cNvSpPr txBox="1"/>
          <p:nvPr/>
        </p:nvSpPr>
        <p:spPr>
          <a:xfrm>
            <a:off x="771850" y="918100"/>
            <a:ext cx="4131600" cy="3893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12700">
            <a:noAutofit/>
          </a:bodyPr>
          <a:lstStyle/>
          <a:p>
            <a:pPr indent="-3556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●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Stream </a:t>
            </a:r>
            <a:r>
              <a:rPr i="0" lang="en-US" sz="2000" u="none" cap="none" strike="noStrike">
                <a:latin typeface="Calibri"/>
                <a:ea typeface="Calibri"/>
                <a:cs typeface="Calibri"/>
                <a:sym typeface="Calibri"/>
              </a:rPr>
              <a:t>Refers to a </a:t>
            </a:r>
            <a:r>
              <a:rPr b="1" i="0" lang="en-US" sz="2000" u="none" cap="none" strike="noStrike">
                <a:latin typeface="Calibri"/>
                <a:ea typeface="Calibri"/>
                <a:cs typeface="Calibri"/>
                <a:sym typeface="Calibri"/>
              </a:rPr>
              <a:t>sequence of data elements</a:t>
            </a:r>
            <a:r>
              <a:rPr i="0" lang="en-US" sz="2000" u="none" cap="none" strike="noStrike">
                <a:latin typeface="Calibri"/>
                <a:ea typeface="Calibri"/>
                <a:cs typeface="Calibri"/>
                <a:sym typeface="Calibri"/>
              </a:rPr>
              <a:t> or symbols made available over time.</a:t>
            </a:r>
            <a:endParaRPr i="0" sz="2000" u="none" cap="none" strike="noStrike"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●"/>
            </a:pPr>
            <a:r>
              <a:rPr i="0" lang="en-US" sz="2000" u="none" cap="none" strike="noStrike">
                <a:latin typeface="Calibri"/>
                <a:ea typeface="Calibri"/>
                <a:cs typeface="Calibri"/>
                <a:sym typeface="Calibri"/>
              </a:rPr>
              <a:t>Data stream transmits from a source and receives at the processing end in a network</a:t>
            </a:r>
            <a:endParaRPr i="0" sz="2000" u="none" cap="none" strike="noStrike"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marR="508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●"/>
            </a:pPr>
            <a:r>
              <a:rPr i="0" lang="en-US" sz="2000" u="none" cap="none" strike="noStrike">
                <a:latin typeface="Calibri"/>
                <a:ea typeface="Calibri"/>
                <a:cs typeface="Calibri"/>
                <a:sym typeface="Calibri"/>
              </a:rPr>
              <a:t>A continuous stream of data flows between the source and receiver ends, and which is processed in</a:t>
            </a: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i="0" lang="en-US" sz="2000" u="none" cap="none" strike="noStrike">
                <a:latin typeface="Calibri"/>
                <a:ea typeface="Calibri"/>
                <a:cs typeface="Calibri"/>
                <a:sym typeface="Calibri"/>
              </a:rPr>
              <a:t>real-time.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5" name="Google Shape;75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12400" y="1349499"/>
            <a:ext cx="3944649" cy="23339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20eb984004b_0_11"/>
          <p:cNvSpPr txBox="1"/>
          <p:nvPr>
            <p:ph type="title"/>
          </p:nvPr>
        </p:nvSpPr>
        <p:spPr>
          <a:xfrm>
            <a:off x="685800" y="402325"/>
            <a:ext cx="7708500" cy="3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50"/>
              <a:t>Big Data Stream Computing- Features</a:t>
            </a:r>
            <a:endParaRPr b="1" sz="2050"/>
          </a:p>
        </p:txBody>
      </p:sp>
      <p:sp>
        <p:nvSpPr>
          <p:cNvPr id="81" name="Google Shape;81;g20eb984004b_0_11"/>
          <p:cNvSpPr txBox="1"/>
          <p:nvPr>
            <p:ph idx="1" type="body"/>
          </p:nvPr>
        </p:nvSpPr>
        <p:spPr>
          <a:xfrm>
            <a:off x="685800" y="918075"/>
            <a:ext cx="4291800" cy="38019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92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US" sz="1900"/>
              <a:t>Stream computing is a way to analyze and process Big Data.</a:t>
            </a:r>
            <a:endParaRPr sz="1900"/>
          </a:p>
          <a:p>
            <a:pPr indent="-3492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US" sz="1900"/>
              <a:t>High rate of receiving data.</a:t>
            </a:r>
            <a:endParaRPr sz="1900"/>
          </a:p>
          <a:p>
            <a:pPr indent="-3492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US" sz="1900"/>
              <a:t>Processing is done in real time to gain current insights to take appropriate decisions or to predict new trends in the immediate future. </a:t>
            </a:r>
            <a:endParaRPr sz="1900"/>
          </a:p>
          <a:p>
            <a:pPr indent="-3492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US" sz="1900"/>
              <a:t>Implements in a distributed clustered environment.</a:t>
            </a:r>
            <a:endParaRPr sz="1900"/>
          </a:p>
        </p:txBody>
      </p:sp>
      <p:pic>
        <p:nvPicPr>
          <p:cNvPr id="82" name="Google Shape;82;g20eb984004b_0_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63175" y="1597213"/>
            <a:ext cx="3861600" cy="1949073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2232a3d51ce_0_0"/>
          <p:cNvSpPr txBox="1"/>
          <p:nvPr>
            <p:ph idx="1" type="body"/>
          </p:nvPr>
        </p:nvSpPr>
        <p:spPr>
          <a:xfrm>
            <a:off x="428450" y="567025"/>
            <a:ext cx="8174700" cy="384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-355600" lvl="0" marL="457200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Stream processing is a method of data management that involves continuously receiving and promptly analyzing, filtering, transforming, or enhancing a continuous data stream in real time. </a:t>
            </a:r>
            <a:endParaRPr sz="2000"/>
          </a:p>
          <a:p>
            <a:pPr indent="-355600" lvl="0" marL="457200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After undergoing processing, the data is then directed towards an application, data store, or another stream processing engine.</a:t>
            </a:r>
            <a:endParaRPr sz="2000"/>
          </a:p>
          <a:p>
            <a:pPr indent="-355600" lvl="0" marL="457200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-US" sz="2000"/>
              <a:t>Stream processing services and architectures</a:t>
            </a:r>
            <a:r>
              <a:rPr lang="en-US" sz="2000"/>
              <a:t> are growing in popularity because they allow enterprises to combine data feed from various sources. </a:t>
            </a:r>
            <a:endParaRPr sz="2000"/>
          </a:p>
          <a:p>
            <a:pPr indent="-355600" lvl="0" marL="457200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Sources can include transactions, website analytics, connected devices, operational databases, weather reports and other commercial services.</a:t>
            </a:r>
            <a:endParaRPr sz="2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232a3d51ce_0_18"/>
          <p:cNvSpPr txBox="1"/>
          <p:nvPr>
            <p:ph type="title"/>
          </p:nvPr>
        </p:nvSpPr>
        <p:spPr>
          <a:xfrm>
            <a:off x="327074" y="450054"/>
            <a:ext cx="8374500" cy="38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292929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Reasons for using Stream Processing</a:t>
            </a:r>
            <a:endParaRPr b="1" sz="275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g2232a3d51ce_0_18"/>
          <p:cNvSpPr txBox="1"/>
          <p:nvPr>
            <p:ph idx="1" type="body"/>
          </p:nvPr>
        </p:nvSpPr>
        <p:spPr>
          <a:xfrm>
            <a:off x="384725" y="1182250"/>
            <a:ext cx="8229000" cy="3206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-3556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Certain data arrives in an uninterrupted flow of events.</a:t>
            </a:r>
            <a:endParaRPr sz="2000"/>
          </a:p>
          <a:p>
            <a:pPr indent="-3556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For batch processing, data is stored, stop data collection at some time, and processing occurs. </a:t>
            </a:r>
            <a:endParaRPr sz="2000"/>
          </a:p>
          <a:p>
            <a:pPr indent="-3556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Subsequently, the next batch is initiated.</a:t>
            </a:r>
            <a:endParaRPr sz="2000"/>
          </a:p>
          <a:p>
            <a:pPr indent="-3556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In contrast, streaming effectively manages continuous data streams.</a:t>
            </a:r>
            <a:endParaRPr sz="2000"/>
          </a:p>
          <a:p>
            <a:pPr indent="-3556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2000"/>
              <a:buChar char="●"/>
            </a:pPr>
            <a:r>
              <a:rPr lang="en-US" sz="2000">
                <a:solidFill>
                  <a:srgbClr val="292929"/>
                </a:solidFill>
                <a:highlight>
                  <a:srgbClr val="FFFFFF"/>
                </a:highlight>
              </a:rPr>
              <a:t>Stream processing seamlessly aligns with time series data such as traffic sensors, health sensors, transaction logs, activity logs, and more.</a:t>
            </a:r>
            <a:endParaRPr sz="2000">
              <a:solidFill>
                <a:srgbClr val="292929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232a3d51ce_0_27"/>
          <p:cNvSpPr txBox="1"/>
          <p:nvPr>
            <p:ph idx="1" type="body"/>
          </p:nvPr>
        </p:nvSpPr>
        <p:spPr>
          <a:xfrm>
            <a:off x="471825" y="493200"/>
            <a:ext cx="8051400" cy="4016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-3683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2200"/>
              <a:buChar char="●"/>
            </a:pPr>
            <a:r>
              <a:rPr lang="en-US" sz="2200">
                <a:solidFill>
                  <a:srgbClr val="292929"/>
                </a:solidFill>
                <a:highlight>
                  <a:srgbClr val="FFFFFF"/>
                </a:highlight>
              </a:rPr>
              <a:t>Batch processing collects data and processes it all at once, while stream processing handles data as it comes in, spreading the processing over time. </a:t>
            </a:r>
            <a:endParaRPr sz="2200">
              <a:solidFill>
                <a:srgbClr val="292929"/>
              </a:solidFill>
              <a:highlight>
                <a:srgbClr val="FFFFFF"/>
              </a:highlight>
            </a:endParaRPr>
          </a:p>
          <a:p>
            <a:pPr indent="-3683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2200"/>
              <a:buChar char="●"/>
            </a:pPr>
            <a:r>
              <a:rPr lang="en-US" sz="2200">
                <a:solidFill>
                  <a:srgbClr val="292929"/>
                </a:solidFill>
                <a:highlight>
                  <a:srgbClr val="FFFFFF"/>
                </a:highlight>
              </a:rPr>
              <a:t>This allows stream processing to work with less hardware than batch processing</a:t>
            </a:r>
            <a:endParaRPr sz="2200">
              <a:solidFill>
                <a:srgbClr val="292929"/>
              </a:solidFill>
              <a:highlight>
                <a:srgbClr val="FFFFFF"/>
              </a:highlight>
            </a:endParaRPr>
          </a:p>
          <a:p>
            <a:pPr indent="-3683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2200"/>
              <a:buChar char="●"/>
            </a:pPr>
            <a:r>
              <a:rPr lang="en-US" sz="2200">
                <a:solidFill>
                  <a:srgbClr val="292929"/>
                </a:solidFill>
                <a:highlight>
                  <a:srgbClr val="FFFFFF"/>
                </a:highlight>
              </a:rPr>
              <a:t>Sometimes data is very large, making it impossible to store. Stream processing enables handling of large, continuous data and keeps only the important parts.</a:t>
            </a:r>
            <a:endParaRPr sz="2200">
              <a:solidFill>
                <a:srgbClr val="292929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232a3d51ce_0_12"/>
          <p:cNvSpPr txBox="1"/>
          <p:nvPr>
            <p:ph type="title"/>
          </p:nvPr>
        </p:nvSpPr>
        <p:spPr>
          <a:xfrm>
            <a:off x="384724" y="1176604"/>
            <a:ext cx="8374500" cy="269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g2232a3d51ce_0_12"/>
          <p:cNvSpPr txBox="1"/>
          <p:nvPr>
            <p:ph idx="1" type="body"/>
          </p:nvPr>
        </p:nvSpPr>
        <p:spPr>
          <a:xfrm>
            <a:off x="146449" y="1834021"/>
            <a:ext cx="83769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5" name="Google Shape;105;g2232a3d51ce_0_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2753" y="1081123"/>
            <a:ext cx="7763008" cy="336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0eb984004b_0_20"/>
          <p:cNvSpPr txBox="1"/>
          <p:nvPr>
            <p:ph type="title"/>
          </p:nvPr>
        </p:nvSpPr>
        <p:spPr>
          <a:xfrm>
            <a:off x="674750" y="689900"/>
            <a:ext cx="7103700" cy="338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latin typeface="Calibri"/>
                <a:ea typeface="Calibri"/>
                <a:cs typeface="Calibri"/>
                <a:sym typeface="Calibri"/>
              </a:rPr>
              <a:t>Stream computing Domains</a:t>
            </a:r>
            <a:endParaRPr b="1" sz="2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g20eb984004b_0_20"/>
          <p:cNvSpPr txBox="1"/>
          <p:nvPr>
            <p:ph idx="1" type="body"/>
          </p:nvPr>
        </p:nvSpPr>
        <p:spPr>
          <a:xfrm>
            <a:off x="674750" y="1324625"/>
            <a:ext cx="6892500" cy="30297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2000"/>
              <a:t>Financial sectors</a:t>
            </a:r>
            <a:endParaRPr sz="20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2000"/>
              <a:t>Business intelligence</a:t>
            </a:r>
            <a:endParaRPr sz="20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2000"/>
              <a:t>Risk management</a:t>
            </a:r>
            <a:endParaRPr sz="20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2000"/>
              <a:t>Marketing management</a:t>
            </a:r>
            <a:endParaRPr sz="20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2000"/>
              <a:t>Search engines</a:t>
            </a:r>
            <a:endParaRPr sz="20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2000"/>
              <a:t>Social network analysis</a:t>
            </a:r>
            <a:endParaRPr sz="2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"/>
          <p:cNvSpPr txBox="1"/>
          <p:nvPr/>
        </p:nvSpPr>
        <p:spPr>
          <a:xfrm>
            <a:off x="873850" y="1196725"/>
            <a:ext cx="7825200" cy="37071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12700">
            <a:noAutofit/>
          </a:bodyPr>
          <a:lstStyle/>
          <a:p>
            <a:pPr indent="-342900" lvl="0" marL="457200" marR="508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●"/>
            </a:pPr>
            <a:r>
              <a:rPr i="0" lang="en-US" sz="1800" u="none" cap="none" strike="noStrike">
                <a:latin typeface="Calibri"/>
                <a:ea typeface="Calibri"/>
                <a:cs typeface="Calibri"/>
                <a:sym typeface="Calibri"/>
              </a:rPr>
              <a:t>Making data-driven marketing decisions in real time. </a:t>
            </a:r>
            <a:endParaRPr i="0" sz="1800" u="none" cap="none" strike="noStrike"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marR="508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○"/>
            </a:pPr>
            <a:r>
              <a:rPr i="0" lang="en-US" sz="1800" u="none" cap="none" strike="noStrike">
                <a:latin typeface="Calibri"/>
                <a:ea typeface="Calibri"/>
                <a:cs typeface="Calibri"/>
                <a:sym typeface="Calibri"/>
              </a:rPr>
              <a:t>It requires the use of data from trends analyses of  real-time sales, and analysis of social media, and the sales distribution.</a:t>
            </a:r>
            <a:endParaRPr i="0" sz="1800" u="none" cap="none" strike="noStrike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●"/>
            </a:pPr>
            <a:r>
              <a:rPr i="0" lang="en-US" sz="1800" u="none" cap="none" strike="noStrike">
                <a:latin typeface="Calibri"/>
                <a:ea typeface="Calibri"/>
                <a:cs typeface="Calibri"/>
                <a:sym typeface="Calibri"/>
              </a:rPr>
              <a:t>Monitoring and detection of potential failures of system using network management tool.</a:t>
            </a:r>
            <a:endParaRPr i="0" sz="1800" u="none" cap="none" strike="noStrike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●"/>
            </a:pPr>
            <a:r>
              <a:rPr i="0" lang="en-US" sz="1800" u="none" cap="none" strike="noStrike">
                <a:latin typeface="Calibri"/>
                <a:ea typeface="Calibri"/>
                <a:cs typeface="Calibri"/>
                <a:sym typeface="Calibri"/>
              </a:rPr>
              <a:t>Monitoring of industrial or manufacturing machinery in real time.</a:t>
            </a:r>
            <a:endParaRPr i="0" sz="1800" u="none" cap="none" strike="noStrike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●"/>
            </a:pPr>
            <a:r>
              <a:rPr i="0" lang="en-US" sz="1800" u="none" cap="none" strike="noStrike">
                <a:latin typeface="Calibri"/>
                <a:ea typeface="Calibri"/>
                <a:cs typeface="Calibri"/>
                <a:sym typeface="Calibri"/>
              </a:rPr>
              <a:t>A sensor network or IoT controlled by another entity, or a set of entities</a:t>
            </a:r>
            <a:endParaRPr i="0" sz="1800" u="none" cap="none" strike="noStrike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●"/>
            </a:pPr>
            <a:r>
              <a:rPr i="0" lang="en-US" sz="1800" u="none" cap="none" strike="noStrike">
                <a:latin typeface="Calibri"/>
                <a:ea typeface="Calibri"/>
                <a:cs typeface="Calibri"/>
                <a:sym typeface="Calibri"/>
              </a:rPr>
              <a:t>Watching online video lectures, and rewinding or forwarding them.</a:t>
            </a:r>
            <a:endParaRPr i="0" sz="1800" u="none" cap="none" strike="noStrike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3"/>
          <p:cNvSpPr txBox="1"/>
          <p:nvPr/>
        </p:nvSpPr>
        <p:spPr>
          <a:xfrm>
            <a:off x="763225" y="442475"/>
            <a:ext cx="5530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Examples of Data Stream Applications</a:t>
            </a:r>
            <a:endParaRPr sz="21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232a3d51ce_0_34"/>
          <p:cNvSpPr txBox="1"/>
          <p:nvPr/>
        </p:nvSpPr>
        <p:spPr>
          <a:xfrm>
            <a:off x="587150" y="778600"/>
            <a:ext cx="8326500" cy="36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latin typeface="Calibri"/>
                <a:ea typeface="Calibri"/>
                <a:cs typeface="Calibri"/>
                <a:sym typeface="Calibri"/>
              </a:rPr>
              <a:t>Popular Stream Processing Frameworks:</a:t>
            </a:r>
            <a:endParaRPr b="1" sz="2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000"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●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Apache Spark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●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Apache Storm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●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Apache Samza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●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Apache Flink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●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Amazon Kinesis Streams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●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Apache Apex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●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Apache Flume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8"/>
          <p:cNvSpPr txBox="1"/>
          <p:nvPr>
            <p:ph type="title"/>
          </p:nvPr>
        </p:nvSpPr>
        <p:spPr>
          <a:xfrm>
            <a:off x="384726" y="505250"/>
            <a:ext cx="6699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Issues in stream Processing</a:t>
            </a:r>
            <a:endParaRPr b="1" sz="25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8"/>
          <p:cNvSpPr txBox="1"/>
          <p:nvPr/>
        </p:nvSpPr>
        <p:spPr>
          <a:xfrm>
            <a:off x="537200" y="1175201"/>
            <a:ext cx="7879500" cy="18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3325">
            <a:spAutoFit/>
          </a:bodyPr>
          <a:lstStyle/>
          <a:p>
            <a:pPr indent="-317500" lvl="0" marL="316865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0E33"/>
              </a:buClr>
              <a:buSzPts val="2000"/>
              <a:buFont typeface="Calibri"/>
              <a:buChar char="-"/>
            </a:pPr>
            <a:r>
              <a:rPr lang="en-US" sz="2000">
                <a:solidFill>
                  <a:srgbClr val="0D0E33"/>
                </a:solidFill>
                <a:latin typeface="Calibri"/>
                <a:ea typeface="Calibri"/>
                <a:cs typeface="Calibri"/>
                <a:sym typeface="Calibri"/>
              </a:rPr>
              <a:t>Stream often deliver elements very rapidly.</a:t>
            </a:r>
            <a:endParaRPr sz="2000">
              <a:solidFill>
                <a:srgbClr val="0D0E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316865" marR="0" rtl="0" algn="l">
              <a:lnSpc>
                <a:spcPct val="150000"/>
              </a:lnSpc>
              <a:spcBef>
                <a:spcPts val="325"/>
              </a:spcBef>
              <a:spcAft>
                <a:spcPts val="0"/>
              </a:spcAft>
              <a:buClr>
                <a:srgbClr val="0D0E33"/>
              </a:buClr>
              <a:buSzPts val="2000"/>
              <a:buFont typeface="Calibri"/>
              <a:buChar char="-"/>
            </a:pPr>
            <a:r>
              <a:rPr lang="en-US" sz="2000">
                <a:solidFill>
                  <a:srgbClr val="0D0E33"/>
                </a:solidFill>
                <a:latin typeface="Calibri"/>
                <a:ea typeface="Calibri"/>
                <a:cs typeface="Calibri"/>
                <a:sym typeface="Calibri"/>
              </a:rPr>
              <a:t>Efficient algorithm is needed.</a:t>
            </a:r>
            <a:endParaRPr sz="2000">
              <a:solidFill>
                <a:srgbClr val="0D0E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316865" marR="0" rtl="0" algn="l">
              <a:lnSpc>
                <a:spcPct val="150000"/>
              </a:lnSpc>
              <a:spcBef>
                <a:spcPts val="325"/>
              </a:spcBef>
              <a:spcAft>
                <a:spcPts val="0"/>
              </a:spcAft>
              <a:buClr>
                <a:srgbClr val="0D0E33"/>
              </a:buClr>
              <a:buSzPts val="2000"/>
              <a:buFont typeface="Calibri"/>
              <a:buChar char="-"/>
            </a:pPr>
            <a:r>
              <a:rPr lang="en-US" sz="2000">
                <a:solidFill>
                  <a:srgbClr val="0D0E33"/>
                </a:solidFill>
                <a:latin typeface="Calibri"/>
                <a:ea typeface="Calibri"/>
                <a:cs typeface="Calibri"/>
                <a:sym typeface="Calibri"/>
              </a:rPr>
              <a:t>Important to store the data.</a:t>
            </a:r>
            <a:endParaRPr sz="2000">
              <a:solidFill>
                <a:srgbClr val="0D0E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316865" marR="0" rtl="0" algn="l">
              <a:lnSpc>
                <a:spcPct val="150000"/>
              </a:lnSpc>
              <a:spcBef>
                <a:spcPts val="325"/>
              </a:spcBef>
              <a:spcAft>
                <a:spcPts val="0"/>
              </a:spcAft>
              <a:buClr>
                <a:srgbClr val="0D0E33"/>
              </a:buClr>
              <a:buSzPts val="2000"/>
              <a:buFont typeface="Calibri"/>
              <a:buChar char="-"/>
            </a:pPr>
            <a:r>
              <a:rPr lang="en-US" sz="2000">
                <a:solidFill>
                  <a:srgbClr val="0D0E33"/>
                </a:solidFill>
                <a:latin typeface="Calibri"/>
                <a:ea typeface="Calibri"/>
                <a:cs typeface="Calibri"/>
                <a:sym typeface="Calibri"/>
              </a:rPr>
              <a:t>Data can be complex types- Documents, Images, time series.</a:t>
            </a:r>
            <a:endParaRPr sz="2000">
              <a:solidFill>
                <a:srgbClr val="0D0E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9"/>
          <p:cNvSpPr txBox="1"/>
          <p:nvPr>
            <p:ph type="title"/>
          </p:nvPr>
        </p:nvSpPr>
        <p:spPr>
          <a:xfrm>
            <a:off x="363600" y="241225"/>
            <a:ext cx="4260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0000"/>
                </a:solidFill>
              </a:rPr>
              <a:t>Streaming Data Architecture</a:t>
            </a:r>
            <a:endParaRPr b="1" sz="2000"/>
          </a:p>
        </p:txBody>
      </p:sp>
      <p:sp>
        <p:nvSpPr>
          <p:cNvPr id="134" name="Google Shape;134;p9"/>
          <p:cNvSpPr/>
          <p:nvPr/>
        </p:nvSpPr>
        <p:spPr>
          <a:xfrm>
            <a:off x="1676725" y="739800"/>
            <a:ext cx="6013200" cy="41973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bd7c502c7d_0_9"/>
          <p:cNvSpPr txBox="1"/>
          <p:nvPr>
            <p:ph type="title"/>
          </p:nvPr>
        </p:nvSpPr>
        <p:spPr>
          <a:xfrm>
            <a:off x="363600" y="241225"/>
            <a:ext cx="4260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0000"/>
                </a:solidFill>
              </a:rPr>
              <a:t>Streaming Data Architecture</a:t>
            </a:r>
            <a:endParaRPr b="1" sz="2000"/>
          </a:p>
        </p:txBody>
      </p:sp>
      <p:pic>
        <p:nvPicPr>
          <p:cNvPr id="140" name="Google Shape;140;g2bd7c502c7d_0_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058" y="241225"/>
            <a:ext cx="8362467" cy="4808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0"/>
          <p:cNvSpPr txBox="1"/>
          <p:nvPr>
            <p:ph type="title"/>
          </p:nvPr>
        </p:nvSpPr>
        <p:spPr>
          <a:xfrm>
            <a:off x="251151" y="326475"/>
            <a:ext cx="3503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Architecture </a:t>
            </a:r>
            <a:r>
              <a:rPr b="1"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Components</a:t>
            </a:r>
            <a:endParaRPr b="1"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0"/>
          <p:cNvSpPr txBox="1"/>
          <p:nvPr/>
        </p:nvSpPr>
        <p:spPr>
          <a:xfrm>
            <a:off x="251150" y="887675"/>
            <a:ext cx="8403000" cy="386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700">
            <a:noAutofit/>
          </a:bodyPr>
          <a:lstStyle/>
          <a:p>
            <a:pPr indent="-3556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2052D"/>
              </a:buClr>
              <a:buSzPts val="2000"/>
              <a:buFont typeface="Calibri"/>
              <a:buChar char="●"/>
            </a:pPr>
            <a:r>
              <a:rPr lang="en-US" sz="2000">
                <a:solidFill>
                  <a:srgbClr val="02052D"/>
                </a:solidFill>
                <a:latin typeface="Calibri"/>
                <a:ea typeface="Calibri"/>
                <a:cs typeface="Calibri"/>
                <a:sym typeface="Calibri"/>
              </a:rPr>
              <a:t>A streaming data architecture is a set of software components designed to handle large streams of raw data from various sources.</a:t>
            </a:r>
            <a:endParaRPr sz="2000">
              <a:solidFill>
                <a:srgbClr val="0205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2052D"/>
              </a:buClr>
              <a:buSzPts val="2000"/>
              <a:buFont typeface="Calibri"/>
              <a:buChar char="●"/>
            </a:pPr>
            <a:r>
              <a:rPr lang="en-US" sz="2000">
                <a:solidFill>
                  <a:srgbClr val="02052D"/>
                </a:solidFill>
                <a:latin typeface="Calibri"/>
                <a:ea typeface="Calibri"/>
                <a:cs typeface="Calibri"/>
                <a:sym typeface="Calibri"/>
              </a:rPr>
              <a:t>Different components of streaming data architecture are:</a:t>
            </a:r>
            <a:endParaRPr sz="2000">
              <a:solidFill>
                <a:srgbClr val="0205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9144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Data Sources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9144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The Message Broker / Stream Processor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9144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Batch and Real-time ETL Tools (Streaming Engine)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9144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Analytics Applications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9144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r>
              <a:rPr lang="en-US" sz="2000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Streaming Data Storage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237bfeee9f_0_13"/>
          <p:cNvSpPr txBox="1"/>
          <p:nvPr>
            <p:ph type="title"/>
          </p:nvPr>
        </p:nvSpPr>
        <p:spPr>
          <a:xfrm>
            <a:off x="617551" y="354675"/>
            <a:ext cx="3503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Architecture </a:t>
            </a:r>
            <a:r>
              <a:rPr b="1"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Components</a:t>
            </a:r>
            <a:endParaRPr b="1"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g2237bfeee9f_0_13"/>
          <p:cNvSpPr txBox="1"/>
          <p:nvPr/>
        </p:nvSpPr>
        <p:spPr>
          <a:xfrm>
            <a:off x="251150" y="887675"/>
            <a:ext cx="8403000" cy="386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700">
            <a:noAutofit/>
          </a:bodyPr>
          <a:lstStyle/>
          <a:p>
            <a:pPr indent="0" lvl="0" marL="457200" marR="0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50"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lang="en-US" sz="1850">
                <a:latin typeface="Calibri"/>
                <a:ea typeface="Calibri"/>
                <a:cs typeface="Calibri"/>
                <a:sym typeface="Calibri"/>
              </a:rPr>
              <a:t>. The Message Broker / Stream Processor</a:t>
            </a:r>
            <a:endParaRPr b="1" sz="1850"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50">
              <a:latin typeface="Calibri"/>
              <a:ea typeface="Calibri"/>
              <a:cs typeface="Calibri"/>
              <a:sym typeface="Calibri"/>
            </a:endParaRPr>
          </a:p>
          <a:p>
            <a:pPr indent="-346075" lvl="1" marL="914400" marR="5080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2052D"/>
              </a:buClr>
              <a:buSzPts val="1850"/>
              <a:buChar char="○"/>
            </a:pPr>
            <a:r>
              <a:rPr lang="en-US" sz="1850">
                <a:solidFill>
                  <a:srgbClr val="02052D"/>
                </a:solidFill>
                <a:latin typeface="Calibri"/>
                <a:ea typeface="Calibri"/>
                <a:cs typeface="Calibri"/>
                <a:sym typeface="Calibri"/>
              </a:rPr>
              <a:t>This element takes data from a source, called a </a:t>
            </a:r>
            <a:r>
              <a:rPr b="1" i="1" lang="en-US" sz="1850">
                <a:solidFill>
                  <a:srgbClr val="02052D"/>
                </a:solidFill>
                <a:latin typeface="Calibri"/>
                <a:ea typeface="Calibri"/>
                <a:cs typeface="Calibri"/>
                <a:sym typeface="Calibri"/>
              </a:rPr>
              <a:t>producer</a:t>
            </a:r>
            <a:r>
              <a:rPr lang="en-US" sz="1850">
                <a:solidFill>
                  <a:srgbClr val="02052D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lang="en-US" sz="1850">
                <a:solidFill>
                  <a:srgbClr val="02052D"/>
                </a:solidFill>
                <a:latin typeface="Calibri"/>
                <a:ea typeface="Calibri"/>
                <a:cs typeface="Calibri"/>
                <a:sym typeface="Calibri"/>
              </a:rPr>
              <a:t>translates it into a standard  message format</a:t>
            </a:r>
            <a:r>
              <a:rPr lang="en-US" sz="1850">
                <a:solidFill>
                  <a:srgbClr val="02052D"/>
                </a:solidFill>
                <a:latin typeface="Calibri"/>
                <a:ea typeface="Calibri"/>
                <a:cs typeface="Calibri"/>
                <a:sym typeface="Calibri"/>
              </a:rPr>
              <a:t>, and then streams it for consumption by other components such as data warehouses, and ETL tools, among others.</a:t>
            </a:r>
            <a:endParaRPr sz="1850">
              <a:solidFill>
                <a:srgbClr val="0205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2425" lvl="1" marL="914400" marR="11430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2052D"/>
              </a:buClr>
              <a:buSzPts val="1950"/>
              <a:buFont typeface="Calibri"/>
              <a:buChar char="○"/>
            </a:pPr>
            <a:r>
              <a:rPr lang="en-US" sz="1950">
                <a:solidFill>
                  <a:srgbClr val="02052D"/>
                </a:solidFill>
                <a:latin typeface="Calibri"/>
                <a:ea typeface="Calibri"/>
                <a:cs typeface="Calibri"/>
                <a:sym typeface="Calibri"/>
              </a:rPr>
              <a:t>The first generation of message brokers, such as RabbitMQ and Apache ActiveMQ, relied on  the Message Oriented Middleware (</a:t>
            </a:r>
            <a:r>
              <a:rPr b="1" lang="en-US" sz="1950">
                <a:solidFill>
                  <a:srgbClr val="02052D"/>
                </a:solidFill>
                <a:latin typeface="Calibri"/>
                <a:ea typeface="Calibri"/>
                <a:cs typeface="Calibri"/>
                <a:sym typeface="Calibri"/>
              </a:rPr>
              <a:t>MOM</a:t>
            </a:r>
            <a:r>
              <a:rPr lang="en-US" sz="1950">
                <a:solidFill>
                  <a:srgbClr val="02052D"/>
                </a:solidFill>
                <a:latin typeface="Calibri"/>
                <a:ea typeface="Calibri"/>
                <a:cs typeface="Calibri"/>
                <a:sym typeface="Calibri"/>
              </a:rPr>
              <a:t>) paradigm.</a:t>
            </a:r>
            <a:endParaRPr sz="1950">
              <a:latin typeface="Calibri"/>
              <a:ea typeface="Calibri"/>
              <a:cs typeface="Calibri"/>
              <a:sym typeface="Calibri"/>
            </a:endParaRPr>
          </a:p>
          <a:p>
            <a:pPr indent="-358775" lvl="1" marL="914400" marR="17780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50"/>
              <a:buFont typeface="Calibri"/>
              <a:buChar char="○"/>
            </a:pPr>
            <a:r>
              <a:rPr lang="en-US" sz="2050">
                <a:solidFill>
                  <a:srgbClr val="02052D"/>
                </a:solidFill>
                <a:latin typeface="Calibri"/>
                <a:ea typeface="Calibri"/>
                <a:cs typeface="Calibri"/>
                <a:sym typeface="Calibri"/>
              </a:rPr>
              <a:t>Two popular stream processing tools are </a:t>
            </a:r>
            <a:r>
              <a:rPr b="1" lang="en-US" sz="2050">
                <a:solidFill>
                  <a:srgbClr val="02052D"/>
                </a:solidFill>
                <a:latin typeface="Calibri"/>
                <a:ea typeface="Calibri"/>
                <a:cs typeface="Calibri"/>
                <a:sym typeface="Calibri"/>
              </a:rPr>
              <a:t>Apache Kafka</a:t>
            </a:r>
            <a:r>
              <a:rPr lang="en-US" sz="2050">
                <a:solidFill>
                  <a:srgbClr val="02052D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b="1" lang="en-US" sz="2050">
                <a:solidFill>
                  <a:srgbClr val="02052D"/>
                </a:solidFill>
                <a:latin typeface="Calibri"/>
                <a:ea typeface="Calibri"/>
                <a:cs typeface="Calibri"/>
                <a:sym typeface="Calibri"/>
              </a:rPr>
              <a:t>Amazon Kinesis</a:t>
            </a:r>
            <a:r>
              <a:rPr lang="en-US" sz="2050">
                <a:solidFill>
                  <a:srgbClr val="02052D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05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2237bfeee9f_0_6"/>
          <p:cNvSpPr txBox="1"/>
          <p:nvPr>
            <p:ph type="title"/>
          </p:nvPr>
        </p:nvSpPr>
        <p:spPr>
          <a:xfrm>
            <a:off x="452880" y="430175"/>
            <a:ext cx="4973100" cy="28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11430" rtl="0" algn="l">
              <a:lnSpc>
                <a:spcPct val="150000"/>
              </a:lnSpc>
              <a:spcBef>
                <a:spcPts val="1180"/>
              </a:spcBef>
              <a:spcAft>
                <a:spcPts val="0"/>
              </a:spcAft>
              <a:buNone/>
            </a:pPr>
            <a:r>
              <a:rPr b="1" lang="en-US" sz="1850">
                <a:solidFill>
                  <a:srgbClr val="02052D"/>
                </a:solidFill>
                <a:latin typeface="Calibri"/>
                <a:ea typeface="Calibri"/>
                <a:cs typeface="Calibri"/>
                <a:sym typeface="Calibri"/>
              </a:rPr>
              <a:t>Message Oriented Middleware (MOM) </a:t>
            </a:r>
            <a:endParaRPr b="1" sz="2050"/>
          </a:p>
        </p:txBody>
      </p:sp>
      <p:pic>
        <p:nvPicPr>
          <p:cNvPr id="158" name="Google Shape;158;g2237bfeee9f_0_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9625" y="1069975"/>
            <a:ext cx="7236825" cy="341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2bde9b46a58_0_1"/>
          <p:cNvSpPr txBox="1"/>
          <p:nvPr>
            <p:ph idx="1" type="body"/>
          </p:nvPr>
        </p:nvSpPr>
        <p:spPr>
          <a:xfrm>
            <a:off x="620050" y="718675"/>
            <a:ext cx="7919700" cy="400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Communication Infrastructure:</a:t>
            </a:r>
            <a:endParaRPr/>
          </a:p>
          <a:p>
            <a:pPr indent="-34290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/>
              <a:t>Facilitates communication and data exchanges  between applications.</a:t>
            </a:r>
            <a:endParaRPr/>
          </a:p>
          <a:p>
            <a:pPr indent="-34290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/>
              <a:t>Uses communication channels.</a:t>
            </a:r>
            <a:endParaRPr/>
          </a:p>
          <a:p>
            <a:pPr indent="-3429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Message Broker Functionality:</a:t>
            </a:r>
            <a:endParaRPr/>
          </a:p>
          <a:p>
            <a:pPr indent="-34290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/>
              <a:t>Acts as a proxy between two applications.</a:t>
            </a:r>
            <a:endParaRPr/>
          </a:p>
          <a:p>
            <a:pPr indent="-34290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/>
              <a:t>Communication through queues designates it as a point-to-point broker.</a:t>
            </a:r>
            <a:endParaRPr/>
          </a:p>
          <a:p>
            <a:pPr indent="-3429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Publish/Subscribe Mode:</a:t>
            </a:r>
            <a:endParaRPr/>
          </a:p>
          <a:p>
            <a:pPr indent="-34290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/>
              <a:t>Broadcasting a single message to multiple applications.</a:t>
            </a:r>
            <a:endParaRPr/>
          </a:p>
          <a:p>
            <a:pPr indent="-34290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/>
              <a:t>Broker operates in Publish/Subscribe mode.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2"/>
          <p:cNvSpPr txBox="1"/>
          <p:nvPr/>
        </p:nvSpPr>
        <p:spPr>
          <a:xfrm>
            <a:off x="384725" y="510500"/>
            <a:ext cx="6252600" cy="3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50"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1" lang="en-US" sz="1850">
                <a:latin typeface="Calibri"/>
                <a:ea typeface="Calibri"/>
                <a:cs typeface="Calibri"/>
                <a:sym typeface="Calibri"/>
              </a:rPr>
              <a:t>. Batch and Real-time ETL Tools (Streaming Engine)</a:t>
            </a:r>
            <a:endParaRPr sz="185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2"/>
          <p:cNvSpPr txBox="1"/>
          <p:nvPr/>
        </p:nvSpPr>
        <p:spPr>
          <a:xfrm>
            <a:off x="451600" y="1153875"/>
            <a:ext cx="8327700" cy="360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700">
            <a:noAutofit/>
          </a:bodyPr>
          <a:lstStyle/>
          <a:p>
            <a:pPr indent="-352425" lvl="0" marL="457200" marR="5080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2052D"/>
              </a:buClr>
              <a:buSzPts val="1950"/>
              <a:buFont typeface="Calibri"/>
              <a:buChar char="●"/>
            </a:pPr>
            <a:r>
              <a:rPr lang="en-US" sz="1950">
                <a:solidFill>
                  <a:srgbClr val="02052D"/>
                </a:solidFill>
                <a:latin typeface="Calibri"/>
                <a:ea typeface="Calibri"/>
                <a:cs typeface="Calibri"/>
                <a:sym typeface="Calibri"/>
              </a:rPr>
              <a:t>Data streams from one or more message brokers must be </a:t>
            </a:r>
            <a:r>
              <a:rPr b="1" lang="en-US" sz="1950">
                <a:solidFill>
                  <a:srgbClr val="02052D"/>
                </a:solidFill>
                <a:latin typeface="Calibri"/>
                <a:ea typeface="Calibri"/>
                <a:cs typeface="Calibri"/>
                <a:sym typeface="Calibri"/>
              </a:rPr>
              <a:t>aggregated, transformed,  and structured </a:t>
            </a:r>
            <a:r>
              <a:rPr lang="en-US" sz="1950">
                <a:solidFill>
                  <a:srgbClr val="02052D"/>
                </a:solidFill>
                <a:latin typeface="Calibri"/>
                <a:ea typeface="Calibri"/>
                <a:cs typeface="Calibri"/>
                <a:sym typeface="Calibri"/>
              </a:rPr>
              <a:t>before data can be analyzed with SQL-based analytics tools.</a:t>
            </a:r>
            <a:endParaRPr sz="1950">
              <a:solidFill>
                <a:srgbClr val="0205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2425" lvl="0" marL="457200" marR="12700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2052D"/>
              </a:buClr>
              <a:buSzPts val="1950"/>
              <a:buFont typeface="Calibri"/>
              <a:buChar char="●"/>
            </a:pPr>
            <a:r>
              <a:rPr lang="en-US" sz="1950">
                <a:solidFill>
                  <a:srgbClr val="02052D"/>
                </a:solidFill>
                <a:latin typeface="Calibri"/>
                <a:ea typeface="Calibri"/>
                <a:cs typeface="Calibri"/>
                <a:sym typeface="Calibri"/>
              </a:rPr>
              <a:t>This would be done by an ETL tool or platform that receives queries from users,  fetches events from message queues, then applies the query to generate a result.</a:t>
            </a:r>
            <a:endParaRPr sz="1950">
              <a:latin typeface="Calibri"/>
              <a:ea typeface="Calibri"/>
              <a:cs typeface="Calibri"/>
              <a:sym typeface="Calibri"/>
            </a:endParaRPr>
          </a:p>
          <a:p>
            <a:pPr indent="-346075" lvl="0" marL="457200" marR="5080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2052D"/>
              </a:buClr>
              <a:buSzPts val="1850"/>
              <a:buFont typeface="Calibri"/>
              <a:buChar char="●"/>
            </a:pPr>
            <a:r>
              <a:rPr lang="en-US" sz="1850">
                <a:solidFill>
                  <a:srgbClr val="02052D"/>
                </a:solidFill>
                <a:latin typeface="Calibri"/>
                <a:ea typeface="Calibri"/>
                <a:cs typeface="Calibri"/>
                <a:sym typeface="Calibri"/>
              </a:rPr>
              <a:t>Other processes such as performing additional joins, aggregations, and transformations can also run concurrently with the process. </a:t>
            </a:r>
            <a:endParaRPr sz="1850">
              <a:solidFill>
                <a:srgbClr val="0205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6075" lvl="0" marL="457200" marR="5080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2052D"/>
              </a:buClr>
              <a:buSzPts val="1850"/>
              <a:buChar char="●"/>
            </a:pPr>
            <a:r>
              <a:rPr b="1" lang="en-US" sz="1850">
                <a:solidFill>
                  <a:srgbClr val="02052D"/>
                </a:solidFill>
                <a:latin typeface="Calibri"/>
                <a:ea typeface="Calibri"/>
                <a:cs typeface="Calibri"/>
                <a:sym typeface="Calibri"/>
              </a:rPr>
              <a:t>The result may be an action, a visualization, an API call, an alert, or in other cases, a new data stream</a:t>
            </a:r>
            <a:r>
              <a:rPr lang="en-US" sz="1850">
                <a:solidFill>
                  <a:srgbClr val="02052D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950">
              <a:solidFill>
                <a:srgbClr val="02052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2237bfeee9f_0_0"/>
          <p:cNvSpPr txBox="1"/>
          <p:nvPr>
            <p:ph type="title"/>
          </p:nvPr>
        </p:nvSpPr>
        <p:spPr>
          <a:xfrm>
            <a:off x="384724" y="1176604"/>
            <a:ext cx="8374500" cy="269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ETL Tools</a:t>
            </a:r>
            <a:endParaRPr b="1"/>
          </a:p>
        </p:txBody>
      </p:sp>
      <p:sp>
        <p:nvSpPr>
          <p:cNvPr id="175" name="Google Shape;175;g2237bfeee9f_0_0"/>
          <p:cNvSpPr txBox="1"/>
          <p:nvPr>
            <p:ph idx="1" type="body"/>
          </p:nvPr>
        </p:nvSpPr>
        <p:spPr>
          <a:xfrm>
            <a:off x="610025" y="1679800"/>
            <a:ext cx="7393200" cy="2629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-3175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-US"/>
              <a:t>E</a:t>
            </a:r>
            <a:r>
              <a:rPr lang="en-US"/>
              <a:t>xtract, </a:t>
            </a:r>
            <a:r>
              <a:rPr b="1" lang="en-US"/>
              <a:t>t</a:t>
            </a:r>
            <a:r>
              <a:rPr lang="en-US"/>
              <a:t>ransform, and </a:t>
            </a:r>
            <a:r>
              <a:rPr b="1" lang="en-US"/>
              <a:t>l</a:t>
            </a:r>
            <a:r>
              <a:rPr lang="en-US"/>
              <a:t>oad (ETL) is the process of combining data from multiple sources into a large, central repository called a data warehouse. </a:t>
            </a:r>
            <a:endParaRPr/>
          </a:p>
          <a:p>
            <a:pPr indent="-3175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ETL uses a set of business rules to clean and organize raw data and prepare it for storage, data analytics, and machine learning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2233044a85a_0_18"/>
          <p:cNvSpPr txBox="1"/>
          <p:nvPr>
            <p:ph type="title"/>
          </p:nvPr>
        </p:nvSpPr>
        <p:spPr>
          <a:xfrm>
            <a:off x="384725" y="458075"/>
            <a:ext cx="55803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4. Data Analytics Applications</a:t>
            </a:r>
            <a:endParaRPr sz="165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g2233044a85a_0_18"/>
          <p:cNvSpPr txBox="1"/>
          <p:nvPr/>
        </p:nvSpPr>
        <p:spPr>
          <a:xfrm>
            <a:off x="384725" y="866825"/>
            <a:ext cx="8082300" cy="9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2052D"/>
              </a:buClr>
              <a:buSzPts val="1600"/>
              <a:buChar char="●"/>
            </a:pPr>
            <a:r>
              <a:rPr lang="en-US" sz="1600">
                <a:solidFill>
                  <a:srgbClr val="02052D"/>
                </a:solidFill>
                <a:latin typeface="Calibri"/>
                <a:ea typeface="Calibri"/>
                <a:cs typeface="Calibri"/>
                <a:sym typeface="Calibri"/>
              </a:rPr>
              <a:t>Once streaming data is prepared for consumption by the stream processor and processing tool, </a:t>
            </a:r>
            <a:r>
              <a:rPr b="1" lang="en-US" sz="1600">
                <a:solidFill>
                  <a:srgbClr val="02052D"/>
                </a:solidFill>
                <a:latin typeface="Calibri"/>
                <a:ea typeface="Calibri"/>
                <a:cs typeface="Calibri"/>
                <a:sym typeface="Calibri"/>
              </a:rPr>
              <a:t>it needs to be analyzed</a:t>
            </a:r>
            <a:r>
              <a:rPr lang="en-US" sz="1600">
                <a:solidFill>
                  <a:srgbClr val="02052D"/>
                </a:solidFill>
                <a:latin typeface="Calibri"/>
                <a:ea typeface="Calibri"/>
                <a:cs typeface="Calibri"/>
                <a:sym typeface="Calibri"/>
              </a:rPr>
              <a:t> to provide value. </a:t>
            </a:r>
            <a:endParaRPr sz="1600">
              <a:solidFill>
                <a:srgbClr val="0205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2052D"/>
              </a:buClr>
              <a:buSzPts val="1600"/>
              <a:buFont typeface="Calibri"/>
              <a:buChar char="●"/>
            </a:pPr>
            <a:r>
              <a:rPr lang="en-US" sz="1600">
                <a:solidFill>
                  <a:srgbClr val="02052D"/>
                </a:solidFill>
                <a:latin typeface="Calibri"/>
                <a:ea typeface="Calibri"/>
                <a:cs typeface="Calibri"/>
                <a:sym typeface="Calibri"/>
              </a:rPr>
              <a:t>There are many different approaches to streaming data analytics</a:t>
            </a:r>
            <a:endParaRPr sz="1600">
              <a:solidFill>
                <a:srgbClr val="02052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82" name="Google Shape;182;g2233044a85a_0_18"/>
          <p:cNvGraphicFramePr/>
          <p:nvPr/>
        </p:nvGraphicFramePr>
        <p:xfrm>
          <a:off x="576099" y="241727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{F1448122-8A8F-4DB4-BDEA-ED05E2EE1155}</a:tableStyleId>
              </a:tblPr>
              <a:tblGrid>
                <a:gridCol w="1317600"/>
                <a:gridCol w="1464325"/>
                <a:gridCol w="5209900"/>
              </a:tblGrid>
              <a:tr h="831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189865" marR="0" rtl="0" algn="l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0D0E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Analytics Tool</a:t>
                      </a:r>
                      <a:endParaRPr sz="1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5" marB="0" marR="0" marL="0">
                    <a:lnL cap="flat" cmpd="sng" w="12700">
                      <a:solidFill>
                        <a:srgbClr val="0D0E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D0E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D0E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D0E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90500" marR="187325" rtl="0" algn="l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0D0E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Streaming Use  Case</a:t>
                      </a:r>
                      <a:endParaRPr sz="1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0800" marB="0" marR="0" marL="0">
                    <a:lnL cap="flat" cmpd="sng" w="12700">
                      <a:solidFill>
                        <a:srgbClr val="0D0E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D0E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D0E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D0E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189865" marR="0" rtl="0" algn="l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0D0E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Example Setup</a:t>
                      </a:r>
                      <a:endParaRPr sz="1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5" marB="0" marR="0" marL="0">
                    <a:lnL cap="flat" cmpd="sng" w="12700">
                      <a:solidFill>
                        <a:srgbClr val="0D0E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D0E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D0E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D0E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86475">
                <a:tc>
                  <a:txBody>
                    <a:bodyPr/>
                    <a:lstStyle/>
                    <a:p>
                      <a:pPr indent="0" lvl="0" marL="1898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 u="sng" cap="none" strike="noStrike">
                          <a:solidFill>
                            <a:srgbClr val="0097A7"/>
                          </a:solidFill>
                        </a:rPr>
                        <a:t>Cassandra</a:t>
                      </a:r>
                      <a:endParaRPr sz="1500" u="none" cap="none" strike="noStrike"/>
                    </a:p>
                  </a:txBody>
                  <a:tcPr marT="94625" marB="0" marR="0" marL="0">
                    <a:lnL cap="flat" cmpd="sng" w="12700">
                      <a:solidFill>
                        <a:srgbClr val="0D0E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D0E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D0E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D0E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90500" marR="260984" rtl="0" algn="just">
                        <a:lnSpc>
                          <a:spcPct val="145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solidFill>
                            <a:srgbClr val="0D0E33"/>
                          </a:solidFill>
                        </a:rPr>
                        <a:t>Low latency  serving of  streaming  events to apps</a:t>
                      </a:r>
                      <a:endParaRPr sz="1500" u="none" cap="none" strike="noStrike"/>
                    </a:p>
                  </a:txBody>
                  <a:tcPr marT="10800" marB="0" marR="0" marL="0">
                    <a:lnL cap="flat" cmpd="sng" w="12700">
                      <a:solidFill>
                        <a:srgbClr val="0D0E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D0E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D0E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D0E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89865" marR="478155" rtl="0" algn="l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solidFill>
                            <a:srgbClr val="0D0E33"/>
                          </a:solidFill>
                        </a:rPr>
                        <a:t>Kafka streams can be processed and persisted to a Cassandra cluster.  You can implement another Kafka instance that receives a stream of  changes from Cassandra and serves them to applications for real-time  decision making.</a:t>
                      </a:r>
                      <a:endParaRPr sz="1500" u="none" cap="none" strike="noStrike"/>
                    </a:p>
                  </a:txBody>
                  <a:tcPr marT="1275" marB="0" marR="0" marL="0">
                    <a:lnL cap="flat" cmpd="sng" w="12700">
                      <a:solidFill>
                        <a:srgbClr val="0D0E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D0E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D0E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D0E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7" name="Google Shape;187;p14"/>
          <p:cNvGraphicFramePr/>
          <p:nvPr/>
        </p:nvGraphicFramePr>
        <p:xfrm>
          <a:off x="288224" y="38597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{F1448122-8A8F-4DB4-BDEA-ED05E2EE1155}</a:tableStyleId>
              </a:tblPr>
              <a:tblGrid>
                <a:gridCol w="1739875"/>
                <a:gridCol w="1552775"/>
                <a:gridCol w="5090400"/>
              </a:tblGrid>
              <a:tr h="822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189865" marR="0" rtl="0" algn="l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D0E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Analytics Tool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5" marB="0" marR="0" marL="0">
                    <a:lnL cap="flat" cmpd="sng" w="12700">
                      <a:solidFill>
                        <a:srgbClr val="0D0E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D0E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D0E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D0E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89865" marR="355600" rtl="0" algn="l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D0E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Streaming Use  Case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0800" marB="0" marR="0" marL="0">
                    <a:lnL cap="flat" cmpd="sng" w="12700">
                      <a:solidFill>
                        <a:srgbClr val="0D0E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D0E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D0E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D0E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189865" marR="0" rtl="0" algn="l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D0E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Example Setup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5" marB="0" marR="0" marL="0">
                    <a:lnL cap="flat" cmpd="sng" w="12700">
                      <a:solidFill>
                        <a:srgbClr val="0D0E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D0E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D0E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D0E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65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189865" marR="0" rtl="0" algn="l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sng" cap="none" strike="noStrike">
                          <a:solidFill>
                            <a:srgbClr val="0097A7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hlinkClick r:id="rId3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Amazon Athena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5" marB="0" marR="0" marL="0">
                    <a:lnL cap="flat" cmpd="sng" w="12700">
                      <a:solidFill>
                        <a:srgbClr val="0D0E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D0E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D0E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D0E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89865" marR="344805" rtl="0" algn="l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0D0E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Distributed SQL  engine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0800" marB="0" marR="0" marL="0">
                    <a:lnL cap="flat" cmpd="sng" w="12700">
                      <a:solidFill>
                        <a:srgbClr val="0D0E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D0E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D0E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D0E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89865" marR="374650" rtl="0" algn="l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0D0E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Streaming data is saved to S3. You can set up ad hoc SQL queries via  the AWS Management Console, Athena runs them as serverless  functions and returns results.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0800" marB="0" marR="0" marL="0">
                    <a:lnL cap="flat" cmpd="sng" w="12700">
                      <a:solidFill>
                        <a:srgbClr val="0D0E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D0E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D0E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D0E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65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189865" marR="0" rtl="0" algn="l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sng" cap="none" strike="noStrike">
                          <a:solidFill>
                            <a:srgbClr val="0097A7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hlinkClick r:id="rId4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Amazon Redshift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5" marB="0" marR="0" marL="0">
                    <a:lnL cap="flat" cmpd="sng" w="12700">
                      <a:solidFill>
                        <a:srgbClr val="0D0E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D0E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D0E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D0E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189865" marR="0" rtl="0" algn="l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0D0E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Data warehouse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5" marB="0" marR="0" marL="0">
                    <a:lnL cap="flat" cmpd="sng" w="12700">
                      <a:solidFill>
                        <a:srgbClr val="0D0E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D0E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D0E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D0E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89865" marR="268605" rtl="0" algn="l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sng" cap="none" strike="noStrike">
                          <a:solidFill>
                            <a:srgbClr val="0097A7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hlinkClick r:id="rId5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Amazon Kinesis Streaming Data Firehose </a:t>
                      </a:r>
                      <a:r>
                        <a:rPr lang="en-US" sz="1200" u="none" cap="none" strike="noStrike">
                          <a:solidFill>
                            <a:srgbClr val="0D0E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can be used to save  streaming data to Redshift. This enables near real-time analytics with BI  tools and dashboards you have already integrated with Redshift.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0800" marB="0" marR="0" marL="0">
                    <a:lnL cap="flat" cmpd="sng" w="12700">
                      <a:solidFill>
                        <a:srgbClr val="0D0E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D0E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D0E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D0E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08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189865" marR="0" rtl="0" algn="l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sng" cap="none" strike="noStrike">
                          <a:solidFill>
                            <a:srgbClr val="0097A7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hlinkClick r:id="rId6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Elasticsearch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5" marB="0" marR="0" marL="0">
                    <a:lnL cap="flat" cmpd="sng" w="12700">
                      <a:solidFill>
                        <a:srgbClr val="0D0E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D0E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D0E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D0E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189865" marR="0" rtl="0" algn="l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0D0E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Text search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275" marB="0" marR="0" marL="0">
                    <a:lnL cap="flat" cmpd="sng" w="12700">
                      <a:solidFill>
                        <a:srgbClr val="0D0E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D0E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D0E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D0E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89865" marR="194945" rtl="0" algn="l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0D0E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Kafka Connect can be used to stream topics directly into Elasticsearch. If  you use the Avro data format and a schema registry, Elasticsearch  mappings with correct data types are created automatically. You can  then perform rapid text search or analytics within Elasticsearch.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0800" marB="0" marR="0" marL="0">
                    <a:lnL cap="flat" cmpd="sng" w="12700">
                      <a:solidFill>
                        <a:srgbClr val="0D0E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D0E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D0E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D0E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5"/>
          <p:cNvSpPr txBox="1"/>
          <p:nvPr/>
        </p:nvSpPr>
        <p:spPr>
          <a:xfrm>
            <a:off x="384725" y="188925"/>
            <a:ext cx="4758900" cy="5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b="1" lang="en-US" sz="15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. Streaming Data Storage (Data Lake Storage)</a:t>
            </a:r>
            <a:endParaRPr sz="1500">
              <a:solidFill>
                <a:srgbClr val="0205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1150"/>
          </a:p>
        </p:txBody>
      </p:sp>
      <p:graphicFrame>
        <p:nvGraphicFramePr>
          <p:cNvPr id="193" name="Google Shape;193;p15"/>
          <p:cNvGraphicFramePr/>
          <p:nvPr/>
        </p:nvGraphicFramePr>
        <p:xfrm>
          <a:off x="550936" y="140980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{F1448122-8A8F-4DB4-BDEA-ED05E2EE1155}</a:tableStyleId>
              </a:tblPr>
              <a:tblGrid>
                <a:gridCol w="2220125"/>
                <a:gridCol w="2284850"/>
                <a:gridCol w="3233300"/>
              </a:tblGrid>
              <a:tr h="508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1898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D0E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Streaming Data Storage Option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0" marB="0" marR="0" marL="0">
                    <a:lnL cap="flat" cmpd="sng" w="12700">
                      <a:solidFill>
                        <a:srgbClr val="0D0E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D0E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D0E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D0E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1898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D0E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0" marB="0" marR="0" marL="0">
                    <a:lnL cap="flat" cmpd="sng" w="12700">
                      <a:solidFill>
                        <a:srgbClr val="0D0E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D0E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D0E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D0E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1898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D0E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0" marB="0" marR="0" marL="0">
                    <a:lnL cap="flat" cmpd="sng" w="12700">
                      <a:solidFill>
                        <a:srgbClr val="0D0E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D0E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D0E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D0E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75150">
                <a:tc>
                  <a:txBody>
                    <a:bodyPr/>
                    <a:lstStyle/>
                    <a:p>
                      <a:pPr indent="0" lvl="0" marL="189865" marR="251459" rtl="0" algn="l">
                        <a:lnSpc>
                          <a:spcPct val="147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D0E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 a database or data  warehouse – </a:t>
                      </a:r>
                      <a:r>
                        <a:rPr lang="en-US" sz="1100" u="none" cap="none" strike="noStrike">
                          <a:solidFill>
                            <a:srgbClr val="0D0E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for example,  PostgreSQL or Amazon Redshift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04775" marB="0" marR="0" marL="0">
                    <a:lnL cap="flat" cmpd="sng" w="12700">
                      <a:solidFill>
                        <a:srgbClr val="0D0E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D0E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D0E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D0E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1898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0D0E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Easy SQL-based data analysis.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0" marB="0" marR="0" marL="0">
                    <a:lnL cap="flat" cmpd="sng" w="12700">
                      <a:solidFill>
                        <a:srgbClr val="0D0E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D0E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D0E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D0E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89865" marR="248920" rtl="0" algn="l">
                        <a:lnSpc>
                          <a:spcPct val="147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0D0E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Hard to scale and manage. If cloud-based, storage  is expensive.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04775" marB="0" marR="0" marL="0">
                    <a:lnL cap="flat" cmpd="sng" w="12700">
                      <a:solidFill>
                        <a:srgbClr val="0D0E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D0E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D0E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D0E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37825">
                <a:tc>
                  <a:txBody>
                    <a:bodyPr/>
                    <a:lstStyle/>
                    <a:p>
                      <a:pPr indent="0" lvl="0" marL="189865" marR="283845" rtl="0" algn="l">
                        <a:lnSpc>
                          <a:spcPct val="147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D0E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 the message broker – </a:t>
                      </a:r>
                      <a:r>
                        <a:rPr lang="en-US" sz="1100" u="none" cap="none" strike="noStrike">
                          <a:solidFill>
                            <a:srgbClr val="0D0E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for  example, using Kafka persistent  storage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04775" marB="0" marR="0" marL="0">
                    <a:lnL cap="flat" cmpd="sng" w="12700">
                      <a:solidFill>
                        <a:srgbClr val="0D0E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D0E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D0E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D0E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89865" marR="394335" rtl="0" algn="l">
                        <a:lnSpc>
                          <a:spcPct val="147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0D0E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Agile, no need to structure data  into tables. Easy to set up, no  additional components.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04775" marB="0" marR="0" marL="0">
                    <a:lnL cap="flat" cmpd="sng" w="12700">
                      <a:solidFill>
                        <a:srgbClr val="0D0E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D0E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D0E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D0E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89865" marR="210820" rtl="0" algn="l">
                        <a:lnSpc>
                          <a:spcPct val="147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0D0E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Data retention is an issue since Kafka storage is up  to 10x more expensive compared to data lake  storage. Kafka performance is best for reading  recent (cached) data.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04775" marB="0" marR="0" marL="0">
                    <a:lnL cap="flat" cmpd="sng" w="12700">
                      <a:solidFill>
                        <a:srgbClr val="0D0E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D0E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D0E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D0E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27950">
                <a:tc>
                  <a:txBody>
                    <a:bodyPr/>
                    <a:lstStyle/>
                    <a:p>
                      <a:pPr indent="0" lvl="0" marL="189865" marR="461644" rtl="0" algn="l">
                        <a:lnSpc>
                          <a:spcPct val="147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D0E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 a </a:t>
                      </a:r>
                      <a:r>
                        <a:rPr b="1" lang="en-US" sz="1100" cap="none" strike="noStrike">
                          <a:solidFill>
                            <a:srgbClr val="0D0E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data lake </a:t>
                      </a:r>
                      <a:r>
                        <a:rPr b="1" lang="en-US" sz="1100" u="none" cap="none" strike="noStrike">
                          <a:solidFill>
                            <a:srgbClr val="0D0E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– </a:t>
                      </a:r>
                      <a:r>
                        <a:rPr lang="en-US" sz="1100" u="none" cap="none" strike="noStrike">
                          <a:solidFill>
                            <a:srgbClr val="0D0E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for example,  Amazon S3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04775" marB="0" marR="0" marL="0">
                    <a:lnL cap="flat" cmpd="sng" w="12700">
                      <a:solidFill>
                        <a:srgbClr val="0D0E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D0E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D0E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D0E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89865" marR="394335" rtl="0" algn="l">
                        <a:lnSpc>
                          <a:spcPct val="147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0D0E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Agile, no need to structure data  into tables. Low cost storage.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04775" marB="0" marR="0" marL="0">
                    <a:lnL cap="flat" cmpd="sng" w="12700">
                      <a:solidFill>
                        <a:srgbClr val="0D0E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D0E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D0E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D0E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89865" marR="511809" rtl="0" algn="l">
                        <a:lnSpc>
                          <a:spcPct val="147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0D0E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High latency, makes real time analysis difficult.  Difficult to perform SQL analytics.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04775" marB="0" marR="0" marL="0">
                    <a:lnL cap="flat" cmpd="sng" w="12700">
                      <a:solidFill>
                        <a:srgbClr val="0D0E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D0E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D0E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D0E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4" name="Google Shape;194;p15"/>
          <p:cNvSpPr txBox="1"/>
          <p:nvPr/>
        </p:nvSpPr>
        <p:spPr>
          <a:xfrm>
            <a:off x="410825" y="459600"/>
            <a:ext cx="83049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Calibri"/>
              <a:buChar char="●"/>
            </a:pPr>
            <a:r>
              <a:rPr lang="en-US" sz="1500">
                <a:latin typeface="Calibri"/>
                <a:ea typeface="Calibri"/>
                <a:cs typeface="Calibri"/>
                <a:sym typeface="Calibri"/>
              </a:rPr>
              <a:t>With the advent of low cost storage technologies, most organizations today are storing their streaming event data. 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Calibri"/>
              <a:buChar char="●"/>
            </a:pPr>
            <a:r>
              <a:rPr lang="en-US" sz="1500">
                <a:latin typeface="Calibri"/>
                <a:ea typeface="Calibri"/>
                <a:cs typeface="Calibri"/>
                <a:sym typeface="Calibri"/>
              </a:rPr>
              <a:t>Here are several options for storing streaming data, and their pros and cons.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226974b3126_0_3"/>
          <p:cNvSpPr txBox="1"/>
          <p:nvPr>
            <p:ph type="title"/>
          </p:nvPr>
        </p:nvSpPr>
        <p:spPr>
          <a:xfrm>
            <a:off x="1791601" y="226514"/>
            <a:ext cx="4001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Stream Model</a:t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g226974b3126_0_3"/>
          <p:cNvSpPr txBox="1"/>
          <p:nvPr>
            <p:ph idx="11" type="ftr"/>
          </p:nvPr>
        </p:nvSpPr>
        <p:spPr>
          <a:xfrm>
            <a:off x="1853564" y="4699109"/>
            <a:ext cx="5432400" cy="7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-382905" lvl="0" marL="394970" marR="508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“Big Data Analytics “, Ch.07 L01: Data Stream Mining ....Spark Streaming,  Raj Kamal and Preeti Saxena, © McGraw-Hill Higher Edu. India</a:t>
            </a:r>
            <a:endParaRPr/>
          </a:p>
        </p:txBody>
      </p:sp>
      <p:sp>
        <p:nvSpPr>
          <p:cNvPr id="201" name="Google Shape;201;g226974b3126_0_3"/>
          <p:cNvSpPr txBox="1"/>
          <p:nvPr>
            <p:ph idx="10" type="dt"/>
          </p:nvPr>
        </p:nvSpPr>
        <p:spPr>
          <a:xfrm>
            <a:off x="765454" y="4779119"/>
            <a:ext cx="385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64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2019</a:t>
            </a:r>
            <a:endParaRPr/>
          </a:p>
        </p:txBody>
      </p:sp>
      <p:sp>
        <p:nvSpPr>
          <p:cNvPr id="202" name="Google Shape;202;g226974b3126_0_3"/>
          <p:cNvSpPr txBox="1"/>
          <p:nvPr>
            <p:ph idx="12" type="sldNum"/>
          </p:nvPr>
        </p:nvSpPr>
        <p:spPr>
          <a:xfrm>
            <a:off x="8606663" y="4779119"/>
            <a:ext cx="256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3815" rtl="0" algn="l">
              <a:lnSpc>
                <a:spcPct val="116428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3" name="Google Shape;203;g226974b3126_0_3"/>
          <p:cNvSpPr txBox="1"/>
          <p:nvPr/>
        </p:nvSpPr>
        <p:spPr>
          <a:xfrm>
            <a:off x="618750" y="814275"/>
            <a:ext cx="7906500" cy="331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2550">
            <a:noAutofit/>
          </a:bodyPr>
          <a:lstStyle/>
          <a:p>
            <a:pPr indent="-407669" lvl="0" marL="527685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●"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Data Stream Model is a computational model used to analyze and process continuous streams of data.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7669" lvl="0" marL="527685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●"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With stream model data is considered to be infinite and unbounded, and algorithms are designed to make decisions and perform computations based on this continuous flow of data. 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7669" lvl="0" marL="527685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●"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data stream model is commonly used in various applications such as monitoring systems, network traffic analysis, sensor data processing, financial market analysis, and more.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7669" lvl="0" marL="527685" marR="1336675" rtl="0" algn="just">
              <a:lnSpc>
                <a:spcPct val="115000"/>
              </a:lnSpc>
              <a:spcBef>
                <a:spcPts val="865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●"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There are different  ways of modeling data  stream, querying, processing and  management.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226974b3126_0_299"/>
          <p:cNvSpPr txBox="1"/>
          <p:nvPr>
            <p:ph type="title"/>
          </p:nvPr>
        </p:nvSpPr>
        <p:spPr>
          <a:xfrm>
            <a:off x="1271397" y="177889"/>
            <a:ext cx="66012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g226974b3126_0_299"/>
          <p:cNvSpPr txBox="1"/>
          <p:nvPr>
            <p:ph idx="1" type="body"/>
          </p:nvPr>
        </p:nvSpPr>
        <p:spPr>
          <a:xfrm>
            <a:off x="841044" y="1213676"/>
            <a:ext cx="7684800" cy="5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g226974b3126_0_299"/>
          <p:cNvSpPr txBox="1"/>
          <p:nvPr/>
        </p:nvSpPr>
        <p:spPr>
          <a:xfrm>
            <a:off x="1031425" y="177900"/>
            <a:ext cx="696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Graph-based stream data model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1" name="Google Shape;211;g226974b3126_0_299"/>
          <p:cNvSpPr/>
          <p:nvPr/>
        </p:nvSpPr>
        <p:spPr>
          <a:xfrm>
            <a:off x="1800000" y="3718525"/>
            <a:ext cx="5766900" cy="13566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12" name="Google Shape;212;g226974b3126_0_299"/>
          <p:cNvSpPr txBox="1"/>
          <p:nvPr/>
        </p:nvSpPr>
        <p:spPr>
          <a:xfrm>
            <a:off x="705700" y="1093075"/>
            <a:ext cx="8061300" cy="25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92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●"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involves representing the data stream and its transformations using a graph structure. 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●"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this model, </a:t>
            </a:r>
            <a:r>
              <a:rPr b="1"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node</a:t>
            </a: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 the graph represents an </a:t>
            </a:r>
            <a:r>
              <a:rPr b="1"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operator</a:t>
            </a: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or adapter, while the </a:t>
            </a:r>
            <a:r>
              <a:rPr b="1"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edges</a:t>
            </a: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represent the </a:t>
            </a:r>
            <a:r>
              <a:rPr b="1"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flow of data</a:t>
            </a: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between them.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●"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node in the graph performs specific data transformations or computations on incoming data streams before passing them to subsequent nodes. 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●"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These transformations may include filtering, aggregation, enrichment, or joining of data streams.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226974b3126_0_156"/>
          <p:cNvSpPr txBox="1"/>
          <p:nvPr>
            <p:ph type="title"/>
          </p:nvPr>
        </p:nvSpPr>
        <p:spPr>
          <a:xfrm>
            <a:off x="1109875" y="292200"/>
            <a:ext cx="6257100" cy="18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2786380" lvl="0" marL="2798445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Relation-oriented stream-tuples  model</a:t>
            </a:r>
            <a:endParaRPr/>
          </a:p>
        </p:txBody>
      </p:sp>
      <p:sp>
        <p:nvSpPr>
          <p:cNvPr id="218" name="Google Shape;218;g226974b3126_0_156"/>
          <p:cNvSpPr txBox="1"/>
          <p:nvPr>
            <p:ph idx="11" type="ftr"/>
          </p:nvPr>
        </p:nvSpPr>
        <p:spPr>
          <a:xfrm>
            <a:off x="1464025" y="4602325"/>
            <a:ext cx="6682200" cy="2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-382905" lvl="0" marL="394970" marR="508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Time stamp for real-time streaming data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g226974b3126_0_156"/>
          <p:cNvSpPr txBox="1"/>
          <p:nvPr>
            <p:ph idx="10" type="dt"/>
          </p:nvPr>
        </p:nvSpPr>
        <p:spPr>
          <a:xfrm>
            <a:off x="765454" y="4779119"/>
            <a:ext cx="385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64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2019</a:t>
            </a:r>
            <a:endParaRPr/>
          </a:p>
        </p:txBody>
      </p:sp>
      <p:sp>
        <p:nvSpPr>
          <p:cNvPr id="220" name="Google Shape;220;g226974b3126_0_156"/>
          <p:cNvSpPr txBox="1"/>
          <p:nvPr>
            <p:ph idx="12" type="sldNum"/>
          </p:nvPr>
        </p:nvSpPr>
        <p:spPr>
          <a:xfrm>
            <a:off x="8606663" y="4779119"/>
            <a:ext cx="256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3815" rtl="0" algn="l">
              <a:lnSpc>
                <a:spcPct val="116428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1" name="Google Shape;221;g226974b3126_0_156"/>
          <p:cNvSpPr txBox="1"/>
          <p:nvPr>
            <p:ph idx="1" type="body"/>
          </p:nvPr>
        </p:nvSpPr>
        <p:spPr>
          <a:xfrm>
            <a:off x="810894" y="919525"/>
            <a:ext cx="7684800" cy="170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700">
            <a:noAutofit/>
          </a:bodyPr>
          <a:lstStyle/>
          <a:p>
            <a:pPr indent="-407669" lvl="0" marL="527685" marR="5080" rtl="0" algn="just">
              <a:lnSpc>
                <a:spcPct val="100000"/>
              </a:lnSpc>
              <a:spcBef>
                <a:spcPts val="865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•"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model specifically designed for representing and processing streaming data as tuples organized into relations, similar to relational databases.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7669" lvl="0" marL="527685" marR="5080" rtl="0" algn="just">
              <a:lnSpc>
                <a:spcPct val="100000"/>
              </a:lnSpc>
              <a:spcBef>
                <a:spcPts val="865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•"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this model, streaming data is represented as a </a:t>
            </a:r>
            <a:r>
              <a:rPr b="1"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sequence of tuples</a:t>
            </a: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where each tuple corresponds to a single data event or record.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g226974b3126_0_156"/>
          <p:cNvSpPr txBox="1"/>
          <p:nvPr/>
        </p:nvSpPr>
        <p:spPr>
          <a:xfrm>
            <a:off x="1109875" y="202150"/>
            <a:ext cx="6682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786380" lvl="0" marL="2798445" marR="508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Relation-oriented stream tuples  model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g226974b3126_0_156"/>
          <p:cNvSpPr/>
          <p:nvPr/>
        </p:nvSpPr>
        <p:spPr>
          <a:xfrm>
            <a:off x="826650" y="2625625"/>
            <a:ext cx="7490700" cy="19767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226974b3126_0_216"/>
          <p:cNvSpPr txBox="1"/>
          <p:nvPr>
            <p:ph type="title"/>
          </p:nvPr>
        </p:nvSpPr>
        <p:spPr>
          <a:xfrm>
            <a:off x="1271397" y="177889"/>
            <a:ext cx="66012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g226974b3126_0_216"/>
          <p:cNvSpPr txBox="1"/>
          <p:nvPr>
            <p:ph idx="1" type="body"/>
          </p:nvPr>
        </p:nvSpPr>
        <p:spPr>
          <a:xfrm>
            <a:off x="841044" y="1213676"/>
            <a:ext cx="7684800" cy="5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g226974b3126_0_216"/>
          <p:cNvSpPr txBox="1"/>
          <p:nvPr/>
        </p:nvSpPr>
        <p:spPr>
          <a:xfrm>
            <a:off x="437975" y="516600"/>
            <a:ext cx="8400300" cy="367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556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●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An unbounded and time-ordered  sequence of data items (relational  tuples) in the data stream model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●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The receiving software receives the  sequences in order and sees the data  items only once. 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●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Each tuple consists of  a set of attributes, like a row in a  database table. 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●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One of the attributes in the tuple  schema is a timestamp, usually  represented by t.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●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Data Source may a RDBMS row-oriented storage tables or Parquet tables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●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Parquet nested column-oriented data  stream transfer data to Data sink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●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Parquet is nested hierarchical  columnar-storage concept.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226974b3126_0_225"/>
          <p:cNvSpPr txBox="1"/>
          <p:nvPr>
            <p:ph type="title"/>
          </p:nvPr>
        </p:nvSpPr>
        <p:spPr>
          <a:xfrm>
            <a:off x="907050" y="310075"/>
            <a:ext cx="7329900" cy="3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Object-based data stream model</a:t>
            </a:r>
            <a:endParaRPr b="1"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g226974b3126_0_225"/>
          <p:cNvSpPr txBox="1"/>
          <p:nvPr>
            <p:ph idx="11" type="ftr"/>
          </p:nvPr>
        </p:nvSpPr>
        <p:spPr>
          <a:xfrm>
            <a:off x="1853564" y="4699109"/>
            <a:ext cx="5432400" cy="7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-382905" lvl="0" marL="394970" marR="508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“Big Data Analytics “, Ch.07 L01: Data Stream Mining ....Spark Streaming,  Raj Kamal and Preeti Saxena, © McGraw-Hill Higher Edu. India</a:t>
            </a:r>
            <a:endParaRPr/>
          </a:p>
        </p:txBody>
      </p:sp>
      <p:sp>
        <p:nvSpPr>
          <p:cNvPr id="237" name="Google Shape;237;g226974b3126_0_225"/>
          <p:cNvSpPr txBox="1"/>
          <p:nvPr>
            <p:ph idx="10" type="dt"/>
          </p:nvPr>
        </p:nvSpPr>
        <p:spPr>
          <a:xfrm>
            <a:off x="765454" y="4779119"/>
            <a:ext cx="385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64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2019</a:t>
            </a:r>
            <a:endParaRPr/>
          </a:p>
        </p:txBody>
      </p:sp>
      <p:sp>
        <p:nvSpPr>
          <p:cNvPr id="238" name="Google Shape;238;g226974b3126_0_225"/>
          <p:cNvSpPr txBox="1"/>
          <p:nvPr>
            <p:ph idx="12" type="sldNum"/>
          </p:nvPr>
        </p:nvSpPr>
        <p:spPr>
          <a:xfrm>
            <a:off x="8606663" y="4779119"/>
            <a:ext cx="256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3815" rtl="0" algn="l">
              <a:lnSpc>
                <a:spcPct val="116428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9" name="Google Shape;239;g226974b3126_0_225"/>
          <p:cNvSpPr txBox="1"/>
          <p:nvPr/>
        </p:nvSpPr>
        <p:spPr>
          <a:xfrm>
            <a:off x="765450" y="873512"/>
            <a:ext cx="7806600" cy="367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2550">
            <a:noAutofit/>
          </a:bodyPr>
          <a:lstStyle/>
          <a:p>
            <a:pPr indent="-414019" lvl="0" marL="527685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Its framework for representing and processing streaming data in the form of objects or entities, each with its own attributes and behaviors.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14019" lvl="0" marL="527685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this model, streaming data is viewed as a sequence of objects that evolve over time, and data processing operations are performed on these objects as they arrive in the stream.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14019" lvl="0" marL="527685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Examples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Cougar and Tribeca object-  based data stream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1" marL="914400" marR="1186180" rtl="0" algn="just">
              <a:lnSpc>
                <a:spcPct val="115000"/>
              </a:lnSpc>
              <a:spcBef>
                <a:spcPts val="86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○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Cougar models sensors’ data as a  stream of objects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1" marL="914400" marR="5080" rtl="0" algn="just">
              <a:lnSpc>
                <a:spcPct val="115000"/>
              </a:lnSpc>
              <a:spcBef>
                <a:spcPts val="86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○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Tribeca models the network monitoring  data as a stream of objects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226974b3126_0_280"/>
          <p:cNvSpPr txBox="1"/>
          <p:nvPr>
            <p:ph type="title"/>
          </p:nvPr>
        </p:nvSpPr>
        <p:spPr>
          <a:xfrm>
            <a:off x="1003800" y="337200"/>
            <a:ext cx="7329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XML-based data stream model</a:t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g226974b3126_0_280"/>
          <p:cNvSpPr txBox="1"/>
          <p:nvPr>
            <p:ph idx="11" type="ftr"/>
          </p:nvPr>
        </p:nvSpPr>
        <p:spPr>
          <a:xfrm>
            <a:off x="1853564" y="4699109"/>
            <a:ext cx="5432400" cy="7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-382905" lvl="0" marL="394970" marR="508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“Big Data Analytics “, Ch.07 L01: Data Stream Mining ....Spark Streaming,  Raj Kamal and Preeti Saxena, © McGraw-Hill Higher Edu. India</a:t>
            </a:r>
            <a:endParaRPr/>
          </a:p>
        </p:txBody>
      </p:sp>
      <p:sp>
        <p:nvSpPr>
          <p:cNvPr id="246" name="Google Shape;246;g226974b3126_0_280"/>
          <p:cNvSpPr txBox="1"/>
          <p:nvPr>
            <p:ph idx="10" type="dt"/>
          </p:nvPr>
        </p:nvSpPr>
        <p:spPr>
          <a:xfrm>
            <a:off x="765454" y="4779119"/>
            <a:ext cx="385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64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2019</a:t>
            </a:r>
            <a:endParaRPr/>
          </a:p>
        </p:txBody>
      </p:sp>
      <p:sp>
        <p:nvSpPr>
          <p:cNvPr id="247" name="Google Shape;247;g226974b3126_0_280"/>
          <p:cNvSpPr txBox="1"/>
          <p:nvPr>
            <p:ph idx="12" type="sldNum"/>
          </p:nvPr>
        </p:nvSpPr>
        <p:spPr>
          <a:xfrm>
            <a:off x="8606663" y="4779119"/>
            <a:ext cx="256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3815" rtl="0" algn="l">
              <a:lnSpc>
                <a:spcPct val="116428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8" name="Google Shape;248;g226974b3126_0_280"/>
          <p:cNvSpPr txBox="1"/>
          <p:nvPr/>
        </p:nvSpPr>
        <p:spPr>
          <a:xfrm>
            <a:off x="765450" y="868550"/>
            <a:ext cx="7806600" cy="31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2550">
            <a:noAutofit/>
          </a:bodyPr>
          <a:lstStyle/>
          <a:p>
            <a:pPr indent="-355600" lvl="0" marL="457200" marR="508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Its a model for representing and processing streaming data using XML (eXtensible Markup Language) as the data format.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marR="508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this model, streaming data is structured as a sequence of XML documents, with each document containing hierarchical data organized into elements and attributes.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marR="508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Example: NiagaraCQ, an XML-based  data stream model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marR="145415" rtl="0" algn="just">
              <a:lnSpc>
                <a:spcPct val="115000"/>
              </a:lnSpc>
              <a:spcBef>
                <a:spcPts val="86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Performs operations over millions of  simultaneous queries by dynamically  grouping them according to their  structural similarities.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2c42be31073_0_8"/>
          <p:cNvSpPr txBox="1"/>
          <p:nvPr>
            <p:ph type="title"/>
          </p:nvPr>
        </p:nvSpPr>
        <p:spPr>
          <a:xfrm>
            <a:off x="1271397" y="177889"/>
            <a:ext cx="66012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g2c42be31073_0_8"/>
          <p:cNvSpPr txBox="1"/>
          <p:nvPr>
            <p:ph idx="1" type="body"/>
          </p:nvPr>
        </p:nvSpPr>
        <p:spPr>
          <a:xfrm>
            <a:off x="841044" y="1213676"/>
            <a:ext cx="7684800" cy="5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g2c42be31073_0_8"/>
          <p:cNvSpPr txBox="1"/>
          <p:nvPr/>
        </p:nvSpPr>
        <p:spPr>
          <a:xfrm>
            <a:off x="1506400" y="819175"/>
            <a:ext cx="6487200" cy="31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&lt;?xml version="1.0" encoding="UTF-8"?&gt;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&lt;bookstore&gt;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&lt;book category="Fiction"&gt;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&lt;title&gt;The Great Gatsby&lt;/title&gt;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&lt;author&gt;F. Scott Fitzgerald&lt;/author&gt;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&lt;price&gt;15.99&lt;/price&gt;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&lt;/book&gt;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&lt;book category="Non-Fiction"&gt;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&lt;title&gt;Thinking, Fast and Slow&lt;/title&gt;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&lt;author&gt;Daniel Kahneman&lt;/author&gt;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&lt;price&gt;12.99&lt;/price&gt;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&lt;/book&gt;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&lt;/bookstore&gt;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g2c42be31073_0_8"/>
          <p:cNvSpPr txBox="1"/>
          <p:nvPr/>
        </p:nvSpPr>
        <p:spPr>
          <a:xfrm>
            <a:off x="827850" y="203575"/>
            <a:ext cx="7477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 -XML Document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g2c42be31073_0_8"/>
          <p:cNvSpPr txBox="1"/>
          <p:nvPr/>
        </p:nvSpPr>
        <p:spPr>
          <a:xfrm>
            <a:off x="719275" y="4261375"/>
            <a:ext cx="75864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XML documents are commonly used for representing and exchanging structured data between different systems and platforms.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226974b3126_0_289"/>
          <p:cNvSpPr txBox="1"/>
          <p:nvPr>
            <p:ph type="title"/>
          </p:nvPr>
        </p:nvSpPr>
        <p:spPr>
          <a:xfrm>
            <a:off x="907050" y="310075"/>
            <a:ext cx="7329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Window-based data stream model</a:t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g226974b3126_0_289"/>
          <p:cNvSpPr txBox="1"/>
          <p:nvPr>
            <p:ph idx="11" type="ftr"/>
          </p:nvPr>
        </p:nvSpPr>
        <p:spPr>
          <a:xfrm>
            <a:off x="1853564" y="4699109"/>
            <a:ext cx="5432400" cy="7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-382905" lvl="0" marL="394970" marR="508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“Big Data Analytics “, Ch.07 L01: Data Stream Mining ....Spark Streaming,  Raj Kamal and Preeti Saxena, © McGraw-Hill Higher Edu. India</a:t>
            </a:r>
            <a:endParaRPr/>
          </a:p>
        </p:txBody>
      </p:sp>
      <p:sp>
        <p:nvSpPr>
          <p:cNvPr id="264" name="Google Shape;264;g226974b3126_0_289"/>
          <p:cNvSpPr txBox="1"/>
          <p:nvPr>
            <p:ph idx="10" type="dt"/>
          </p:nvPr>
        </p:nvSpPr>
        <p:spPr>
          <a:xfrm>
            <a:off x="765454" y="4779119"/>
            <a:ext cx="385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64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2019</a:t>
            </a:r>
            <a:endParaRPr/>
          </a:p>
        </p:txBody>
      </p:sp>
      <p:sp>
        <p:nvSpPr>
          <p:cNvPr id="265" name="Google Shape;265;g226974b3126_0_289"/>
          <p:cNvSpPr txBox="1"/>
          <p:nvPr>
            <p:ph idx="12" type="sldNum"/>
          </p:nvPr>
        </p:nvSpPr>
        <p:spPr>
          <a:xfrm>
            <a:off x="8606663" y="4779119"/>
            <a:ext cx="256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3815" rtl="0" algn="l">
              <a:lnSpc>
                <a:spcPct val="116428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6" name="Google Shape;266;g226974b3126_0_289"/>
          <p:cNvSpPr txBox="1"/>
          <p:nvPr/>
        </p:nvSpPr>
        <p:spPr>
          <a:xfrm>
            <a:off x="668690" y="1098790"/>
            <a:ext cx="7806600" cy="313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2550">
            <a:noAutofit/>
          </a:bodyPr>
          <a:lstStyle/>
          <a:p>
            <a:pPr indent="-355600" lvl="0" marL="457200" marR="145415" rtl="0" algn="just">
              <a:lnSpc>
                <a:spcPct val="115000"/>
              </a:lnSpc>
              <a:spcBef>
                <a:spcPts val="86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Its a model for processing and analyzing streaming data by dividing it into finite, contiguous subsets called windows.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marR="145415" rtl="0" algn="just">
              <a:lnSpc>
                <a:spcPct val="115000"/>
              </a:lnSpc>
              <a:spcBef>
                <a:spcPts val="86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Window means a time window during  which the data stream is looked at an  instance.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marR="145415" rtl="0" algn="just">
              <a:lnSpc>
                <a:spcPct val="115000"/>
              </a:lnSpc>
              <a:spcBef>
                <a:spcPts val="86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window represents a temporal segment of the data stream, and data processing operations are applied to the contents of these windows.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marR="145415" rtl="0" algn="just">
              <a:lnSpc>
                <a:spcPct val="115000"/>
              </a:lnSpc>
              <a:spcBef>
                <a:spcPts val="86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Stream data direction can be towards  fixed window, sliding window or  landmark window-sinks (end-points)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226974b3126_0_307"/>
          <p:cNvSpPr txBox="1"/>
          <p:nvPr>
            <p:ph type="title"/>
          </p:nvPr>
        </p:nvSpPr>
        <p:spPr>
          <a:xfrm>
            <a:off x="1271397" y="504564"/>
            <a:ext cx="6601200" cy="323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Sampling Techniques</a:t>
            </a:r>
            <a:endParaRPr b="1"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g226974b3126_0_307"/>
          <p:cNvSpPr txBox="1"/>
          <p:nvPr>
            <p:ph idx="1" type="body"/>
          </p:nvPr>
        </p:nvSpPr>
        <p:spPr>
          <a:xfrm>
            <a:off x="841044" y="1213675"/>
            <a:ext cx="7684800" cy="3232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-3556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Sampling is the practice of selecting an individual group from a population to study the whole population.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Let’s say we want to know the percentage of people who use iPhones in a city,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One way to do this is to call up everyone in the city and ask them what type of phone they use.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other way would be to get a smaller subgroup of individuals and ask them the same question, and then use this information as an approximation of the total population.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226974b3126_0_314"/>
          <p:cNvSpPr txBox="1"/>
          <p:nvPr>
            <p:ph type="title"/>
          </p:nvPr>
        </p:nvSpPr>
        <p:spPr>
          <a:xfrm>
            <a:off x="1271397" y="177889"/>
            <a:ext cx="66012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g226974b3126_0_314"/>
          <p:cNvSpPr txBox="1"/>
          <p:nvPr>
            <p:ph idx="1" type="body"/>
          </p:nvPr>
        </p:nvSpPr>
        <p:spPr>
          <a:xfrm>
            <a:off x="831194" y="1075725"/>
            <a:ext cx="7684800" cy="2262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3619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●"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Every sampling type comes under two broad categories: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○"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Probability sampling - Random selection techniques are used to select the sample.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○"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Non-probability sampling - Non-random selection techniques based on certain criteria are used to select the sample.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226974b3126_0_320"/>
          <p:cNvSpPr txBox="1"/>
          <p:nvPr>
            <p:ph type="title"/>
          </p:nvPr>
        </p:nvSpPr>
        <p:spPr>
          <a:xfrm>
            <a:off x="1271397" y="177889"/>
            <a:ext cx="66012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g226974b3126_0_320"/>
          <p:cNvSpPr txBox="1"/>
          <p:nvPr>
            <p:ph idx="1" type="body"/>
          </p:nvPr>
        </p:nvSpPr>
        <p:spPr>
          <a:xfrm>
            <a:off x="660169" y="793501"/>
            <a:ext cx="7684800" cy="3601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3556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random sampling method, choosing a sample of limited data items from a list containing a very large number of items, randomly.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Choose  </a:t>
            </a: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samples from a list of </a:t>
            </a: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items, where n is either a very large or unknown number.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Given a stream of numbers, and need to write an efficient function to randomly select k numbers where 1 &lt;= k &lt;= n.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1" marL="9144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AutoNum type="alphaLcPeriod"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Let the input array be </a:t>
            </a:r>
            <a:r>
              <a:rPr b="1" lang="en-US" sz="1900">
                <a:solidFill>
                  <a:schemeClr val="dk1"/>
                </a:solidFill>
              </a:rPr>
              <a:t>stream</a:t>
            </a: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[]. 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1" marL="9144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AutoNum type="alphaLcPeriod"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Create an array </a:t>
            </a:r>
            <a:r>
              <a:rPr b="1" lang="en-US" sz="1900">
                <a:solidFill>
                  <a:schemeClr val="dk1"/>
                </a:solidFill>
              </a:rPr>
              <a:t>reservoir</a:t>
            </a: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[] of maximum size </a:t>
            </a:r>
            <a:r>
              <a:rPr b="1" lang="en-US" sz="1900">
                <a:solidFill>
                  <a:schemeClr val="dk1"/>
                </a:solidFill>
              </a:rPr>
              <a:t>k</a:t>
            </a: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1" marL="9144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AutoNum type="alphaLcPeriod"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andomly select an item o</a:t>
            </a: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 by one from </a:t>
            </a:r>
            <a:r>
              <a:rPr b="1" lang="en-US" sz="1900">
                <a:solidFill>
                  <a:schemeClr val="dk1"/>
                </a:solidFill>
              </a:rPr>
              <a:t>stream</a:t>
            </a: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[0..n-1]. 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1" marL="9144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AutoNum type="alphaLcPeriod"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the selected item is not previously selected, then put it in reservoir[]. 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1" marL="9144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AutoNum type="alphaLcPeriod"/>
            </a:pPr>
            <a:r>
              <a:rPr lang="en-US" sz="1900">
                <a:solidFill>
                  <a:schemeClr val="dk1"/>
                </a:solidFill>
              </a:rPr>
              <a:t>continue steps c &amp; d until </a:t>
            </a:r>
            <a:r>
              <a:rPr b="1" lang="en-US" sz="1900">
                <a:solidFill>
                  <a:schemeClr val="dk1"/>
                </a:solidFill>
              </a:rPr>
              <a:t>reservoir[] </a:t>
            </a:r>
            <a:r>
              <a:rPr lang="en-US" sz="1900">
                <a:solidFill>
                  <a:schemeClr val="dk1"/>
                </a:solidFill>
              </a:rPr>
              <a:t>array full.</a:t>
            </a:r>
            <a:endParaRPr sz="20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g226974b3126_0_320"/>
          <p:cNvSpPr txBox="1"/>
          <p:nvPr/>
        </p:nvSpPr>
        <p:spPr>
          <a:xfrm>
            <a:off x="660175" y="157650"/>
            <a:ext cx="3823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Calibri"/>
                <a:ea typeface="Calibri"/>
                <a:cs typeface="Calibri"/>
                <a:sym typeface="Calibri"/>
              </a:rPr>
              <a:t>Reservoir Sampling Method</a:t>
            </a:r>
            <a:endParaRPr b="1" sz="2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227a03650a9_0_0"/>
          <p:cNvSpPr txBox="1"/>
          <p:nvPr>
            <p:ph type="title"/>
          </p:nvPr>
        </p:nvSpPr>
        <p:spPr>
          <a:xfrm>
            <a:off x="1271397" y="177889"/>
            <a:ext cx="66012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g227a03650a9_0_0"/>
          <p:cNvSpPr txBox="1"/>
          <p:nvPr>
            <p:ph idx="1" type="body"/>
          </p:nvPr>
        </p:nvSpPr>
        <p:spPr>
          <a:xfrm>
            <a:off x="841044" y="1213676"/>
            <a:ext cx="7684800" cy="5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g227a03650a9_0_0"/>
          <p:cNvSpPr txBox="1"/>
          <p:nvPr/>
        </p:nvSpPr>
        <p:spPr>
          <a:xfrm>
            <a:off x="553800" y="955825"/>
            <a:ext cx="8259300" cy="367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556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●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In sliding window model of sampling only the most “recent” elements remain active and the rest are discarded.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●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There are two equally important types of the sliding windows model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34925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Font typeface="Calibri"/>
              <a:buChar char="○"/>
            </a:pPr>
            <a:r>
              <a:rPr b="1" lang="en-US" sz="1900">
                <a:latin typeface="Calibri"/>
                <a:ea typeface="Calibri"/>
                <a:cs typeface="Calibri"/>
                <a:sym typeface="Calibri"/>
              </a:rPr>
              <a:t>Windows with fixed size</a:t>
            </a:r>
            <a:r>
              <a:rPr lang="en-US" sz="1900">
                <a:latin typeface="Calibri"/>
                <a:ea typeface="Calibri"/>
                <a:cs typeface="Calibri"/>
                <a:sym typeface="Calibri"/>
              </a:rPr>
              <a:t> (e.g., where items arrive one at a time, and only the most recent n items remain active for some fixed parameter n), </a:t>
            </a:r>
            <a:endParaRPr sz="1900">
              <a:latin typeface="Calibri"/>
              <a:ea typeface="Calibri"/>
              <a:cs typeface="Calibri"/>
              <a:sym typeface="Calibri"/>
            </a:endParaRPr>
          </a:p>
          <a:p>
            <a:pPr indent="-34925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Font typeface="Calibri"/>
              <a:buChar char="○"/>
            </a:pPr>
            <a:r>
              <a:rPr b="1" lang="en-US" sz="1900">
                <a:latin typeface="Calibri"/>
                <a:ea typeface="Calibri"/>
                <a:cs typeface="Calibri"/>
                <a:sym typeface="Calibri"/>
              </a:rPr>
              <a:t>Timestamp-based windows</a:t>
            </a:r>
            <a:r>
              <a:rPr lang="en-US" sz="1900">
                <a:latin typeface="Calibri"/>
                <a:ea typeface="Calibri"/>
                <a:cs typeface="Calibri"/>
                <a:sym typeface="Calibri"/>
              </a:rPr>
              <a:t> (e.g., where many items can arrive in “bursts” at a single step and where only items from the last t steps remain active, again for some fixed parameter t).</a:t>
            </a:r>
            <a:endParaRPr sz="1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g227a03650a9_0_0"/>
          <p:cNvSpPr txBox="1"/>
          <p:nvPr/>
        </p:nvSpPr>
        <p:spPr>
          <a:xfrm>
            <a:off x="719275" y="300900"/>
            <a:ext cx="6899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Sliding window Sampling Method</a:t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7"/>
          <p:cNvSpPr txBox="1"/>
          <p:nvPr>
            <p:ph type="title"/>
          </p:nvPr>
        </p:nvSpPr>
        <p:spPr>
          <a:xfrm>
            <a:off x="398299" y="260972"/>
            <a:ext cx="4121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Filtering Streams </a:t>
            </a:r>
            <a:endParaRPr b="1" sz="1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7"/>
          <p:cNvSpPr txBox="1"/>
          <p:nvPr/>
        </p:nvSpPr>
        <p:spPr>
          <a:xfrm>
            <a:off x="772300" y="781850"/>
            <a:ext cx="8046300" cy="37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3325">
            <a:spAutoFit/>
          </a:bodyPr>
          <a:lstStyle/>
          <a:p>
            <a:pPr indent="-346075" lvl="0" marL="457200" marR="0" rtl="0" algn="just">
              <a:lnSpc>
                <a:spcPct val="150000"/>
              </a:lnSpc>
              <a:spcBef>
                <a:spcPts val="325"/>
              </a:spcBef>
              <a:spcAft>
                <a:spcPts val="0"/>
              </a:spcAft>
              <a:buClr>
                <a:srgbClr val="02052D"/>
              </a:buClr>
              <a:buSzPts val="1850"/>
              <a:buFont typeface="Calibri"/>
              <a:buChar char="●"/>
            </a:pPr>
            <a:r>
              <a:rPr lang="en-US" sz="1850">
                <a:solidFill>
                  <a:srgbClr val="02052D"/>
                </a:solidFill>
                <a:latin typeface="Calibri"/>
                <a:ea typeface="Calibri"/>
                <a:cs typeface="Calibri"/>
                <a:sym typeface="Calibri"/>
              </a:rPr>
              <a:t>Data filtering is the process of choosing a smaller part of your data set and using that subset for viewing or analysis.</a:t>
            </a:r>
            <a:endParaRPr sz="1850">
              <a:solidFill>
                <a:srgbClr val="0205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6075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2052D"/>
              </a:buClr>
              <a:buSzPts val="1850"/>
              <a:buFont typeface="Calibri"/>
              <a:buChar char="●"/>
            </a:pPr>
            <a:r>
              <a:rPr lang="en-US" sz="1850">
                <a:solidFill>
                  <a:srgbClr val="02052D"/>
                </a:solidFill>
                <a:latin typeface="Calibri"/>
                <a:ea typeface="Calibri"/>
                <a:cs typeface="Calibri"/>
                <a:sym typeface="Calibri"/>
              </a:rPr>
              <a:t>Filtering may be used to:</a:t>
            </a:r>
            <a:endParaRPr sz="1850">
              <a:solidFill>
                <a:srgbClr val="0205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6075" lvl="1" marL="9144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2052D"/>
              </a:buClr>
              <a:buSzPts val="1850"/>
              <a:buFont typeface="Calibri"/>
              <a:buChar char="○"/>
            </a:pPr>
            <a:r>
              <a:rPr lang="en-US" sz="1850">
                <a:solidFill>
                  <a:srgbClr val="02052D"/>
                </a:solidFill>
                <a:latin typeface="Calibri"/>
                <a:ea typeface="Calibri"/>
                <a:cs typeface="Calibri"/>
                <a:sym typeface="Calibri"/>
              </a:rPr>
              <a:t>Look at results for a particular period of time.</a:t>
            </a:r>
            <a:endParaRPr sz="1850">
              <a:solidFill>
                <a:srgbClr val="0205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6075" lvl="1" marL="9144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2052D"/>
              </a:buClr>
              <a:buSzPts val="1850"/>
              <a:buFont typeface="Calibri"/>
              <a:buChar char="○"/>
            </a:pPr>
            <a:r>
              <a:rPr lang="en-US" sz="1850">
                <a:solidFill>
                  <a:srgbClr val="02052D"/>
                </a:solidFill>
                <a:latin typeface="Calibri"/>
                <a:ea typeface="Calibri"/>
                <a:cs typeface="Calibri"/>
                <a:sym typeface="Calibri"/>
              </a:rPr>
              <a:t>Calculate results for particular groups of interest.</a:t>
            </a:r>
            <a:endParaRPr sz="1850">
              <a:solidFill>
                <a:srgbClr val="0205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6075" lvl="1" marL="9144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2052D"/>
              </a:buClr>
              <a:buSzPts val="1850"/>
              <a:buFont typeface="Calibri"/>
              <a:buChar char="○"/>
            </a:pPr>
            <a:r>
              <a:rPr lang="en-US" sz="1850">
                <a:solidFill>
                  <a:srgbClr val="02052D"/>
                </a:solidFill>
                <a:latin typeface="Calibri"/>
                <a:ea typeface="Calibri"/>
                <a:cs typeface="Calibri"/>
                <a:sym typeface="Calibri"/>
              </a:rPr>
              <a:t>Exclude erroneous or "bad" observations from an analysis.</a:t>
            </a:r>
            <a:endParaRPr sz="1850">
              <a:solidFill>
                <a:srgbClr val="0205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6075" lvl="1" marL="9144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2052D"/>
              </a:buClr>
              <a:buSzPts val="1850"/>
              <a:buFont typeface="Calibri"/>
              <a:buChar char="○"/>
            </a:pPr>
            <a:r>
              <a:rPr lang="en-US" sz="1850">
                <a:solidFill>
                  <a:srgbClr val="02052D"/>
                </a:solidFill>
                <a:latin typeface="Calibri"/>
                <a:ea typeface="Calibri"/>
                <a:cs typeface="Calibri"/>
                <a:sym typeface="Calibri"/>
              </a:rPr>
              <a:t>Train and validate statistical models.</a:t>
            </a:r>
            <a:endParaRPr sz="1850">
              <a:solidFill>
                <a:srgbClr val="0205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6075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2052D"/>
              </a:buClr>
              <a:buSzPts val="1850"/>
              <a:buFont typeface="Calibri"/>
              <a:buChar char="●"/>
            </a:pPr>
            <a:r>
              <a:rPr lang="en-US" sz="1850">
                <a:solidFill>
                  <a:srgbClr val="02052D"/>
                </a:solidFill>
                <a:latin typeface="Calibri"/>
                <a:ea typeface="Calibri"/>
                <a:cs typeface="Calibri"/>
                <a:sym typeface="Calibri"/>
              </a:rPr>
              <a:t>Filtering requires to specify a rule or logic to identify the cases need to be included in our analysis. </a:t>
            </a:r>
            <a:endParaRPr sz="1850">
              <a:solidFill>
                <a:srgbClr val="02052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22a20d60717_0_13"/>
          <p:cNvSpPr txBox="1"/>
          <p:nvPr>
            <p:ph idx="1" type="body"/>
          </p:nvPr>
        </p:nvSpPr>
        <p:spPr>
          <a:xfrm>
            <a:off x="714625" y="1015275"/>
            <a:ext cx="7975500" cy="255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-352425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SzPts val="1950"/>
              <a:buFont typeface="Calibri"/>
              <a:buChar char="●"/>
            </a:pPr>
            <a:r>
              <a:rPr lang="en-US" sz="1950">
                <a:solidFill>
                  <a:srgbClr val="161616"/>
                </a:solidFill>
                <a:highlight>
                  <a:srgbClr val="FFFFFF"/>
                </a:highlight>
              </a:rPr>
              <a:t>The stream processing application needs to filter the stock transaction data for IBM transaction records. </a:t>
            </a:r>
            <a:endParaRPr sz="1950">
              <a:solidFill>
                <a:srgbClr val="161616"/>
              </a:solidFill>
              <a:highlight>
                <a:srgbClr val="FFFFFF"/>
              </a:highlight>
            </a:endParaRPr>
          </a:p>
          <a:p>
            <a:pPr indent="-352425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SzPts val="1950"/>
              <a:buFont typeface="Calibri"/>
              <a:buChar char="●"/>
            </a:pPr>
            <a:r>
              <a:rPr lang="en-US" sz="1950">
                <a:solidFill>
                  <a:srgbClr val="161616"/>
                </a:solidFill>
                <a:highlight>
                  <a:srgbClr val="FFFFFF"/>
                </a:highlight>
              </a:rPr>
              <a:t>We need to use the Filter operator to extract relevant information from potentially large volumes of data. </a:t>
            </a:r>
            <a:endParaRPr sz="1950">
              <a:solidFill>
                <a:srgbClr val="161616"/>
              </a:solidFill>
              <a:highlight>
                <a:srgbClr val="FFFFFF"/>
              </a:highlight>
            </a:endParaRPr>
          </a:p>
          <a:p>
            <a:pPr indent="-352425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SzPts val="1950"/>
              <a:buFont typeface="Calibri"/>
              <a:buChar char="●"/>
            </a:pPr>
            <a:r>
              <a:rPr lang="en-US" sz="1950">
                <a:solidFill>
                  <a:srgbClr val="161616"/>
                </a:solidFill>
                <a:highlight>
                  <a:srgbClr val="FFFFFF"/>
                </a:highlight>
              </a:rPr>
              <a:t>As shown below , the input for the Filter operator is all the transactions, the output is only the IBM transactions.</a:t>
            </a:r>
            <a:endParaRPr sz="1950">
              <a:solidFill>
                <a:srgbClr val="161616"/>
              </a:solidFill>
              <a:highlight>
                <a:srgbClr val="FFFFFF"/>
              </a:highlight>
            </a:endParaRPr>
          </a:p>
        </p:txBody>
      </p:sp>
      <p:pic>
        <p:nvPicPr>
          <p:cNvPr id="305" name="Google Shape;305;g22a20d60717_0_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42600" y="3971150"/>
            <a:ext cx="5858775" cy="701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22a20d60717_0_7"/>
          <p:cNvSpPr txBox="1"/>
          <p:nvPr>
            <p:ph type="title"/>
          </p:nvPr>
        </p:nvSpPr>
        <p:spPr>
          <a:xfrm>
            <a:off x="484424" y="805222"/>
            <a:ext cx="4121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000000"/>
                </a:solidFill>
              </a:rPr>
              <a:t>Filtering Streams - Examples</a:t>
            </a:r>
            <a:endParaRPr b="1" sz="1900"/>
          </a:p>
        </p:txBody>
      </p:sp>
      <p:sp>
        <p:nvSpPr>
          <p:cNvPr id="311" name="Google Shape;311;g22a20d60717_0_7"/>
          <p:cNvSpPr txBox="1"/>
          <p:nvPr/>
        </p:nvSpPr>
        <p:spPr>
          <a:xfrm>
            <a:off x="766725" y="1598708"/>
            <a:ext cx="43626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3325">
            <a:spAutoFit/>
          </a:bodyPr>
          <a:lstStyle/>
          <a:p>
            <a:pPr indent="-413383" lvl="0" marL="4318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2052D"/>
              </a:buClr>
              <a:buSzPts val="1700"/>
              <a:buFont typeface="Arial"/>
              <a:buAutoNum type="arabicPeriod"/>
            </a:pPr>
            <a:r>
              <a:rPr lang="en-US" sz="1700">
                <a:solidFill>
                  <a:srgbClr val="02052D"/>
                </a:solidFill>
                <a:latin typeface="Arial"/>
                <a:ea typeface="Arial"/>
                <a:cs typeface="Arial"/>
                <a:sym typeface="Arial"/>
              </a:rPr>
              <a:t>Web crawling - Based on user interest.</a:t>
            </a:r>
            <a:endParaRPr sz="1700">
              <a:solidFill>
                <a:srgbClr val="02052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3383" lvl="0" marL="431800" marR="0" rtl="0" algn="l">
              <a:lnSpc>
                <a:spcPct val="150000"/>
              </a:lnSpc>
              <a:spcBef>
                <a:spcPts val="325"/>
              </a:spcBef>
              <a:spcAft>
                <a:spcPts val="0"/>
              </a:spcAft>
              <a:buClr>
                <a:srgbClr val="02052D"/>
              </a:buClr>
              <a:buSzPts val="1700"/>
              <a:buFont typeface="Arial"/>
              <a:buAutoNum type="arabicPeriod"/>
            </a:pPr>
            <a:r>
              <a:rPr lang="en-US" sz="1700">
                <a:solidFill>
                  <a:srgbClr val="02052D"/>
                </a:solidFill>
                <a:latin typeface="Arial"/>
                <a:ea typeface="Arial"/>
                <a:cs typeface="Arial"/>
                <a:sym typeface="Arial"/>
              </a:rPr>
              <a:t>Spam Mail settings.</a:t>
            </a:r>
            <a:endParaRPr sz="1700">
              <a:solidFill>
                <a:srgbClr val="02052D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26bff9f8a4a_0_0"/>
          <p:cNvSpPr txBox="1"/>
          <p:nvPr>
            <p:ph type="title"/>
          </p:nvPr>
        </p:nvSpPr>
        <p:spPr>
          <a:xfrm>
            <a:off x="388351" y="222300"/>
            <a:ext cx="2800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Bloom Filter</a:t>
            </a:r>
            <a:endParaRPr b="1" sz="23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g26bff9f8a4a_0_0"/>
          <p:cNvSpPr txBox="1"/>
          <p:nvPr/>
        </p:nvSpPr>
        <p:spPr>
          <a:xfrm>
            <a:off x="388350" y="773551"/>
            <a:ext cx="8367300" cy="38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7925">
            <a:spAutoFit/>
          </a:bodyPr>
          <a:lstStyle/>
          <a:p>
            <a:pPr indent="-336550" lvl="0" marL="457200" marR="508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Char char="●"/>
            </a:pP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Bloom filter is a probabilistic data structure used </a:t>
            </a:r>
            <a:r>
              <a:rPr b="1"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test whether an element is a member of a set or not. </a:t>
            </a:r>
            <a:endParaRPr b="1"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marR="508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Char char="●"/>
            </a:pP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provides a space-efficient way to represent a large set of elements and is particularly useful in scenarios where memory usage is a concern and false positives are acceptable.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marR="508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Char char="●"/>
            </a:pP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example, 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1" marL="914400" marR="508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Char char="○"/>
            </a:pP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checking availability of username is set membership problem, where the  set is the list of all registered username.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1" marL="914400" marR="508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Char char="○"/>
            </a:pP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might tell that given username is already taken but actually it’s not.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marR="508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Char char="●"/>
            </a:pP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Bloom filters </a:t>
            </a:r>
            <a:r>
              <a:rPr b="1"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never generate false negative result</a:t>
            </a: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i.e., telling you that a username doesn’t exist when it actually exists.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22a20d60717_0_0"/>
          <p:cNvSpPr txBox="1"/>
          <p:nvPr>
            <p:ph type="title"/>
          </p:nvPr>
        </p:nvSpPr>
        <p:spPr>
          <a:xfrm>
            <a:off x="384725" y="505250"/>
            <a:ext cx="2500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rgbClr val="000000"/>
                </a:solidFill>
              </a:rPr>
              <a:t>Bloom Filter</a:t>
            </a:r>
            <a:endParaRPr b="1" sz="2300"/>
          </a:p>
        </p:txBody>
      </p:sp>
      <p:sp>
        <p:nvSpPr>
          <p:cNvPr id="323" name="Google Shape;323;g22a20d60717_0_0"/>
          <p:cNvSpPr txBox="1"/>
          <p:nvPr/>
        </p:nvSpPr>
        <p:spPr>
          <a:xfrm>
            <a:off x="384725" y="1436628"/>
            <a:ext cx="8658300" cy="18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7925">
            <a:spAutoFit/>
          </a:bodyPr>
          <a:lstStyle/>
          <a:p>
            <a:pPr indent="0" lvl="0" marL="12700" marR="0" rtl="0" algn="l">
              <a:lnSpc>
                <a:spcPct val="150000"/>
              </a:lnSpc>
              <a:spcBef>
                <a:spcPts val="1120"/>
              </a:spcBef>
              <a:spcAft>
                <a:spcPts val="0"/>
              </a:spcAft>
              <a:buNone/>
            </a:pPr>
            <a:r>
              <a:rPr lang="en-US" sz="1550">
                <a:solidFill>
                  <a:srgbClr val="161616"/>
                </a:solidFill>
              </a:rPr>
              <a:t>The bloom filter consists of</a:t>
            </a:r>
            <a:endParaRPr sz="1550">
              <a:solidFill>
                <a:srgbClr val="161616"/>
              </a:solidFill>
            </a:endParaRPr>
          </a:p>
          <a:p>
            <a:pPr indent="-388619" lvl="0" marL="927100" marR="0" rtl="0" algn="l">
              <a:lnSpc>
                <a:spcPct val="150000"/>
              </a:lnSpc>
              <a:spcBef>
                <a:spcPts val="1165"/>
              </a:spcBef>
              <a:spcAft>
                <a:spcPts val="0"/>
              </a:spcAft>
              <a:buClr>
                <a:srgbClr val="161616"/>
              </a:buClr>
              <a:buSzPts val="1550"/>
              <a:buAutoNum type="arabicPeriod"/>
            </a:pPr>
            <a:r>
              <a:rPr lang="en-US" sz="1550">
                <a:solidFill>
                  <a:srgbClr val="161616"/>
                </a:solidFill>
              </a:rPr>
              <a:t>An array of N bits initially all 0s</a:t>
            </a:r>
            <a:endParaRPr sz="1550">
              <a:solidFill>
                <a:srgbClr val="161616"/>
              </a:solidFill>
            </a:endParaRPr>
          </a:p>
          <a:p>
            <a:pPr indent="-388619" lvl="0" marL="9271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SzPts val="1550"/>
              <a:buAutoNum type="arabicPeriod"/>
            </a:pPr>
            <a:r>
              <a:rPr lang="en-US" sz="1550">
                <a:solidFill>
                  <a:srgbClr val="161616"/>
                </a:solidFill>
              </a:rPr>
              <a:t>Collection of hash functions h1,h2,h3… Each maps “key” values to N buckets.</a:t>
            </a:r>
            <a:endParaRPr sz="1550">
              <a:solidFill>
                <a:srgbClr val="161616"/>
              </a:solidFill>
            </a:endParaRPr>
          </a:p>
          <a:p>
            <a:pPr indent="-388619" lvl="0" marL="9271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SzPts val="1550"/>
              <a:buAutoNum type="arabicPeriod"/>
            </a:pPr>
            <a:r>
              <a:rPr lang="en-US" sz="1550">
                <a:solidFill>
                  <a:srgbClr val="161616"/>
                </a:solidFill>
              </a:rPr>
              <a:t>A set S of M key values.</a:t>
            </a:r>
            <a:endParaRPr sz="1550">
              <a:solidFill>
                <a:srgbClr val="161616"/>
              </a:solidFill>
            </a:endParaRPr>
          </a:p>
          <a:p>
            <a:pPr indent="0" lvl="0" marL="12700" marR="1454785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50">
              <a:solidFill>
                <a:srgbClr val="161616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9"/>
          <p:cNvSpPr txBox="1"/>
          <p:nvPr/>
        </p:nvSpPr>
        <p:spPr>
          <a:xfrm>
            <a:off x="384724" y="550823"/>
            <a:ext cx="8230800" cy="26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700">
            <a:noAutofit/>
          </a:bodyPr>
          <a:lstStyle/>
          <a:p>
            <a:pPr indent="-323850" lvl="0" marL="457200" marR="128904" rtl="0" algn="just">
              <a:lnSpc>
                <a:spcPct val="150600"/>
              </a:lnSpc>
              <a:spcBef>
                <a:spcPts val="0"/>
              </a:spcBef>
              <a:spcAft>
                <a:spcPts val="0"/>
              </a:spcAft>
              <a:buClr>
                <a:srgbClr val="0D0E33"/>
              </a:buClr>
              <a:buSzPts val="1500"/>
              <a:buChar char="●"/>
            </a:pPr>
            <a:r>
              <a:rPr lang="en-US" sz="1500">
                <a:solidFill>
                  <a:srgbClr val="0D0E33"/>
                </a:solidFill>
                <a:latin typeface="Arial"/>
                <a:ea typeface="Arial"/>
                <a:cs typeface="Arial"/>
                <a:sym typeface="Arial"/>
              </a:rPr>
              <a:t>Suppose we use k hash functions, h1, h2, ..., hk</a:t>
            </a:r>
            <a:r>
              <a:rPr lang="en-US" sz="1500">
                <a:solidFill>
                  <a:srgbClr val="0D0E33"/>
                </a:solidFill>
              </a:rPr>
              <a:t>.</a:t>
            </a:r>
            <a:endParaRPr sz="1500">
              <a:solidFill>
                <a:srgbClr val="0D0E33"/>
              </a:solidFill>
            </a:endParaRPr>
          </a:p>
          <a:p>
            <a:pPr indent="-323850" lvl="0" marL="457200" marR="128904" rtl="0" algn="just">
              <a:lnSpc>
                <a:spcPct val="150600"/>
              </a:lnSpc>
              <a:spcBef>
                <a:spcPts val="0"/>
              </a:spcBef>
              <a:spcAft>
                <a:spcPts val="0"/>
              </a:spcAft>
              <a:buClr>
                <a:srgbClr val="0D0E33"/>
              </a:buClr>
              <a:buSzPts val="1500"/>
              <a:buChar char="●"/>
            </a:pPr>
            <a:r>
              <a:rPr lang="en-US" sz="1500">
                <a:solidFill>
                  <a:srgbClr val="0D0E33"/>
                </a:solidFill>
              </a:rPr>
              <a:t>P</a:t>
            </a:r>
            <a:r>
              <a:rPr lang="en-US" sz="1500">
                <a:solidFill>
                  <a:srgbClr val="0D0E33"/>
                </a:solidFill>
                <a:latin typeface="Arial"/>
                <a:ea typeface="Arial"/>
                <a:cs typeface="Arial"/>
                <a:sym typeface="Arial"/>
              </a:rPr>
              <a:t>ass two strings through these  hash functions, and compute their hashes. </a:t>
            </a:r>
            <a:endParaRPr sz="1500">
              <a:solidFill>
                <a:srgbClr val="0D0E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marR="128904" rtl="0" algn="just">
              <a:lnSpc>
                <a:spcPct val="150600"/>
              </a:lnSpc>
              <a:spcBef>
                <a:spcPts val="0"/>
              </a:spcBef>
              <a:spcAft>
                <a:spcPts val="0"/>
              </a:spcAft>
              <a:buClr>
                <a:srgbClr val="0D0E33"/>
              </a:buClr>
              <a:buSzPts val="1500"/>
              <a:buFont typeface="Arial"/>
              <a:buChar char="●"/>
            </a:pPr>
            <a:r>
              <a:rPr lang="en-US" sz="1500">
                <a:solidFill>
                  <a:srgbClr val="0D0E33"/>
                </a:solidFill>
                <a:latin typeface="Arial"/>
                <a:ea typeface="Arial"/>
                <a:cs typeface="Arial"/>
                <a:sym typeface="Arial"/>
              </a:rPr>
              <a:t>If all the hashes are identical for both  strings, there is a very high probability that both strings are the same. </a:t>
            </a:r>
            <a:endParaRPr sz="1500">
              <a:solidFill>
                <a:srgbClr val="0D0E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marR="128904" rtl="0" algn="just">
              <a:lnSpc>
                <a:spcPct val="150600"/>
              </a:lnSpc>
              <a:spcBef>
                <a:spcPts val="0"/>
              </a:spcBef>
              <a:spcAft>
                <a:spcPts val="0"/>
              </a:spcAft>
              <a:buClr>
                <a:srgbClr val="0D0E33"/>
              </a:buClr>
              <a:buSzPts val="1500"/>
              <a:buFont typeface="Arial"/>
              <a:buChar char="●"/>
            </a:pPr>
            <a:r>
              <a:rPr lang="en-US" sz="1500">
                <a:solidFill>
                  <a:srgbClr val="0D0E33"/>
                </a:solidFill>
                <a:latin typeface="Arial"/>
                <a:ea typeface="Arial"/>
                <a:cs typeface="Arial"/>
                <a:sym typeface="Arial"/>
              </a:rPr>
              <a:t>On the  other hand, even if one hash does not match, we can say that the strings are  different.</a:t>
            </a:r>
            <a:endParaRPr sz="1500">
              <a:solidFill>
                <a:srgbClr val="0D0E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marR="5080" rtl="0" algn="just">
              <a:lnSpc>
                <a:spcPct val="150600"/>
              </a:lnSpc>
              <a:spcBef>
                <a:spcPts val="0"/>
              </a:spcBef>
              <a:spcAft>
                <a:spcPts val="0"/>
              </a:spcAft>
              <a:buClr>
                <a:srgbClr val="0D0E33"/>
              </a:buClr>
              <a:buSzPts val="1500"/>
              <a:buChar char="●"/>
            </a:pPr>
            <a:r>
              <a:rPr lang="en-US" sz="1500">
                <a:solidFill>
                  <a:srgbClr val="0D0E33"/>
                </a:solidFill>
                <a:latin typeface="Arial"/>
                <a:ea typeface="Arial"/>
                <a:cs typeface="Arial"/>
                <a:sym typeface="Arial"/>
              </a:rPr>
              <a:t>Bloom filter is an array that stores 0s and 1s</a:t>
            </a:r>
            <a:r>
              <a:rPr lang="en-US" sz="1500">
                <a:solidFill>
                  <a:srgbClr val="0D0E33"/>
                </a:solidFill>
              </a:rPr>
              <a:t>,e</a:t>
            </a:r>
            <a:r>
              <a:rPr lang="en-US" sz="1500">
                <a:solidFill>
                  <a:srgbClr val="0D0E33"/>
                </a:solidFill>
                <a:latin typeface="Arial"/>
                <a:ea typeface="Arial"/>
                <a:cs typeface="Arial"/>
                <a:sym typeface="Arial"/>
              </a:rPr>
              <a:t>ach cell  represents a bit</a:t>
            </a:r>
            <a:r>
              <a:rPr lang="en-US" sz="1500">
                <a:solidFill>
                  <a:srgbClr val="0D0E33"/>
                </a:solidFill>
              </a:rPr>
              <a:t>,t</a:t>
            </a:r>
            <a:r>
              <a:rPr lang="en-US" sz="1500">
                <a:solidFill>
                  <a:srgbClr val="0D0E33"/>
                </a:solidFill>
                <a:latin typeface="Arial"/>
                <a:ea typeface="Arial"/>
                <a:cs typeface="Arial"/>
                <a:sym typeface="Arial"/>
              </a:rPr>
              <a:t>he number below the bit is its index for a bloom filter of size 10.</a:t>
            </a:r>
            <a:endParaRPr sz="1500">
              <a:solidFill>
                <a:srgbClr val="0D0E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19"/>
          <p:cNvSpPr/>
          <p:nvPr/>
        </p:nvSpPr>
        <p:spPr>
          <a:xfrm>
            <a:off x="1890308" y="3490174"/>
            <a:ext cx="5029200" cy="1143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0"/>
          <p:cNvSpPr txBox="1"/>
          <p:nvPr>
            <p:ph type="title"/>
          </p:nvPr>
        </p:nvSpPr>
        <p:spPr>
          <a:xfrm>
            <a:off x="384724" y="1628247"/>
            <a:ext cx="8358600" cy="14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2375">
            <a:spAutoFit/>
          </a:bodyPr>
          <a:lstStyle/>
          <a:p>
            <a:pPr indent="-317500" lvl="0" marL="457200" marR="5080" rtl="0" algn="just">
              <a:lnSpc>
                <a:spcPct val="116470"/>
              </a:lnSpc>
              <a:spcBef>
                <a:spcPts val="0"/>
              </a:spcBef>
              <a:spcAft>
                <a:spcPts val="0"/>
              </a:spcAft>
              <a:buClr>
                <a:srgbClr val="0D0E33"/>
              </a:buClr>
              <a:buSzPts val="1400"/>
              <a:buChar char="●"/>
            </a:pPr>
            <a:r>
              <a:rPr lang="en-US" sz="1550">
                <a:solidFill>
                  <a:srgbClr val="0D0E33"/>
                </a:solidFill>
              </a:rPr>
              <a:t>I</a:t>
            </a:r>
            <a:r>
              <a:rPr lang="en-US" sz="1650">
                <a:solidFill>
                  <a:srgbClr val="0D0E33"/>
                </a:solidFill>
              </a:rPr>
              <a:t>n order to add an element, we need to pass it through k hash functions. </a:t>
            </a:r>
            <a:endParaRPr sz="1650">
              <a:solidFill>
                <a:srgbClr val="0D0E33"/>
              </a:solidFill>
            </a:endParaRPr>
          </a:p>
          <a:p>
            <a:pPr indent="-311150" lvl="0" marL="457200" marR="5080" rtl="0" algn="just">
              <a:lnSpc>
                <a:spcPct val="116470"/>
              </a:lnSpc>
              <a:spcBef>
                <a:spcPts val="0"/>
              </a:spcBef>
              <a:spcAft>
                <a:spcPts val="0"/>
              </a:spcAft>
              <a:buClr>
                <a:srgbClr val="0D0E33"/>
              </a:buClr>
              <a:buSzPts val="1300"/>
              <a:buChar char="●"/>
            </a:pPr>
            <a:r>
              <a:rPr lang="en-US" sz="1650">
                <a:solidFill>
                  <a:srgbClr val="0D0E33"/>
                </a:solidFill>
              </a:rPr>
              <a:t>Bits are set  at the index of the hashes in array. </a:t>
            </a:r>
            <a:endParaRPr sz="1650">
              <a:solidFill>
                <a:srgbClr val="0D0E33"/>
              </a:solidFill>
            </a:endParaRPr>
          </a:p>
          <a:p>
            <a:pPr indent="-311150" lvl="0" marL="457200" marR="5080" rtl="0" algn="just">
              <a:lnSpc>
                <a:spcPct val="116470"/>
              </a:lnSpc>
              <a:spcBef>
                <a:spcPts val="0"/>
              </a:spcBef>
              <a:spcAft>
                <a:spcPts val="0"/>
              </a:spcAft>
              <a:buClr>
                <a:srgbClr val="0D0E33"/>
              </a:buClr>
              <a:buSzPts val="1300"/>
              <a:buChar char="●"/>
            </a:pPr>
            <a:r>
              <a:rPr lang="en-US" sz="1650">
                <a:solidFill>
                  <a:srgbClr val="0D0E33"/>
                </a:solidFill>
              </a:rPr>
              <a:t>For example, </a:t>
            </a:r>
            <a:endParaRPr sz="1650">
              <a:solidFill>
                <a:srgbClr val="0D0E33"/>
              </a:solidFill>
            </a:endParaRPr>
          </a:p>
          <a:p>
            <a:pPr indent="-311150" lvl="1" marL="914400" marR="5080" rtl="0" algn="just">
              <a:lnSpc>
                <a:spcPct val="116470"/>
              </a:lnSpc>
              <a:spcBef>
                <a:spcPts val="0"/>
              </a:spcBef>
              <a:spcAft>
                <a:spcPts val="0"/>
              </a:spcAft>
              <a:buClr>
                <a:srgbClr val="0D0E33"/>
              </a:buClr>
              <a:buSzPts val="1300"/>
              <a:buChar char="○"/>
            </a:pPr>
            <a:r>
              <a:rPr lang="en-US" sz="1700">
                <a:solidFill>
                  <a:srgbClr val="0D0E33"/>
                </a:solidFill>
              </a:rPr>
              <a:t>we want to add the word “</a:t>
            </a:r>
            <a:r>
              <a:rPr lang="en-US" sz="1700">
                <a:solidFill>
                  <a:srgbClr val="FF0000"/>
                </a:solidFill>
              </a:rPr>
              <a:t>coding</a:t>
            </a:r>
            <a:r>
              <a:rPr lang="en-US" sz="1700">
                <a:solidFill>
                  <a:srgbClr val="0D0E33"/>
                </a:solidFill>
              </a:rPr>
              <a:t>”.  </a:t>
            </a:r>
            <a:endParaRPr sz="1700">
              <a:solidFill>
                <a:srgbClr val="0D0E33"/>
              </a:solidFill>
            </a:endParaRPr>
          </a:p>
          <a:p>
            <a:pPr indent="-311150" lvl="1" marL="914400" marR="5080" rtl="0" algn="just">
              <a:lnSpc>
                <a:spcPct val="116470"/>
              </a:lnSpc>
              <a:spcBef>
                <a:spcPts val="0"/>
              </a:spcBef>
              <a:spcAft>
                <a:spcPts val="0"/>
              </a:spcAft>
              <a:buClr>
                <a:srgbClr val="0D0E33"/>
              </a:buClr>
              <a:buSzPts val="1300"/>
              <a:buChar char="○"/>
            </a:pPr>
            <a:r>
              <a:rPr lang="en-US" sz="1700">
                <a:solidFill>
                  <a:srgbClr val="0D0E33"/>
                </a:solidFill>
              </a:rPr>
              <a:t>After passing it through three hash functions, we get the following results.</a:t>
            </a:r>
            <a:endParaRPr sz="1550">
              <a:solidFill>
                <a:srgbClr val="0D0E33"/>
              </a:solidFill>
            </a:endParaRPr>
          </a:p>
        </p:txBody>
      </p:sp>
      <p:sp>
        <p:nvSpPr>
          <p:cNvPr id="335" name="Google Shape;335;p20"/>
          <p:cNvSpPr txBox="1"/>
          <p:nvPr/>
        </p:nvSpPr>
        <p:spPr>
          <a:xfrm>
            <a:off x="1266949" y="3334188"/>
            <a:ext cx="1835700" cy="11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04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0D0E33"/>
                </a:solidFill>
                <a:latin typeface="Arial"/>
                <a:ea typeface="Arial"/>
                <a:cs typeface="Arial"/>
                <a:sym typeface="Arial"/>
              </a:rPr>
              <a:t>h1(“coding”) = 125</a:t>
            </a:r>
            <a:endParaRPr sz="1650">
              <a:solidFill>
                <a:srgbClr val="0D0E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085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0D0E33"/>
                </a:solidFill>
                <a:latin typeface="Arial"/>
                <a:ea typeface="Arial"/>
                <a:cs typeface="Arial"/>
                <a:sym typeface="Arial"/>
              </a:rPr>
              <a:t>h2(“coding”) = 67</a:t>
            </a:r>
            <a:endParaRPr sz="1650">
              <a:solidFill>
                <a:srgbClr val="0D0E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0D0E33"/>
                </a:solidFill>
                <a:latin typeface="Arial"/>
                <a:ea typeface="Arial"/>
                <a:cs typeface="Arial"/>
                <a:sym typeface="Arial"/>
              </a:rPr>
              <a:t>h3(“coding”) = 19</a:t>
            </a:r>
            <a:endParaRPr sz="1650">
              <a:solidFill>
                <a:srgbClr val="0D0E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20"/>
          <p:cNvSpPr/>
          <p:nvPr/>
        </p:nvSpPr>
        <p:spPr>
          <a:xfrm>
            <a:off x="1988858" y="317374"/>
            <a:ext cx="5029177" cy="114299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22a20d60717_0_26"/>
          <p:cNvSpPr txBox="1"/>
          <p:nvPr>
            <p:ph idx="1" type="body"/>
          </p:nvPr>
        </p:nvSpPr>
        <p:spPr>
          <a:xfrm>
            <a:off x="811675" y="1067525"/>
            <a:ext cx="7419600" cy="2832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Suppose that the size of our bloom filter is, m = 10. 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We need to take </a:t>
            </a:r>
            <a:r>
              <a:rPr lang="en-US" sz="16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mod of 10</a:t>
            </a:r>
            <a:r>
              <a:rPr lang="en-US" sz="1600">
                <a:latin typeface="Arial"/>
                <a:ea typeface="Arial"/>
                <a:cs typeface="Arial"/>
                <a:sym typeface="Arial"/>
              </a:rPr>
              <a:t> for each of these values so that the index is within the bounds of the bloom filter. 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○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125%10 = </a:t>
            </a:r>
            <a:r>
              <a:rPr lang="en-US" sz="16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600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○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67%10 = </a:t>
            </a:r>
            <a:r>
              <a:rPr lang="en-US" sz="16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600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○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19%10 = </a:t>
            </a:r>
            <a:r>
              <a:rPr lang="en-US" sz="16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sz="1600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Therefore, indexes at </a:t>
            </a:r>
            <a:r>
              <a:rPr b="1" lang="en-US" sz="1600">
                <a:latin typeface="Arial"/>
                <a:ea typeface="Arial"/>
                <a:cs typeface="Arial"/>
                <a:sym typeface="Arial"/>
              </a:rPr>
              <a:t>5,7</a:t>
            </a:r>
            <a:r>
              <a:rPr lang="en-US" sz="1600">
                <a:latin typeface="Arial"/>
                <a:ea typeface="Arial"/>
                <a:cs typeface="Arial"/>
                <a:sym typeface="Arial"/>
              </a:rPr>
              <a:t> &amp; </a:t>
            </a:r>
            <a:r>
              <a:rPr b="1" lang="en-US" sz="1600">
                <a:latin typeface="Arial"/>
                <a:ea typeface="Arial"/>
                <a:cs typeface="Arial"/>
                <a:sym typeface="Arial"/>
              </a:rPr>
              <a:t>9</a:t>
            </a:r>
            <a:r>
              <a:rPr lang="en-US" sz="1600">
                <a:latin typeface="Arial"/>
                <a:ea typeface="Arial"/>
                <a:cs typeface="Arial"/>
                <a:sym typeface="Arial"/>
              </a:rPr>
              <a:t> h</a:t>
            </a:r>
            <a:r>
              <a:rPr lang="en-US" sz="1600">
                <a:latin typeface="Arial"/>
                <a:ea typeface="Arial"/>
                <a:cs typeface="Arial"/>
                <a:sym typeface="Arial"/>
              </a:rPr>
              <a:t>ave to be set to 1.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1"/>
          <p:cNvSpPr/>
          <p:nvPr/>
        </p:nvSpPr>
        <p:spPr>
          <a:xfrm>
            <a:off x="2277370" y="850773"/>
            <a:ext cx="5029189" cy="312419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2"/>
          <p:cNvSpPr txBox="1"/>
          <p:nvPr/>
        </p:nvSpPr>
        <p:spPr>
          <a:xfrm>
            <a:off x="411749" y="1492256"/>
            <a:ext cx="8320500" cy="23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36550" lvl="0" marL="914400" marR="0" rtl="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Clr>
                <a:srgbClr val="0D0E33"/>
              </a:buClr>
              <a:buSzPts val="1700"/>
              <a:buFont typeface="Arial"/>
              <a:buChar char="●"/>
            </a:pPr>
            <a:r>
              <a:rPr lang="en-US" sz="1700">
                <a:solidFill>
                  <a:srgbClr val="0D0E33"/>
                </a:solidFill>
                <a:latin typeface="Arial"/>
                <a:ea typeface="Arial"/>
                <a:cs typeface="Arial"/>
                <a:sym typeface="Arial"/>
              </a:rPr>
              <a:t>If we want to test the membership of an element, we need to pass it through</a:t>
            </a:r>
            <a:endParaRPr sz="1700">
              <a:solidFill>
                <a:srgbClr val="0D0E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5080" rtl="0" algn="l">
              <a:lnSpc>
                <a:spcPct val="170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0D0E33"/>
                </a:solidFill>
                <a:latin typeface="Arial"/>
                <a:ea typeface="Arial"/>
                <a:cs typeface="Arial"/>
                <a:sym typeface="Arial"/>
              </a:rPr>
              <a:t>same hash functions. </a:t>
            </a:r>
            <a:endParaRPr sz="1700">
              <a:solidFill>
                <a:srgbClr val="0D0E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914400" marR="5080" rtl="0" algn="l">
              <a:lnSpc>
                <a:spcPct val="170600"/>
              </a:lnSpc>
              <a:spcBef>
                <a:spcPts val="0"/>
              </a:spcBef>
              <a:spcAft>
                <a:spcPts val="0"/>
              </a:spcAft>
              <a:buClr>
                <a:srgbClr val="0D0E33"/>
              </a:buClr>
              <a:buSzPts val="1700"/>
              <a:buFont typeface="Arial"/>
              <a:buChar char="●"/>
            </a:pPr>
            <a:r>
              <a:rPr lang="en-US" sz="1700">
                <a:solidFill>
                  <a:srgbClr val="0D0E33"/>
                </a:solidFill>
                <a:latin typeface="Arial"/>
                <a:ea typeface="Arial"/>
                <a:cs typeface="Arial"/>
                <a:sym typeface="Arial"/>
              </a:rPr>
              <a:t>If bits are already set for all these indexes, then this element  might exist in the set. </a:t>
            </a:r>
            <a:endParaRPr sz="1700">
              <a:solidFill>
                <a:srgbClr val="0D0E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914400" marR="5080" rtl="0" algn="l">
              <a:lnSpc>
                <a:spcPct val="170600"/>
              </a:lnSpc>
              <a:spcBef>
                <a:spcPts val="0"/>
              </a:spcBef>
              <a:spcAft>
                <a:spcPts val="0"/>
              </a:spcAft>
              <a:buClr>
                <a:srgbClr val="0D0E33"/>
              </a:buClr>
              <a:buSzPts val="1700"/>
              <a:buFont typeface="Arial"/>
              <a:buChar char="●"/>
            </a:pPr>
            <a:r>
              <a:rPr lang="en-US" sz="1700">
                <a:solidFill>
                  <a:srgbClr val="0D0E33"/>
                </a:solidFill>
                <a:latin typeface="Arial"/>
                <a:ea typeface="Arial"/>
                <a:cs typeface="Arial"/>
                <a:sym typeface="Arial"/>
              </a:rPr>
              <a:t>However, even if one index is not set, we are sure that this  element is not present in the set.</a:t>
            </a:r>
            <a:endParaRPr sz="1700">
              <a:solidFill>
                <a:srgbClr val="0D0E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22"/>
          <p:cNvSpPr txBox="1"/>
          <p:nvPr/>
        </p:nvSpPr>
        <p:spPr>
          <a:xfrm>
            <a:off x="571400" y="554650"/>
            <a:ext cx="754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800">
                <a:solidFill>
                  <a:srgbClr val="0D0E33"/>
                </a:solidFill>
              </a:rPr>
              <a:t>Testing membership of an item in Bloom filter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22a20d60717_0_32"/>
          <p:cNvSpPr txBox="1"/>
          <p:nvPr/>
        </p:nvSpPr>
        <p:spPr>
          <a:xfrm>
            <a:off x="660175" y="729150"/>
            <a:ext cx="8010900" cy="33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Suppose we wish to add word “</a:t>
            </a:r>
            <a:r>
              <a:rPr lang="en-US" sz="1600">
                <a:solidFill>
                  <a:srgbClr val="FF0000"/>
                </a:solidFill>
              </a:rPr>
              <a:t>music”</a:t>
            </a:r>
            <a:r>
              <a:rPr lang="en-US" sz="1600"/>
              <a:t> to the filter after the word “</a:t>
            </a:r>
            <a:r>
              <a:rPr lang="en-US" sz="1600">
                <a:solidFill>
                  <a:srgbClr val="FF0000"/>
                </a:solidFill>
              </a:rPr>
              <a:t>coding”.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Music has the hash output {290, 145, 2} and the indexes {0, 5, 2} are set to 1.</a:t>
            </a:r>
            <a:endParaRPr sz="16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Let’s we want to check the membership of “</a:t>
            </a:r>
            <a:r>
              <a:rPr lang="en-US" sz="1600">
                <a:solidFill>
                  <a:srgbClr val="FF0000"/>
                </a:solidFill>
              </a:rPr>
              <a:t>cat</a:t>
            </a:r>
            <a:r>
              <a:rPr lang="en-US" sz="1600"/>
              <a:t>” in our set.</a:t>
            </a:r>
            <a:endParaRPr sz="1600"/>
          </a:p>
        </p:txBody>
      </p:sp>
      <p:pic>
        <p:nvPicPr>
          <p:cNvPr id="358" name="Google Shape;358;g22a20d60717_0_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5575" y="1755675"/>
            <a:ext cx="6362700" cy="1476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1e0cfc764f5_0_4"/>
          <p:cNvSpPr txBox="1"/>
          <p:nvPr/>
        </p:nvSpPr>
        <p:spPr>
          <a:xfrm>
            <a:off x="857275" y="2157900"/>
            <a:ext cx="7646400" cy="20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We pass “cat” through the same hash functions and will get the following results.</a:t>
            </a:r>
            <a:endParaRPr/>
          </a:p>
          <a:p>
            <a:pPr indent="-31750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h1(“cat”) = 233 mod 10=</a:t>
            </a:r>
            <a:r>
              <a:rPr lang="en-US">
                <a:solidFill>
                  <a:srgbClr val="0000FF"/>
                </a:solidFill>
              </a:rPr>
              <a:t>3</a:t>
            </a:r>
            <a:endParaRPr>
              <a:solidFill>
                <a:srgbClr val="0000FF"/>
              </a:solidFill>
            </a:endParaRPr>
          </a:p>
          <a:p>
            <a:pPr indent="-31750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h2(“cat”) = 155 </a:t>
            </a:r>
            <a:r>
              <a:rPr lang="en-US">
                <a:solidFill>
                  <a:schemeClr val="dk1"/>
                </a:solidFill>
              </a:rPr>
              <a:t>mod 10=</a:t>
            </a:r>
            <a:r>
              <a:rPr lang="en-US">
                <a:solidFill>
                  <a:srgbClr val="0000FF"/>
                </a:solidFill>
              </a:rPr>
              <a:t>5</a:t>
            </a:r>
            <a:endParaRPr>
              <a:solidFill>
                <a:srgbClr val="0000FF"/>
              </a:solidFill>
            </a:endParaRPr>
          </a:p>
          <a:p>
            <a:pPr indent="-31750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h3(“cat”) = 9 </a:t>
            </a:r>
            <a:r>
              <a:rPr lang="en-US">
                <a:solidFill>
                  <a:schemeClr val="dk1"/>
                </a:solidFill>
              </a:rPr>
              <a:t>mod 10=</a:t>
            </a:r>
            <a:r>
              <a:rPr lang="en-US">
                <a:solidFill>
                  <a:srgbClr val="0000FF"/>
                </a:solidFill>
              </a:rPr>
              <a:t>9</a:t>
            </a:r>
            <a:endParaRPr>
              <a:solidFill>
                <a:srgbClr val="0000FF"/>
              </a:solidFill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By checking the indexes {3, 5, 9} for  1,we can see that, indexes 5 and 9 are set to 1, </a:t>
            </a:r>
            <a:r>
              <a:rPr b="1" lang="en-US"/>
              <a:t>3 is not</a:t>
            </a:r>
            <a:r>
              <a:rPr lang="en-US"/>
              <a:t>,thus we can conclude with 100% certainty that “</a:t>
            </a:r>
            <a:r>
              <a:rPr lang="en-US">
                <a:solidFill>
                  <a:srgbClr val="FF0000"/>
                </a:solidFill>
              </a:rPr>
              <a:t>cat</a:t>
            </a:r>
            <a:r>
              <a:rPr lang="en-US"/>
              <a:t>” </a:t>
            </a:r>
            <a:r>
              <a:rPr b="1" lang="en-US"/>
              <a:t>is not present</a:t>
            </a:r>
            <a:r>
              <a:rPr lang="en-US"/>
              <a:t> in the set.</a:t>
            </a:r>
            <a:endParaRPr/>
          </a:p>
        </p:txBody>
      </p:sp>
      <p:pic>
        <p:nvPicPr>
          <p:cNvPr id="364" name="Google Shape;364;g1e0cfc764f5_0_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5125" y="307225"/>
            <a:ext cx="6362700" cy="1476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1e0cfc764f5_0_11"/>
          <p:cNvSpPr txBox="1"/>
          <p:nvPr/>
        </p:nvSpPr>
        <p:spPr>
          <a:xfrm>
            <a:off x="724125" y="1549750"/>
            <a:ext cx="8030700" cy="31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US" sz="1500"/>
              <a:t>Now let’s, we want to check the existence of word “</a:t>
            </a:r>
            <a:r>
              <a:rPr lang="en-US" sz="1500">
                <a:solidFill>
                  <a:srgbClr val="FF0000"/>
                </a:solidFill>
              </a:rPr>
              <a:t>gaming</a:t>
            </a:r>
            <a:r>
              <a:rPr lang="en-US" sz="1500"/>
              <a:t>” in our set, pass it through same hash functions and will get the following results.</a:t>
            </a:r>
            <a:endParaRPr sz="1500"/>
          </a:p>
          <a:p>
            <a:pPr indent="-32385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US" sz="1500"/>
              <a:t>h1(“gaming”) = 235 mod 10=</a:t>
            </a:r>
            <a:r>
              <a:rPr lang="en-US" sz="1500">
                <a:solidFill>
                  <a:srgbClr val="0000FF"/>
                </a:solidFill>
              </a:rPr>
              <a:t>5</a:t>
            </a:r>
            <a:endParaRPr sz="1500">
              <a:solidFill>
                <a:srgbClr val="0000FF"/>
              </a:solidFill>
            </a:endParaRPr>
          </a:p>
          <a:p>
            <a:pPr indent="-32385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US" sz="1500"/>
              <a:t>h2(“gaming”) = 60 </a:t>
            </a:r>
            <a:r>
              <a:rPr lang="en-US" sz="1500">
                <a:solidFill>
                  <a:schemeClr val="dk1"/>
                </a:solidFill>
              </a:rPr>
              <a:t>mod 10=</a:t>
            </a:r>
            <a:r>
              <a:rPr lang="en-US" sz="1500">
                <a:solidFill>
                  <a:srgbClr val="0000FF"/>
                </a:solidFill>
              </a:rPr>
              <a:t>0</a:t>
            </a:r>
            <a:endParaRPr sz="1500">
              <a:solidFill>
                <a:srgbClr val="0000FF"/>
              </a:solidFill>
            </a:endParaRPr>
          </a:p>
          <a:p>
            <a:pPr indent="-32385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US" sz="1500"/>
              <a:t>h3(“gaming”) = 22 </a:t>
            </a:r>
            <a:r>
              <a:rPr lang="en-US" sz="1500">
                <a:solidFill>
                  <a:schemeClr val="dk1"/>
                </a:solidFill>
              </a:rPr>
              <a:t>mod 10=</a:t>
            </a:r>
            <a:r>
              <a:rPr lang="en-US" sz="1500">
                <a:solidFill>
                  <a:srgbClr val="0000FF"/>
                </a:solidFill>
              </a:rPr>
              <a:t>2</a:t>
            </a:r>
            <a:endParaRPr sz="1500">
              <a:solidFill>
                <a:srgbClr val="0000FF"/>
              </a:solidFill>
            </a:endParaRPr>
          </a:p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US" sz="1500">
                <a:solidFill>
                  <a:schemeClr val="dk1"/>
                </a:solidFill>
              </a:rPr>
              <a:t>By checking the indexes</a:t>
            </a:r>
            <a:r>
              <a:rPr lang="en-US" sz="1500"/>
              <a:t> {5,0,2} </a:t>
            </a:r>
            <a:r>
              <a:rPr lang="en-US" sz="1500">
                <a:solidFill>
                  <a:schemeClr val="dk1"/>
                </a:solidFill>
              </a:rPr>
              <a:t>for  1,we can see that all</a:t>
            </a:r>
            <a:r>
              <a:rPr lang="en-US" sz="1500"/>
              <a:t> of these indexes are set to 1. However, we know that “</a:t>
            </a:r>
            <a:r>
              <a:rPr lang="en-US" sz="1500">
                <a:solidFill>
                  <a:srgbClr val="FF0000"/>
                </a:solidFill>
              </a:rPr>
              <a:t>gaming</a:t>
            </a:r>
            <a:r>
              <a:rPr lang="en-US" sz="1500"/>
              <a:t>” is not present in the set. it is a case of  false positive.</a:t>
            </a:r>
            <a:endParaRPr sz="1500"/>
          </a:p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US" sz="1500"/>
              <a:t>We can predict the probability of these false positives, by considering  n = number of elements, m = length of the bloom filter, k = number of hash functions.</a:t>
            </a:r>
            <a:endParaRPr sz="1500"/>
          </a:p>
        </p:txBody>
      </p:sp>
      <p:pic>
        <p:nvPicPr>
          <p:cNvPr id="370" name="Google Shape;370;g1e0cfc764f5_0_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25825" y="267125"/>
            <a:ext cx="5527775" cy="128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26bff9f8a4a_0_7"/>
          <p:cNvSpPr txBox="1"/>
          <p:nvPr/>
        </p:nvSpPr>
        <p:spPr>
          <a:xfrm>
            <a:off x="366425" y="936425"/>
            <a:ext cx="8319300" cy="3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Suppose we want to create a Bloom filter to check for the membership of elements in a set of fruits, and we have a filter size of 10 .We'll use two hash functions to map each fruit to multiple positions in the filter.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Initialization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Initially, all bits in the filter are set to 0.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Hash Functions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Define two simple hash functions: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○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Hash Function 1: Take the ASCII value of the first character of the fruit name and modulo it by 10.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○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Hash Function 2: Take the ASCII value of the second character of the fruit name and modulo it by 10.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g26bff9f8a4a_0_7"/>
          <p:cNvSpPr txBox="1"/>
          <p:nvPr/>
        </p:nvSpPr>
        <p:spPr>
          <a:xfrm>
            <a:off x="366425" y="407125"/>
            <a:ext cx="26871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</a:t>
            </a:r>
            <a:endParaRPr b="1"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26bff9f8a4a_1_10"/>
          <p:cNvSpPr txBox="1"/>
          <p:nvPr/>
        </p:nvSpPr>
        <p:spPr>
          <a:xfrm>
            <a:off x="434275" y="203575"/>
            <a:ext cx="8427900" cy="47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●"/>
            </a:pPr>
            <a:r>
              <a:rPr b="1"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Insertion</a:t>
            </a: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Let's insert three fruits into the Bloom filter: "apple", "banana", and "orange".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●"/>
            </a:pPr>
            <a:r>
              <a:rPr b="1"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"apple":</a:t>
            </a:r>
            <a:endParaRPr b="1"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○"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Hash Function 1: 'a' has ASCII value 97 % 10 = 7.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○"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Hash Function 2: 'p' has ASCII value 112 % 10 = 2.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○"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 the bits at positions 7 and 2 to 1.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●"/>
            </a:pPr>
            <a:r>
              <a:rPr b="1"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"banana":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○"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Hash Function 1: 'b' has ASCII value 98 % 10 = 8.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○"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Hash Function 2: 'a' has ASCII value 97 % 10 = 7.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○"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 the bits at positions 8 and 7 to 1.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●"/>
            </a:pPr>
            <a:r>
              <a:rPr b="1"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"orange":</a:t>
            </a:r>
            <a:endParaRPr b="1"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○"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Hash Function 1: 'o' has ASCII value 111 % 10 = 1.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○"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Hash Function 2: 'r' has ASCII value 114 % 10 = 4.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○"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 the bits at positions 1 and 4 to 1.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26bff9f8a4a_1_16"/>
          <p:cNvSpPr txBox="1"/>
          <p:nvPr/>
        </p:nvSpPr>
        <p:spPr>
          <a:xfrm>
            <a:off x="515700" y="380000"/>
            <a:ext cx="8210700" cy="42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Membership Test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Now, let's test for the membership of some fruits.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"apple" in the set?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Hash Function 1: 97 % 10 = 7 (bit is set).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Hash Function 2: 112 % 10 = 2 (bit is set).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Both bits are set, so we report "apple" might be in the set (possible false positive).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"grape" in the set?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Hash Function 1: 'g' has ASCII value 103. 103 % 10 = 3 (bit is not set).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Hash Function 2: 'r' has ASCII value 114. 114 % 10 = 4 (bit is set).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One bit is not set, so we report "grape" is definitely not in the set (no false negatives).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26bff9f8a4a_1_21"/>
          <p:cNvSpPr txBox="1"/>
          <p:nvPr/>
        </p:nvSpPr>
        <p:spPr>
          <a:xfrm>
            <a:off x="570000" y="855000"/>
            <a:ext cx="8074800" cy="37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619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●"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While our Bloom filter allows for false positives, it guarantees no false negatives. 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●"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However, the probability of false positives increases as the number of elements inserted into the filter grows. 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●"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Adjusting the filter size and number of hash functions can help manage this probability.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23"/>
          <p:cNvSpPr txBox="1"/>
          <p:nvPr/>
        </p:nvSpPr>
        <p:spPr>
          <a:xfrm>
            <a:off x="2217028" y="404000"/>
            <a:ext cx="4504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/>
              <a:t>Bloom Filter Applications</a:t>
            </a:r>
            <a:endParaRPr b="1" sz="2200"/>
          </a:p>
        </p:txBody>
      </p:sp>
      <p:sp>
        <p:nvSpPr>
          <p:cNvPr id="397" name="Google Shape;397;p23"/>
          <p:cNvSpPr txBox="1"/>
          <p:nvPr/>
        </p:nvSpPr>
        <p:spPr>
          <a:xfrm>
            <a:off x="689750" y="898700"/>
            <a:ext cx="8020800" cy="35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●"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Bloom filters can be used as the first layer of filtering. 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●"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They can be helpful where we want to know if something is definitely not present or possibly present somewhere.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US" sz="1800">
                <a:latin typeface="Calibri"/>
                <a:ea typeface="Calibri"/>
                <a:cs typeface="Calibri"/>
                <a:sym typeface="Calibri"/>
              </a:rPr>
              <a:t>Facebook</a:t>
            </a: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 uses bloom filters to avoid one-hit wonders. One-hit wonders are web objects requested by users just once.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US" sz="1800">
                <a:latin typeface="Calibri"/>
                <a:ea typeface="Calibri"/>
                <a:cs typeface="Calibri"/>
                <a:sym typeface="Calibri"/>
              </a:rPr>
              <a:t>Medium</a:t>
            </a: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 uses Bloom filters in its Recommendation module to avoid showing those posts that the user has already seen.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25"/>
          <p:cNvSpPr txBox="1"/>
          <p:nvPr>
            <p:ph type="title"/>
          </p:nvPr>
        </p:nvSpPr>
        <p:spPr>
          <a:xfrm>
            <a:off x="453699" y="387022"/>
            <a:ext cx="3382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0000"/>
                </a:solidFill>
              </a:rPr>
              <a:t>Count Distinct Problem</a:t>
            </a:r>
            <a:endParaRPr b="1" sz="2000"/>
          </a:p>
        </p:txBody>
      </p:sp>
      <p:sp>
        <p:nvSpPr>
          <p:cNvPr id="403" name="Google Shape;403;p25"/>
          <p:cNvSpPr txBox="1"/>
          <p:nvPr/>
        </p:nvSpPr>
        <p:spPr>
          <a:xfrm>
            <a:off x="512375" y="922850"/>
            <a:ext cx="8118900" cy="38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30200" lvl="0" marL="457200" marR="508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2052D"/>
              </a:buClr>
              <a:buSzPts val="1600"/>
              <a:buFont typeface="Calibri"/>
              <a:buChar char="●"/>
            </a:pPr>
            <a:r>
              <a:rPr lang="en-US" sz="1600">
                <a:solidFill>
                  <a:srgbClr val="02052D"/>
                </a:solidFill>
                <a:latin typeface="Calibri"/>
                <a:ea typeface="Calibri"/>
                <a:cs typeface="Calibri"/>
                <a:sym typeface="Calibri"/>
              </a:rPr>
              <a:t>The Count Distinct Problem is a common computational problem that involves determining the number of unique elements in a dataset or a stream of data.</a:t>
            </a:r>
            <a:r>
              <a:rPr lang="en-US" sz="1600">
                <a:solidFill>
                  <a:srgbClr val="02052D"/>
                </a:solidFill>
                <a:latin typeface="Calibri"/>
                <a:ea typeface="Calibri"/>
                <a:cs typeface="Calibri"/>
                <a:sym typeface="Calibri"/>
              </a:rPr>
              <a:t> (cardinality estimation problem).</a:t>
            </a:r>
            <a:endParaRPr sz="1600">
              <a:solidFill>
                <a:srgbClr val="0205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marR="508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2052D"/>
              </a:buClr>
              <a:buSzPts val="1600"/>
              <a:buFont typeface="Calibri"/>
              <a:buChar char="●"/>
            </a:pPr>
            <a:r>
              <a:rPr lang="en-US" sz="1600">
                <a:solidFill>
                  <a:srgbClr val="02052D"/>
                </a:solidFill>
                <a:latin typeface="Calibri"/>
                <a:ea typeface="Calibri"/>
                <a:cs typeface="Calibri"/>
                <a:sym typeface="Calibri"/>
              </a:rPr>
              <a:t>The elements might represent IP addresses of packets passing through a router, unique visitors to a web site, elements in a large database.</a:t>
            </a:r>
            <a:endParaRPr sz="1600">
              <a:solidFill>
                <a:srgbClr val="0205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marR="508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2052D"/>
              </a:buClr>
              <a:buSzPts val="1600"/>
              <a:buFont typeface="Calibri"/>
              <a:buChar char="●"/>
            </a:pPr>
            <a:r>
              <a:rPr lang="en-US" sz="1600">
                <a:solidFill>
                  <a:srgbClr val="02052D"/>
                </a:solidFill>
                <a:latin typeface="Calibri"/>
                <a:ea typeface="Calibri"/>
                <a:cs typeface="Calibri"/>
                <a:sym typeface="Calibri"/>
              </a:rPr>
              <a:t>This problem arises in various domains such as database management, data analytics, and network traffic analysis. </a:t>
            </a:r>
            <a:endParaRPr sz="1600">
              <a:solidFill>
                <a:srgbClr val="0205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marR="508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2052D"/>
              </a:buClr>
              <a:buSzPts val="1600"/>
              <a:buFont typeface="Calibri"/>
              <a:buChar char="●"/>
            </a:pPr>
            <a:r>
              <a:rPr lang="en-US" sz="1600">
                <a:solidFill>
                  <a:srgbClr val="02052D"/>
                </a:solidFill>
                <a:latin typeface="Calibri"/>
                <a:ea typeface="Calibri"/>
                <a:cs typeface="Calibri"/>
                <a:sym typeface="Calibri"/>
              </a:rPr>
              <a:t>It has applications in tasks like </a:t>
            </a:r>
            <a:endParaRPr sz="1600">
              <a:solidFill>
                <a:srgbClr val="0205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1" marL="914400" marR="508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2052D"/>
              </a:buClr>
              <a:buSzPts val="1500"/>
              <a:buFont typeface="Calibri"/>
              <a:buChar char="○"/>
            </a:pPr>
            <a:r>
              <a:rPr lang="en-US" sz="1500">
                <a:solidFill>
                  <a:srgbClr val="02052D"/>
                </a:solidFill>
                <a:latin typeface="Calibri"/>
                <a:ea typeface="Calibri"/>
                <a:cs typeface="Calibri"/>
                <a:sym typeface="Calibri"/>
              </a:rPr>
              <a:t>How many different words are found in a web page.</a:t>
            </a:r>
            <a:endParaRPr sz="1500">
              <a:solidFill>
                <a:srgbClr val="0205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2052D"/>
              </a:buClr>
              <a:buSzPts val="1500"/>
              <a:buFont typeface="Calibri"/>
              <a:buChar char="○"/>
            </a:pPr>
            <a:r>
              <a:rPr lang="en-US" sz="1500">
                <a:solidFill>
                  <a:srgbClr val="02052D"/>
                </a:solidFill>
                <a:latin typeface="Calibri"/>
                <a:ea typeface="Calibri"/>
                <a:cs typeface="Calibri"/>
                <a:sym typeface="Calibri"/>
              </a:rPr>
              <a:t>How many different pages does a customer request.</a:t>
            </a:r>
            <a:endParaRPr sz="1500">
              <a:solidFill>
                <a:srgbClr val="0205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2052D"/>
              </a:buClr>
              <a:buSzPts val="1500"/>
              <a:buFont typeface="Calibri"/>
              <a:buChar char="○"/>
            </a:pPr>
            <a:r>
              <a:rPr lang="en-US" sz="1500">
                <a:solidFill>
                  <a:srgbClr val="02052D"/>
                </a:solidFill>
                <a:latin typeface="Calibri"/>
                <a:ea typeface="Calibri"/>
                <a:cs typeface="Calibri"/>
                <a:sym typeface="Calibri"/>
              </a:rPr>
              <a:t>Recent logins</a:t>
            </a:r>
            <a:endParaRPr sz="1500">
              <a:solidFill>
                <a:srgbClr val="02052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27"/>
          <p:cNvSpPr txBox="1"/>
          <p:nvPr>
            <p:ph type="title"/>
          </p:nvPr>
        </p:nvSpPr>
        <p:spPr>
          <a:xfrm>
            <a:off x="384724" y="505247"/>
            <a:ext cx="4103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0000"/>
                </a:solidFill>
              </a:rPr>
              <a:t>The Flajolet-Martin Algorithm</a:t>
            </a:r>
            <a:endParaRPr b="1" sz="2000"/>
          </a:p>
        </p:txBody>
      </p:sp>
      <p:sp>
        <p:nvSpPr>
          <p:cNvPr id="409" name="Google Shape;409;p27"/>
          <p:cNvSpPr txBox="1"/>
          <p:nvPr/>
        </p:nvSpPr>
        <p:spPr>
          <a:xfrm>
            <a:off x="384724" y="1175208"/>
            <a:ext cx="8313300" cy="3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36550" lvl="0" marL="457200" marR="5080" rtl="0" algn="just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2052D"/>
              </a:buClr>
              <a:buSzPts val="1700"/>
              <a:buFont typeface="Calibri"/>
              <a:buChar char="●"/>
            </a:pPr>
            <a:r>
              <a:rPr lang="en-US" sz="1700">
                <a:solidFill>
                  <a:srgbClr val="02052D"/>
                </a:solidFill>
                <a:latin typeface="Calibri"/>
                <a:ea typeface="Calibri"/>
                <a:cs typeface="Calibri"/>
                <a:sym typeface="Calibri"/>
              </a:rPr>
              <a:t>The Flajolet-Martin Algorithm is a probabilistic algorithm used for </a:t>
            </a:r>
            <a:r>
              <a:rPr b="1" lang="en-US" sz="1700">
                <a:solidFill>
                  <a:srgbClr val="02052D"/>
                </a:solidFill>
                <a:latin typeface="Calibri"/>
                <a:ea typeface="Calibri"/>
                <a:cs typeface="Calibri"/>
                <a:sym typeface="Calibri"/>
              </a:rPr>
              <a:t>estimating the number of distinct elements</a:t>
            </a:r>
            <a:r>
              <a:rPr lang="en-US" sz="1700">
                <a:solidFill>
                  <a:srgbClr val="02052D"/>
                </a:solidFill>
                <a:latin typeface="Calibri"/>
                <a:ea typeface="Calibri"/>
                <a:cs typeface="Calibri"/>
                <a:sym typeface="Calibri"/>
              </a:rPr>
              <a:t>, proposed by Philippe Flajolet and G. Nigel Martin in 1985.</a:t>
            </a:r>
            <a:endParaRPr sz="1700">
              <a:solidFill>
                <a:srgbClr val="0205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marR="5080" rtl="0" algn="just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2052D"/>
              </a:buClr>
              <a:buSzPts val="1700"/>
              <a:buFont typeface="Calibri"/>
              <a:buChar char="●"/>
            </a:pPr>
            <a:r>
              <a:rPr lang="en-US" sz="1700">
                <a:solidFill>
                  <a:srgbClr val="02052D"/>
                </a:solidFill>
                <a:latin typeface="Calibri"/>
                <a:ea typeface="Calibri"/>
                <a:cs typeface="Calibri"/>
                <a:sym typeface="Calibri"/>
              </a:rPr>
              <a:t>Key concepts</a:t>
            </a:r>
            <a:endParaRPr sz="1700">
              <a:solidFill>
                <a:srgbClr val="0205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1" marL="914400" marR="5080" rtl="0" algn="just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2052D"/>
              </a:buClr>
              <a:buSzPts val="1700"/>
              <a:buFont typeface="Calibri"/>
              <a:buChar char="○"/>
            </a:pPr>
            <a:r>
              <a:rPr b="1" lang="en-US" sz="1700">
                <a:solidFill>
                  <a:srgbClr val="02052D"/>
                </a:solidFill>
                <a:latin typeface="Calibri"/>
                <a:ea typeface="Calibri"/>
                <a:cs typeface="Calibri"/>
                <a:sym typeface="Calibri"/>
              </a:rPr>
              <a:t>Probabilistic Counting:</a:t>
            </a:r>
            <a:r>
              <a:rPr lang="en-US" sz="1700">
                <a:solidFill>
                  <a:srgbClr val="02052D"/>
                </a:solidFill>
                <a:latin typeface="Calibri"/>
                <a:ea typeface="Calibri"/>
                <a:cs typeface="Calibri"/>
                <a:sym typeface="Calibri"/>
              </a:rPr>
              <a:t> Algorithm uses probabilistic counting techniques to estimate the cardinality of a dataset without storing all individual elements. it approximates the cardinality using randomized sampling methods.</a:t>
            </a:r>
            <a:endParaRPr sz="1700">
              <a:solidFill>
                <a:srgbClr val="0205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1" marL="914400" marR="5080" rtl="0" algn="just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2052D"/>
              </a:buClr>
              <a:buSzPts val="1700"/>
              <a:buFont typeface="Calibri"/>
              <a:buChar char="○"/>
            </a:pPr>
            <a:r>
              <a:rPr b="1" lang="en-US" sz="1700">
                <a:solidFill>
                  <a:srgbClr val="02052D"/>
                </a:solidFill>
                <a:latin typeface="Calibri"/>
                <a:ea typeface="Calibri"/>
                <a:cs typeface="Calibri"/>
                <a:sym typeface="Calibri"/>
              </a:rPr>
              <a:t>Hash Functions: </a:t>
            </a:r>
            <a:r>
              <a:rPr lang="en-US" sz="1700">
                <a:solidFill>
                  <a:srgbClr val="02052D"/>
                </a:solidFill>
                <a:latin typeface="Calibri"/>
                <a:ea typeface="Calibri"/>
                <a:cs typeface="Calibri"/>
                <a:sym typeface="Calibri"/>
              </a:rPr>
              <a:t>The algorithm employs hash functions to map each element in the dataset to a range of values. These hash functions are chosen to have certain desirable properties to ensure accurate estimation.</a:t>
            </a:r>
            <a:endParaRPr sz="1700">
              <a:solidFill>
                <a:srgbClr val="0205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marR="5080" rtl="0" algn="just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2052D"/>
              </a:buClr>
              <a:buSzPts val="1700"/>
              <a:buFont typeface="Calibri"/>
              <a:buChar char="●"/>
            </a:pPr>
            <a:r>
              <a:rPr lang="en-US" sz="1700">
                <a:solidFill>
                  <a:srgbClr val="02052D"/>
                </a:solidFill>
                <a:latin typeface="Calibri"/>
                <a:ea typeface="Calibri"/>
                <a:cs typeface="Calibri"/>
                <a:sym typeface="Calibri"/>
              </a:rPr>
              <a:t>The algorithm provides only an approximation of the cardinality and may introduce some level of error, particularly for small datasets or in cases where the hash functions do not provide a sufficiently uniform distribution of values.</a:t>
            </a:r>
            <a:endParaRPr sz="1700">
              <a:solidFill>
                <a:srgbClr val="02052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26bff9f8a4a_1_37"/>
          <p:cNvSpPr txBox="1"/>
          <p:nvPr/>
        </p:nvSpPr>
        <p:spPr>
          <a:xfrm>
            <a:off x="841425" y="800700"/>
            <a:ext cx="7613400" cy="37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Selecting a hash function: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Choose a hash function </a:t>
            </a: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such that each element in the set is mapped to a string.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Calculating trailing zeros: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each element  x in the set: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Calculate </a:t>
            </a: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r(x)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which represents the length of trailing zeros in the hashed value h(x).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Finding maximum trailing zeros: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Find </a:t>
            </a: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such that R is the maximum value of  r(x) among all elements in the set.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Calculating distinct elements: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Calculate the number of distinct elements as  </a:t>
            </a:r>
            <a:r>
              <a:rPr lang="en-US" sz="1550">
                <a:solidFill>
                  <a:srgbClr val="FF0000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baseline="30000" lang="en-US" sz="1500">
                <a:solidFill>
                  <a:srgbClr val="FF0000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R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g26bff9f8a4a_1_37"/>
          <p:cNvSpPr txBox="1"/>
          <p:nvPr/>
        </p:nvSpPr>
        <p:spPr>
          <a:xfrm>
            <a:off x="1017850" y="257850"/>
            <a:ext cx="3596400" cy="4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</a:rPr>
              <a:t>Algorithm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29"/>
          <p:cNvSpPr txBox="1"/>
          <p:nvPr/>
        </p:nvSpPr>
        <p:spPr>
          <a:xfrm>
            <a:off x="1026050" y="402900"/>
            <a:ext cx="5984400" cy="46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50">
                <a:solidFill>
                  <a:srgbClr val="02052D"/>
                </a:solidFill>
                <a:latin typeface="Calibri"/>
                <a:ea typeface="Calibri"/>
                <a:cs typeface="Calibri"/>
                <a:sym typeface="Calibri"/>
              </a:rPr>
              <a:t>Stream</a:t>
            </a:r>
            <a:r>
              <a:rPr lang="en-US" sz="1450">
                <a:solidFill>
                  <a:srgbClr val="02052D"/>
                </a:solidFill>
                <a:latin typeface="Calibri"/>
                <a:ea typeface="Calibri"/>
                <a:cs typeface="Calibri"/>
                <a:sym typeface="Calibri"/>
              </a:rPr>
              <a:t>: 4, 2, 5 ,9, 1, 6, 3, 7</a:t>
            </a:r>
            <a:endParaRPr sz="1450">
              <a:solidFill>
                <a:srgbClr val="0205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150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h(x) = (x + 6) mod 32</a:t>
            </a:r>
            <a:endParaRPr sz="145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69900" marR="0" rtl="0" algn="l">
              <a:lnSpc>
                <a:spcPct val="100000"/>
              </a:lnSpc>
              <a:spcBef>
                <a:spcPts val="1150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02052D"/>
                </a:solidFill>
                <a:latin typeface="Calibri"/>
                <a:ea typeface="Calibri"/>
                <a:cs typeface="Calibri"/>
                <a:sym typeface="Calibri"/>
              </a:rPr>
              <a:t>h(4) = (4) + 6 mod 32 = 10 mod 32 = 10 = (01010)</a:t>
            </a:r>
            <a:endParaRPr sz="1450">
              <a:solidFill>
                <a:srgbClr val="0205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69900" marR="0" rtl="0" algn="l">
              <a:lnSpc>
                <a:spcPct val="100000"/>
              </a:lnSpc>
              <a:spcBef>
                <a:spcPts val="1155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02052D"/>
                </a:solidFill>
                <a:latin typeface="Calibri"/>
                <a:ea typeface="Calibri"/>
                <a:cs typeface="Calibri"/>
                <a:sym typeface="Calibri"/>
              </a:rPr>
              <a:t>h(2) = (2) + 6 mod 32 = 8 mod 32 = 8 = (01000)</a:t>
            </a:r>
            <a:endParaRPr sz="1450">
              <a:solidFill>
                <a:srgbClr val="0205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69900" marR="0" rtl="0" algn="l">
              <a:lnSpc>
                <a:spcPct val="100000"/>
              </a:lnSpc>
              <a:spcBef>
                <a:spcPts val="1150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02052D"/>
                </a:solidFill>
                <a:latin typeface="Calibri"/>
                <a:ea typeface="Calibri"/>
                <a:cs typeface="Calibri"/>
                <a:sym typeface="Calibri"/>
              </a:rPr>
              <a:t>h(5) = (5) + 6 mod 32 = 11 mod 32 = 11 = (01011)</a:t>
            </a:r>
            <a:endParaRPr sz="1450">
              <a:solidFill>
                <a:srgbClr val="0205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69900" marR="0" rtl="0" algn="l">
              <a:lnSpc>
                <a:spcPct val="100000"/>
              </a:lnSpc>
              <a:spcBef>
                <a:spcPts val="1155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02052D"/>
                </a:solidFill>
                <a:latin typeface="Calibri"/>
                <a:ea typeface="Calibri"/>
                <a:cs typeface="Calibri"/>
                <a:sym typeface="Calibri"/>
              </a:rPr>
              <a:t>h(9) = (9) + 6 mod 32 = 15 mod 32 = 15 = (01111)</a:t>
            </a:r>
            <a:endParaRPr sz="1450">
              <a:solidFill>
                <a:srgbClr val="0205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69900" marR="0" rtl="0" algn="l">
              <a:lnSpc>
                <a:spcPct val="100000"/>
              </a:lnSpc>
              <a:spcBef>
                <a:spcPts val="1150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02052D"/>
                </a:solidFill>
                <a:latin typeface="Calibri"/>
                <a:ea typeface="Calibri"/>
                <a:cs typeface="Calibri"/>
                <a:sym typeface="Calibri"/>
              </a:rPr>
              <a:t>h(1) = (1) + 6 mod 32 = 7 mod 32 = 7 = (00111)</a:t>
            </a:r>
            <a:endParaRPr sz="1450">
              <a:solidFill>
                <a:srgbClr val="0205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69900" marR="0" rtl="0" algn="l">
              <a:lnSpc>
                <a:spcPct val="100000"/>
              </a:lnSpc>
              <a:spcBef>
                <a:spcPts val="1155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02052D"/>
                </a:solidFill>
                <a:latin typeface="Calibri"/>
                <a:ea typeface="Calibri"/>
                <a:cs typeface="Calibri"/>
                <a:sym typeface="Calibri"/>
              </a:rPr>
              <a:t>h(6) = (6) + 6 mod 32 = 12 mod 32 = 12 = (01110)</a:t>
            </a:r>
            <a:endParaRPr sz="1450">
              <a:solidFill>
                <a:srgbClr val="0205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69900" marR="0" rtl="0" algn="l">
              <a:lnSpc>
                <a:spcPct val="100000"/>
              </a:lnSpc>
              <a:spcBef>
                <a:spcPts val="1150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02052D"/>
                </a:solidFill>
                <a:latin typeface="Calibri"/>
                <a:ea typeface="Calibri"/>
                <a:cs typeface="Calibri"/>
                <a:sym typeface="Calibri"/>
              </a:rPr>
              <a:t>h(3) = (3) + 6 mod 32 = 9 mod 32 = 9 = (01001)</a:t>
            </a:r>
            <a:endParaRPr sz="1450">
              <a:solidFill>
                <a:srgbClr val="0205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69900" marR="0" rtl="0" algn="l">
              <a:lnSpc>
                <a:spcPct val="100000"/>
              </a:lnSpc>
              <a:spcBef>
                <a:spcPts val="1155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02052D"/>
                </a:solidFill>
                <a:latin typeface="Calibri"/>
                <a:ea typeface="Calibri"/>
                <a:cs typeface="Calibri"/>
                <a:sym typeface="Calibri"/>
              </a:rPr>
              <a:t>h(7) = (7) + 6 mod 32 = 13 mod 32 = 13 = (01101)</a:t>
            </a:r>
            <a:endParaRPr sz="1450">
              <a:solidFill>
                <a:srgbClr val="0205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150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02052D"/>
                </a:solidFill>
                <a:latin typeface="Calibri"/>
                <a:ea typeface="Calibri"/>
                <a:cs typeface="Calibri"/>
                <a:sym typeface="Calibri"/>
              </a:rPr>
              <a:t>Trailing zero's :  {1, 3, 0, 0, 0, 1, 0, 0}</a:t>
            </a:r>
            <a:endParaRPr sz="1450">
              <a:solidFill>
                <a:srgbClr val="0205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155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02052D"/>
                </a:solidFill>
                <a:latin typeface="Calibri"/>
                <a:ea typeface="Calibri"/>
                <a:cs typeface="Calibri"/>
                <a:sym typeface="Calibri"/>
              </a:rPr>
              <a:t>R = max [Trailing Zero] = 3 </a:t>
            </a:r>
            <a:endParaRPr sz="1450">
              <a:solidFill>
                <a:srgbClr val="02052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155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02052D"/>
                </a:solidFill>
                <a:latin typeface="Calibri"/>
                <a:ea typeface="Calibri"/>
                <a:cs typeface="Calibri"/>
                <a:sym typeface="Calibri"/>
              </a:rPr>
              <a:t>Output = 2</a:t>
            </a:r>
            <a:r>
              <a:rPr b="1" baseline="30000" lang="en-US" sz="1450">
                <a:solidFill>
                  <a:srgbClr val="02052D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lang="en-US" sz="1450">
                <a:solidFill>
                  <a:srgbClr val="02052D"/>
                </a:solidFill>
                <a:latin typeface="Calibri"/>
                <a:ea typeface="Calibri"/>
                <a:cs typeface="Calibri"/>
                <a:sym typeface="Calibri"/>
              </a:rPr>
              <a:t> = 2</a:t>
            </a:r>
            <a:r>
              <a:rPr b="1" baseline="30000" lang="en-US" sz="1450">
                <a:solidFill>
                  <a:srgbClr val="02052D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en-US" sz="1450">
                <a:solidFill>
                  <a:srgbClr val="02052D"/>
                </a:solidFill>
                <a:latin typeface="Calibri"/>
                <a:ea typeface="Calibri"/>
                <a:cs typeface="Calibri"/>
                <a:sym typeface="Calibri"/>
              </a:rPr>
              <a:t>= 8</a:t>
            </a:r>
            <a:endParaRPr sz="1450">
              <a:solidFill>
                <a:srgbClr val="02052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22e8e8dd105_0_0"/>
          <p:cNvSpPr txBox="1"/>
          <p:nvPr/>
        </p:nvSpPr>
        <p:spPr>
          <a:xfrm>
            <a:off x="665400" y="1412225"/>
            <a:ext cx="7813200" cy="44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Suppose our stream consists of the integers 3,1,4,1,5,9,2,6,5. Hash functions are,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(2x+1) mod 32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Treat the result as a 5-bit binary integer and estimate the number of distinct elements in the string.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9144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Suppose our stream consists of the integers 3,1,4,1,5,9,2,6,5. Hash functions are,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(3x+7) mod 16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Treat the result as a 5-bit binary integer and estimate the number of distinct elements in the string.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g22e8e8dd105_0_0"/>
          <p:cNvSpPr txBox="1"/>
          <p:nvPr/>
        </p:nvSpPr>
        <p:spPr>
          <a:xfrm>
            <a:off x="1112850" y="257850"/>
            <a:ext cx="3460800" cy="8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Tutorial </a:t>
            </a:r>
            <a:endParaRPr b="1"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26c314548da_0_22"/>
          <p:cNvSpPr txBox="1"/>
          <p:nvPr/>
        </p:nvSpPr>
        <p:spPr>
          <a:xfrm>
            <a:off x="665400" y="1412225"/>
            <a:ext cx="78132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Consider a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stream consists of the binary digits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101011110010001100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 the number of ones in recent 18 bits using DGIM algorithm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https://www.youtube.com/watch?v=Z_MLrbI1s2E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g26c314548da_0_22"/>
          <p:cNvSpPr txBox="1"/>
          <p:nvPr/>
        </p:nvSpPr>
        <p:spPr>
          <a:xfrm>
            <a:off x="1112850" y="257850"/>
            <a:ext cx="3460800" cy="8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Tutorial </a:t>
            </a:r>
            <a:endParaRPr b="1"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3" name="Google Shape;433;g26c314548da_0_22"/>
          <p:cNvCxnSpPr/>
          <p:nvPr/>
        </p:nvCxnSpPr>
        <p:spPr>
          <a:xfrm rot="10800000">
            <a:off x="1132225" y="1999575"/>
            <a:ext cx="301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31"/>
          <p:cNvSpPr txBox="1"/>
          <p:nvPr>
            <p:ph type="title"/>
          </p:nvPr>
        </p:nvSpPr>
        <p:spPr>
          <a:xfrm>
            <a:off x="384726" y="505250"/>
            <a:ext cx="7681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0D0E33"/>
                </a:solidFill>
              </a:rPr>
              <a:t>Counting </a:t>
            </a:r>
            <a:r>
              <a:rPr b="1" lang="en-US" sz="2200">
                <a:solidFill>
                  <a:srgbClr val="0D0E33"/>
                </a:solidFill>
              </a:rPr>
              <a:t>oneness</a:t>
            </a:r>
            <a:r>
              <a:rPr b="1" lang="en-US" sz="2200">
                <a:solidFill>
                  <a:srgbClr val="0D0E33"/>
                </a:solidFill>
              </a:rPr>
              <a:t> in a window -</a:t>
            </a:r>
            <a:r>
              <a:rPr b="1" lang="en-US" sz="2200">
                <a:solidFill>
                  <a:srgbClr val="0D0E33"/>
                </a:solidFill>
                <a:highlight>
                  <a:srgbClr val="FFFFFF"/>
                </a:highlight>
              </a:rPr>
              <a:t>DGIM algorithm</a:t>
            </a:r>
            <a:endParaRPr b="1" sz="2200">
              <a:solidFill>
                <a:srgbClr val="0D0E33"/>
              </a:solidFill>
            </a:endParaRPr>
          </a:p>
        </p:txBody>
      </p:sp>
      <p:sp>
        <p:nvSpPr>
          <p:cNvPr id="439" name="Google Shape;439;p31"/>
          <p:cNvSpPr txBox="1"/>
          <p:nvPr/>
        </p:nvSpPr>
        <p:spPr>
          <a:xfrm>
            <a:off x="537200" y="1175200"/>
            <a:ext cx="8098500" cy="37944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53325">
            <a:noAutofit/>
          </a:bodyPr>
          <a:lstStyle/>
          <a:p>
            <a:pPr indent="0" lvl="0" marL="127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F0000"/>
                </a:solidFill>
              </a:rPr>
              <a:t>How many 1s are there in the last k bits of window with size N, where k&lt;=N</a:t>
            </a:r>
            <a:endParaRPr sz="1700">
              <a:solidFill>
                <a:srgbClr val="FF0000"/>
              </a:solidFill>
            </a:endParaRPr>
          </a:p>
          <a:p>
            <a:pPr indent="0" lvl="0" marL="127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02052D"/>
              </a:solidFill>
              <a:highlight>
                <a:srgbClr val="FFFFFF"/>
              </a:highlight>
            </a:endParaRPr>
          </a:p>
          <a:p>
            <a:pPr indent="-33655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2052D"/>
              </a:buClr>
              <a:buSzPts val="1700"/>
              <a:buChar char="●"/>
            </a:pPr>
            <a:r>
              <a:rPr lang="en-US" sz="1700">
                <a:solidFill>
                  <a:srgbClr val="02052D"/>
                </a:solidFill>
                <a:highlight>
                  <a:srgbClr val="FFFFFF"/>
                </a:highlight>
              </a:rPr>
              <a:t>DGIM Algorithm designed to find the number 1’s in a data set. </a:t>
            </a:r>
            <a:endParaRPr sz="1700">
              <a:solidFill>
                <a:srgbClr val="02052D"/>
              </a:solidFill>
              <a:highlight>
                <a:srgbClr val="FFFFFF"/>
              </a:highlight>
            </a:endParaRPr>
          </a:p>
          <a:p>
            <a:pPr indent="-33655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2052D"/>
              </a:buClr>
              <a:buSzPts val="1700"/>
              <a:buChar char="●"/>
            </a:pPr>
            <a:r>
              <a:rPr lang="en-US" sz="1700">
                <a:solidFill>
                  <a:srgbClr val="02052D"/>
                </a:solidFill>
                <a:highlight>
                  <a:srgbClr val="FFFFFF"/>
                </a:highlight>
              </a:rPr>
              <a:t>This algorithm uses O(log²N) bits to represent a window of N bit.</a:t>
            </a:r>
            <a:endParaRPr sz="1700">
              <a:solidFill>
                <a:srgbClr val="02052D"/>
              </a:solidFill>
              <a:highlight>
                <a:srgbClr val="FFFFFF"/>
              </a:highlight>
            </a:endParaRPr>
          </a:p>
          <a:p>
            <a:pPr indent="-33655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2052D"/>
              </a:buClr>
              <a:buSzPts val="1700"/>
              <a:buChar char="●"/>
            </a:pPr>
            <a:r>
              <a:rPr lang="en-US" sz="1700">
                <a:solidFill>
                  <a:srgbClr val="02052D"/>
                </a:solidFill>
                <a:highlight>
                  <a:srgbClr val="FFFFFF"/>
                </a:highlight>
              </a:rPr>
              <a:t>Algorithm allows to estimate the number of 1’s in the window with and error of no more than 50%.</a:t>
            </a:r>
            <a:endParaRPr sz="1700">
              <a:solidFill>
                <a:srgbClr val="02052D"/>
              </a:solidFill>
              <a:highlight>
                <a:srgbClr val="FFFFFF"/>
              </a:highlight>
            </a:endParaRPr>
          </a:p>
          <a:p>
            <a:pPr indent="-33655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2052D"/>
              </a:buClr>
              <a:buSzPts val="1700"/>
              <a:buChar char="●"/>
            </a:pPr>
            <a:r>
              <a:rPr lang="en-US" sz="1700">
                <a:solidFill>
                  <a:srgbClr val="02052D"/>
                </a:solidFill>
                <a:highlight>
                  <a:srgbClr val="FFFFFF"/>
                </a:highlight>
              </a:rPr>
              <a:t>Each bit that arrives has a timestamp for the position at which it arrives. </a:t>
            </a:r>
            <a:endParaRPr sz="1700">
              <a:solidFill>
                <a:srgbClr val="02052D"/>
              </a:solidFill>
              <a:highlight>
                <a:srgbClr val="FFFFFF"/>
              </a:highlight>
            </a:endParaRPr>
          </a:p>
          <a:p>
            <a:pPr indent="-336550" lvl="1" marL="9144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2052D"/>
              </a:buClr>
              <a:buSzPts val="1700"/>
              <a:buChar char="○"/>
            </a:pPr>
            <a:r>
              <a:rPr lang="en-US" sz="1700">
                <a:solidFill>
                  <a:srgbClr val="02052D"/>
                </a:solidFill>
                <a:highlight>
                  <a:srgbClr val="FFFFFF"/>
                </a:highlight>
              </a:rPr>
              <a:t>if the first bit has a timestamp 1, the second bit has a timestamp 2 and so on.. the positions are recognized with the window size N (the window sizes are usually taken as a multiple of 2).</a:t>
            </a:r>
            <a:endParaRPr sz="1700">
              <a:solidFill>
                <a:srgbClr val="02052D"/>
              </a:solidFill>
              <a:highlight>
                <a:srgbClr val="FFFFFF"/>
              </a:highlight>
            </a:endParaRPr>
          </a:p>
          <a:p>
            <a:pPr indent="-33655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2052D"/>
              </a:buClr>
              <a:buSzPts val="1700"/>
              <a:buChar char="●"/>
            </a:pPr>
            <a:r>
              <a:rPr lang="en-US" sz="1700">
                <a:solidFill>
                  <a:srgbClr val="02052D"/>
                </a:solidFill>
                <a:highlight>
                  <a:srgbClr val="FFFFFF"/>
                </a:highlight>
              </a:rPr>
              <a:t>The windows are divided into buckets consisting of 1’s and 0's.</a:t>
            </a:r>
            <a:endParaRPr sz="1700">
              <a:solidFill>
                <a:srgbClr val="02052D"/>
              </a:solidFill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26c314548da_0_1"/>
          <p:cNvSpPr txBox="1"/>
          <p:nvPr>
            <p:ph type="title"/>
          </p:nvPr>
        </p:nvSpPr>
        <p:spPr>
          <a:xfrm>
            <a:off x="669726" y="247375"/>
            <a:ext cx="7681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0D0E33"/>
                </a:solidFill>
              </a:rPr>
              <a:t>Counting oneness in a window -</a:t>
            </a:r>
            <a:r>
              <a:rPr b="1" lang="en-US" sz="2200">
                <a:solidFill>
                  <a:srgbClr val="0D0E33"/>
                </a:solidFill>
                <a:highlight>
                  <a:srgbClr val="FFFFFF"/>
                </a:highlight>
              </a:rPr>
              <a:t>DGIM algorithm</a:t>
            </a:r>
            <a:endParaRPr b="1" sz="2200">
              <a:solidFill>
                <a:srgbClr val="0D0E33"/>
              </a:solidFill>
            </a:endParaRPr>
          </a:p>
        </p:txBody>
      </p:sp>
      <p:sp>
        <p:nvSpPr>
          <p:cNvPr id="445" name="Google Shape;445;g26c314548da_0_1"/>
          <p:cNvSpPr txBox="1"/>
          <p:nvPr/>
        </p:nvSpPr>
        <p:spPr>
          <a:xfrm>
            <a:off x="537200" y="909275"/>
            <a:ext cx="8098500" cy="4060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53325">
            <a:noAutofit/>
          </a:bodyPr>
          <a:lstStyle/>
          <a:p>
            <a:pPr indent="-3365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E33"/>
              </a:buClr>
              <a:buSzPts val="1700"/>
              <a:buChar char="●"/>
            </a:pPr>
            <a:r>
              <a:rPr lang="en-US" sz="1700">
                <a:solidFill>
                  <a:srgbClr val="0D0E33"/>
                </a:solidFill>
              </a:rPr>
              <a:t>The DGIM algorithm is a method used for estimating the number of 1's in a sliding window of a data stream, specifically focusing on binary data. </a:t>
            </a:r>
            <a:endParaRPr sz="1700">
              <a:solidFill>
                <a:srgbClr val="0D0E33"/>
              </a:solidFill>
            </a:endParaRPr>
          </a:p>
          <a:p>
            <a:pPr indent="-3365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E33"/>
              </a:buClr>
              <a:buSzPts val="1700"/>
              <a:buChar char="●"/>
            </a:pPr>
            <a:r>
              <a:rPr lang="en-US" sz="1700">
                <a:solidFill>
                  <a:srgbClr val="0D0E33"/>
                </a:solidFill>
              </a:rPr>
              <a:t>It's useful when we have a large amount of data and need to perform computations on a sliding window without storing all of the data.</a:t>
            </a:r>
            <a:endParaRPr sz="1700">
              <a:solidFill>
                <a:srgbClr val="0D0E33"/>
              </a:solidFill>
            </a:endParaRPr>
          </a:p>
          <a:p>
            <a:pPr indent="-3365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E33"/>
              </a:buClr>
              <a:buSzPts val="1700"/>
              <a:buChar char="●"/>
            </a:pPr>
            <a:r>
              <a:rPr lang="en-US" sz="1700">
                <a:solidFill>
                  <a:srgbClr val="0D0E33"/>
                </a:solidFill>
              </a:rPr>
              <a:t>Data Structure:</a:t>
            </a:r>
            <a:endParaRPr sz="1700">
              <a:solidFill>
                <a:srgbClr val="0D0E33"/>
              </a:solidFill>
            </a:endParaRPr>
          </a:p>
          <a:p>
            <a:pPr indent="-33655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E33"/>
              </a:buClr>
              <a:buSzPts val="1700"/>
              <a:buChar char="○"/>
            </a:pPr>
            <a:r>
              <a:rPr lang="en-US" sz="1700">
                <a:solidFill>
                  <a:srgbClr val="0D0E33"/>
                </a:solidFill>
              </a:rPr>
              <a:t>The DGIM algorithm uses a data structure called </a:t>
            </a:r>
            <a:r>
              <a:rPr b="1" lang="en-US" sz="1700">
                <a:solidFill>
                  <a:srgbClr val="0D0E33"/>
                </a:solidFill>
              </a:rPr>
              <a:t>buckets</a:t>
            </a:r>
            <a:r>
              <a:rPr lang="en-US" sz="1700">
                <a:solidFill>
                  <a:srgbClr val="0D0E33"/>
                </a:solidFill>
              </a:rPr>
              <a:t>, which are essentially bins that store information about the position and timestamp of 1's in the data stream.</a:t>
            </a:r>
            <a:endParaRPr sz="1700">
              <a:solidFill>
                <a:srgbClr val="0D0E33"/>
              </a:solidFill>
            </a:endParaRPr>
          </a:p>
          <a:p>
            <a:pPr indent="-3365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E33"/>
              </a:buClr>
              <a:buSzPts val="1700"/>
              <a:buChar char="●"/>
            </a:pPr>
            <a:r>
              <a:rPr lang="en-US" sz="1700">
                <a:solidFill>
                  <a:srgbClr val="0D0E33"/>
                </a:solidFill>
              </a:rPr>
              <a:t>Sliding Window:</a:t>
            </a:r>
            <a:endParaRPr sz="1700">
              <a:solidFill>
                <a:srgbClr val="0D0E33"/>
              </a:solidFill>
            </a:endParaRPr>
          </a:p>
          <a:p>
            <a:pPr indent="-33655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E33"/>
              </a:buClr>
              <a:buSzPts val="1700"/>
              <a:buChar char="○"/>
            </a:pPr>
            <a:r>
              <a:rPr lang="en-US" sz="1700">
                <a:solidFill>
                  <a:srgbClr val="0D0E33"/>
                </a:solidFill>
              </a:rPr>
              <a:t>It</a:t>
            </a:r>
            <a:r>
              <a:rPr lang="en-US" sz="1700">
                <a:solidFill>
                  <a:srgbClr val="0D0E33"/>
                </a:solidFill>
              </a:rPr>
              <a:t> maintains a sliding window of fixed size.</a:t>
            </a:r>
            <a:endParaRPr sz="1700">
              <a:solidFill>
                <a:srgbClr val="0D0E33"/>
              </a:solidFill>
            </a:endParaRPr>
          </a:p>
          <a:p>
            <a:pPr indent="-33655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E33"/>
              </a:buClr>
              <a:buSzPts val="1700"/>
              <a:buChar char="○"/>
            </a:pPr>
            <a:r>
              <a:rPr lang="en-US" sz="1700">
                <a:solidFill>
                  <a:srgbClr val="0D0E33"/>
                </a:solidFill>
              </a:rPr>
              <a:t>As the data stream moves, new elements enter the window, and old elements exit. </a:t>
            </a:r>
            <a:endParaRPr sz="1700">
              <a:solidFill>
                <a:srgbClr val="0D0E33"/>
              </a:solidFill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26c314548da_0_9"/>
          <p:cNvSpPr txBox="1"/>
          <p:nvPr/>
        </p:nvSpPr>
        <p:spPr>
          <a:xfrm>
            <a:off x="518850" y="597150"/>
            <a:ext cx="8106300" cy="41688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53325">
            <a:noAutofit/>
          </a:bodyPr>
          <a:lstStyle/>
          <a:p>
            <a:pPr indent="-330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E33"/>
              </a:buClr>
              <a:buSzPts val="1600"/>
              <a:buChar char="●"/>
            </a:pPr>
            <a:r>
              <a:rPr lang="en-US" sz="1600">
                <a:solidFill>
                  <a:srgbClr val="0D0E33"/>
                </a:solidFill>
              </a:rPr>
              <a:t>Bucket Organization:</a:t>
            </a:r>
            <a:endParaRPr sz="1600">
              <a:solidFill>
                <a:srgbClr val="0D0E33"/>
              </a:solidFill>
            </a:endParaRPr>
          </a:p>
          <a:p>
            <a:pPr indent="-33020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E33"/>
              </a:buClr>
              <a:buSzPts val="1600"/>
              <a:buChar char="○"/>
            </a:pPr>
            <a:r>
              <a:rPr lang="en-US" sz="1600">
                <a:solidFill>
                  <a:srgbClr val="0D0E33"/>
                </a:solidFill>
              </a:rPr>
              <a:t>The buckets are organized into different sizes: 1, 2, 4, 8, ..., up to the size of the window. </a:t>
            </a:r>
            <a:endParaRPr sz="1600">
              <a:solidFill>
                <a:srgbClr val="0D0E33"/>
              </a:solidFill>
            </a:endParaRPr>
          </a:p>
          <a:p>
            <a:pPr indent="-33020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E33"/>
              </a:buClr>
              <a:buSzPts val="1600"/>
              <a:buChar char="○"/>
            </a:pPr>
            <a:r>
              <a:rPr lang="en-US" sz="1600">
                <a:solidFill>
                  <a:srgbClr val="0D0E33"/>
                </a:solidFill>
              </a:rPr>
              <a:t>Each bucket represents a time range during which the corresponding 1 occurred.</a:t>
            </a:r>
            <a:endParaRPr sz="1600">
              <a:solidFill>
                <a:srgbClr val="0D0E33"/>
              </a:solidFill>
            </a:endParaRPr>
          </a:p>
          <a:p>
            <a:pPr indent="-330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E33"/>
              </a:buClr>
              <a:buSzPts val="1600"/>
              <a:buChar char="●"/>
            </a:pPr>
            <a:r>
              <a:rPr lang="en-US" sz="1600">
                <a:solidFill>
                  <a:srgbClr val="0D0E33"/>
                </a:solidFill>
              </a:rPr>
              <a:t>Bucket Merging:</a:t>
            </a:r>
            <a:endParaRPr sz="1600">
              <a:solidFill>
                <a:srgbClr val="0D0E33"/>
              </a:solidFill>
            </a:endParaRPr>
          </a:p>
          <a:p>
            <a:pPr indent="-33020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E33"/>
              </a:buClr>
              <a:buSzPts val="1600"/>
              <a:buChar char="○"/>
            </a:pPr>
            <a:r>
              <a:rPr lang="en-US" sz="1600">
                <a:solidFill>
                  <a:srgbClr val="0D0E33"/>
                </a:solidFill>
              </a:rPr>
              <a:t>To keep the memory usage manageable, the DGIM algorithm merges buckets of the same size when the number of buckets exceeds a certain threshold. </a:t>
            </a:r>
            <a:endParaRPr sz="1600">
              <a:solidFill>
                <a:srgbClr val="0D0E33"/>
              </a:solidFill>
            </a:endParaRPr>
          </a:p>
          <a:p>
            <a:pPr indent="-33020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E33"/>
              </a:buClr>
              <a:buSzPts val="1600"/>
              <a:buChar char="○"/>
            </a:pPr>
            <a:r>
              <a:rPr lang="en-US" sz="1600">
                <a:solidFill>
                  <a:srgbClr val="0D0E33"/>
                </a:solidFill>
              </a:rPr>
              <a:t>This involves merging the timestamp information of the merged buckets while keeping track of the count of 1's accurately.</a:t>
            </a:r>
            <a:endParaRPr sz="1600">
              <a:solidFill>
                <a:srgbClr val="0D0E33"/>
              </a:solidFill>
            </a:endParaRPr>
          </a:p>
          <a:p>
            <a:pPr indent="-330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E33"/>
              </a:buClr>
              <a:buSzPts val="1600"/>
              <a:buChar char="●"/>
            </a:pPr>
            <a:r>
              <a:rPr lang="en-US" sz="1600">
                <a:solidFill>
                  <a:srgbClr val="0D0E33"/>
                </a:solidFill>
              </a:rPr>
              <a:t>Counting 1's:</a:t>
            </a:r>
            <a:endParaRPr sz="1600">
              <a:solidFill>
                <a:srgbClr val="0D0E33"/>
              </a:solidFill>
            </a:endParaRPr>
          </a:p>
          <a:p>
            <a:pPr indent="-33020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E33"/>
              </a:buClr>
              <a:buSzPts val="1600"/>
              <a:buChar char="○"/>
            </a:pPr>
            <a:r>
              <a:rPr lang="en-US" sz="1600">
                <a:solidFill>
                  <a:srgbClr val="0D0E33"/>
                </a:solidFill>
              </a:rPr>
              <a:t>To estimate the number of 1's in the sliding window, the algorithm looks at the buckets with the largest sizes first. </a:t>
            </a:r>
            <a:endParaRPr sz="1600">
              <a:solidFill>
                <a:srgbClr val="0D0E33"/>
              </a:solidFill>
            </a:endParaRPr>
          </a:p>
          <a:p>
            <a:pPr indent="-33020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E33"/>
              </a:buClr>
              <a:buSzPts val="1600"/>
              <a:buChar char="○"/>
            </a:pPr>
            <a:r>
              <a:rPr lang="en-US" sz="1600">
                <a:solidFill>
                  <a:srgbClr val="0D0E33"/>
                </a:solidFill>
              </a:rPr>
              <a:t>It adds up the counts of 1's represented by these buckets and applies a correction factor for buckets that overlap with the end of the window.</a:t>
            </a:r>
            <a:endParaRPr sz="1600">
              <a:solidFill>
                <a:srgbClr val="0D0E33"/>
              </a:solidFill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32"/>
          <p:cNvSpPr txBox="1"/>
          <p:nvPr/>
        </p:nvSpPr>
        <p:spPr>
          <a:xfrm>
            <a:off x="1610100" y="502925"/>
            <a:ext cx="5923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292929"/>
                </a:solidFill>
                <a:highlight>
                  <a:srgbClr val="FFFFFF"/>
                </a:highlight>
              </a:rPr>
              <a:t>Rules for forming the buckets</a:t>
            </a:r>
            <a:endParaRPr b="1" sz="1600"/>
          </a:p>
        </p:txBody>
      </p:sp>
      <p:sp>
        <p:nvSpPr>
          <p:cNvPr id="456" name="Google Shape;456;p32"/>
          <p:cNvSpPr txBox="1"/>
          <p:nvPr/>
        </p:nvSpPr>
        <p:spPr>
          <a:xfrm>
            <a:off x="447850" y="1112850"/>
            <a:ext cx="8122500" cy="31938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1" marL="914400" rtl="0" algn="just">
              <a:lnSpc>
                <a:spcPct val="150000"/>
              </a:lnSpc>
              <a:spcBef>
                <a:spcPts val="3200"/>
              </a:spcBef>
              <a:spcAft>
                <a:spcPts val="0"/>
              </a:spcAft>
              <a:buClr>
                <a:srgbClr val="292929"/>
              </a:buClr>
              <a:buSzPts val="1700"/>
              <a:buChar char="○"/>
            </a:pPr>
            <a:r>
              <a:rPr lang="en-US" sz="1700">
                <a:solidFill>
                  <a:srgbClr val="292929"/>
                </a:solidFill>
                <a:highlight>
                  <a:srgbClr val="FFFFFF"/>
                </a:highlight>
              </a:rPr>
              <a:t>The right side of the bucket should always start with 1. (if it starts with a 0,it is to be neglected) </a:t>
            </a:r>
            <a:endParaRPr sz="1700">
              <a:solidFill>
                <a:srgbClr val="292929"/>
              </a:solidFill>
              <a:highlight>
                <a:srgbClr val="FFFFFF"/>
              </a:highlight>
            </a:endParaRPr>
          </a:p>
          <a:p>
            <a:pPr indent="-336550" lvl="2" marL="13716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700"/>
              <a:buChar char="■"/>
            </a:pPr>
            <a:r>
              <a:rPr lang="en-US" sz="1700">
                <a:solidFill>
                  <a:srgbClr val="292929"/>
                </a:solidFill>
                <a:highlight>
                  <a:srgbClr val="FFFFFF"/>
                </a:highlight>
              </a:rPr>
              <a:t>E.g. · 1001011 → a </a:t>
            </a:r>
            <a:r>
              <a:rPr lang="en-US" sz="1700">
                <a:solidFill>
                  <a:srgbClr val="0000FF"/>
                </a:solidFill>
                <a:highlight>
                  <a:srgbClr val="FFFFFF"/>
                </a:highlight>
              </a:rPr>
              <a:t>bucket of size 4 ,having four 1’s and starting with 1 on it’s right end</a:t>
            </a:r>
            <a:r>
              <a:rPr lang="en-US" sz="1700">
                <a:solidFill>
                  <a:srgbClr val="292929"/>
                </a:solidFill>
                <a:highlight>
                  <a:srgbClr val="FFFFFF"/>
                </a:highlight>
              </a:rPr>
              <a:t>.</a:t>
            </a:r>
            <a:endParaRPr sz="1700">
              <a:solidFill>
                <a:srgbClr val="292929"/>
              </a:solidFill>
              <a:highlight>
                <a:srgbClr val="FFFFFF"/>
              </a:highlight>
            </a:endParaRPr>
          </a:p>
          <a:p>
            <a:pPr indent="-33655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700"/>
              <a:buChar char="○"/>
            </a:pPr>
            <a:r>
              <a:rPr lang="en-US" sz="1700">
                <a:solidFill>
                  <a:srgbClr val="292929"/>
                </a:solidFill>
                <a:highlight>
                  <a:srgbClr val="FFFFFF"/>
                </a:highlight>
              </a:rPr>
              <a:t>Every bucket should have at least one 1, else no bucket can be formed.</a:t>
            </a:r>
            <a:endParaRPr sz="1700">
              <a:solidFill>
                <a:srgbClr val="292929"/>
              </a:solidFill>
              <a:highlight>
                <a:srgbClr val="FFFFFF"/>
              </a:highlight>
            </a:endParaRPr>
          </a:p>
          <a:p>
            <a:pPr indent="-33655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700"/>
              <a:buChar char="○"/>
            </a:pPr>
            <a:r>
              <a:rPr lang="en-US" sz="1700">
                <a:solidFill>
                  <a:srgbClr val="292929"/>
                </a:solidFill>
                <a:highlight>
                  <a:srgbClr val="FFFFFF"/>
                </a:highlight>
              </a:rPr>
              <a:t>All buckets should be in powers of 2.</a:t>
            </a:r>
            <a:endParaRPr sz="1700">
              <a:solidFill>
                <a:srgbClr val="292929"/>
              </a:solidFill>
              <a:highlight>
                <a:srgbClr val="FFFFFF"/>
              </a:highlight>
            </a:endParaRPr>
          </a:p>
          <a:p>
            <a:pPr indent="-33655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700"/>
              <a:buChar char="○"/>
            </a:pPr>
            <a:r>
              <a:rPr lang="en-US" sz="1700">
                <a:solidFill>
                  <a:srgbClr val="292929"/>
                </a:solidFill>
                <a:highlight>
                  <a:srgbClr val="FFFFFF"/>
                </a:highlight>
              </a:rPr>
              <a:t>The buckets cannot decrease in size as we move to the left. (move in increasing order towards left)</a:t>
            </a:r>
            <a:endParaRPr sz="160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1e11cf50403_0_7"/>
          <p:cNvSpPr txBox="1"/>
          <p:nvPr>
            <p:ph idx="1" type="subTitle"/>
          </p:nvPr>
        </p:nvSpPr>
        <p:spPr>
          <a:xfrm>
            <a:off x="1371600" y="2880360"/>
            <a:ext cx="64008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62" name="Google Shape;462;g1e11cf50403_0_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0825" y="573400"/>
            <a:ext cx="7359601" cy="399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1e11cf50403_0_13"/>
          <p:cNvSpPr txBox="1"/>
          <p:nvPr>
            <p:ph idx="1" type="subTitle"/>
          </p:nvPr>
        </p:nvSpPr>
        <p:spPr>
          <a:xfrm>
            <a:off x="550500" y="4197725"/>
            <a:ext cx="7879200" cy="461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292929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In the given data stream let us assume the new bit arrives from the right ( new bit = 0).</a:t>
            </a:r>
            <a:endParaRPr b="1" sz="1500">
              <a:solidFill>
                <a:srgbClr val="292929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292929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After the new bit ( 0 ) arrives with a </a:t>
            </a:r>
            <a:r>
              <a:rPr b="1" lang="en-US" sz="1500">
                <a:solidFill>
                  <a:srgbClr val="292929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timestamp</a:t>
            </a:r>
            <a:r>
              <a:rPr b="1" lang="en-US" sz="1500">
                <a:solidFill>
                  <a:srgbClr val="292929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101, there is no change in the buckets</a:t>
            </a:r>
            <a:endParaRPr b="1" sz="1500">
              <a:solidFill>
                <a:srgbClr val="292929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68" name="Google Shape;468;g1e11cf50403_0_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5875" y="527150"/>
            <a:ext cx="7832251" cy="315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1e11cf50403_0_21"/>
          <p:cNvSpPr txBox="1"/>
          <p:nvPr>
            <p:ph type="ctrTitle"/>
          </p:nvPr>
        </p:nvSpPr>
        <p:spPr>
          <a:xfrm>
            <a:off x="3182420" y="1879849"/>
            <a:ext cx="2779200" cy="80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g1e11cf50403_0_21"/>
          <p:cNvSpPr txBox="1"/>
          <p:nvPr>
            <p:ph idx="1" type="subTitle"/>
          </p:nvPr>
        </p:nvSpPr>
        <p:spPr>
          <a:xfrm>
            <a:off x="6733950" y="1879850"/>
            <a:ext cx="2239200" cy="30015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/>
              <a:t>When 3 buckets are of same size need to combine the leftmost(earliest) two buckets,</a:t>
            </a:r>
            <a:endParaRPr sz="15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/>
              <a:t>this can be done by replacing them(leftmost two buckets) by one bucket of twice the size. </a:t>
            </a:r>
            <a:endParaRPr sz="15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/>
              <a:t>The timestamp of the new bucket is the timestamp of the rightmost of the two buckets.</a:t>
            </a:r>
            <a:endParaRPr sz="15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475" name="Google Shape;475;g1e11cf50403_0_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275" y="0"/>
            <a:ext cx="6445750" cy="4938050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g1e11cf50403_0_21"/>
          <p:cNvSpPr txBox="1"/>
          <p:nvPr/>
        </p:nvSpPr>
        <p:spPr>
          <a:xfrm>
            <a:off x="6733950" y="506400"/>
            <a:ext cx="2239200" cy="1108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292929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When new bit=1 comes create a new bucket with the current timestamp and size 1.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1e11cf50403_0_38"/>
          <p:cNvSpPr txBox="1"/>
          <p:nvPr/>
        </p:nvSpPr>
        <p:spPr>
          <a:xfrm>
            <a:off x="719125" y="824925"/>
            <a:ext cx="7916700" cy="39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Calibri"/>
              <a:buChar char="●"/>
            </a:pPr>
            <a:r>
              <a:rPr lang="en-US" sz="1900">
                <a:latin typeface="Calibri"/>
                <a:ea typeface="Calibri"/>
                <a:cs typeface="Calibri"/>
                <a:sym typeface="Calibri"/>
              </a:rPr>
              <a:t>Now, sometimes combining two buckets of size 1 may create a third bucket of size 2. </a:t>
            </a:r>
            <a:endParaRPr sz="1900"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Calibri"/>
              <a:buChar char="●"/>
            </a:pPr>
            <a:r>
              <a:rPr lang="en-US" sz="1900">
                <a:latin typeface="Calibri"/>
                <a:ea typeface="Calibri"/>
                <a:cs typeface="Calibri"/>
                <a:sym typeface="Calibri"/>
              </a:rPr>
              <a:t>If so, we combine the leftmost two buckets of size 2 into a bucket of size 4.</a:t>
            </a:r>
            <a:endParaRPr sz="1900"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Calibri"/>
              <a:buChar char="●"/>
            </a:pPr>
            <a:r>
              <a:rPr lang="en-US" sz="1900">
                <a:latin typeface="Calibri"/>
                <a:ea typeface="Calibri"/>
                <a:cs typeface="Calibri"/>
                <a:sym typeface="Calibri"/>
              </a:rPr>
              <a:t>You can continue if </a:t>
            </a:r>
            <a:r>
              <a:rPr lang="en-US" sz="19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current timestamp- leftmost bucket timestamp of window &lt; N</a:t>
            </a:r>
            <a:r>
              <a:rPr lang="en-US" sz="1900">
                <a:latin typeface="Calibri"/>
                <a:ea typeface="Calibri"/>
                <a:cs typeface="Calibri"/>
                <a:sym typeface="Calibri"/>
              </a:rPr>
              <a:t> (=24 here) E.g. 103–87=16 &lt; 24 so I continue, if it greater or equal to then I stop.</a:t>
            </a:r>
            <a:endParaRPr sz="19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latin typeface="Calibri"/>
                <a:ea typeface="Calibri"/>
                <a:cs typeface="Calibri"/>
                <a:sym typeface="Calibri"/>
              </a:rPr>
              <a:t>Query</a:t>
            </a:r>
            <a:endParaRPr b="1" sz="1900"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Calibri"/>
              <a:buChar char="●"/>
            </a:pPr>
            <a:r>
              <a:rPr lang="en-US" sz="1900">
                <a:latin typeface="Calibri"/>
                <a:ea typeface="Calibri"/>
                <a:cs typeface="Calibri"/>
                <a:sym typeface="Calibri"/>
              </a:rPr>
              <a:t>How many 1’s are there in the last 20 bits?</a:t>
            </a:r>
            <a:endParaRPr sz="1900"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Calibri"/>
              <a:buChar char="●"/>
            </a:pPr>
            <a:r>
              <a:rPr lang="en-US" sz="1900">
                <a:latin typeface="Calibri"/>
                <a:ea typeface="Calibri"/>
                <a:cs typeface="Calibri"/>
                <a:sym typeface="Calibri"/>
              </a:rPr>
              <a:t>Counting the sizes of the buckets in the last 20 bits, we say, there are 11 ones.</a:t>
            </a:r>
            <a:endParaRPr sz="19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26c314548da_0_16"/>
          <p:cNvSpPr txBox="1"/>
          <p:nvPr>
            <p:ph idx="1" type="subTitle"/>
          </p:nvPr>
        </p:nvSpPr>
        <p:spPr>
          <a:xfrm>
            <a:off x="801625" y="668245"/>
            <a:ext cx="7856700" cy="1939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Explain in detail the algorithm used for counting the number of ones in a window.</a:t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Consider there is a window of length N=24 on a binary system. Find the total</a:t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number of ones in the last 20 bits, when 0111 enters into the given stream</a:t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....101011000101110110010110.... The new bit enters from the right side and time</a:t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stamp of first new bit is 100.</a:t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219c5fb9f9d_0_0"/>
          <p:cNvSpPr txBox="1"/>
          <p:nvPr>
            <p:ph idx="1" type="subTitle"/>
          </p:nvPr>
        </p:nvSpPr>
        <p:spPr>
          <a:xfrm>
            <a:off x="867875" y="842350"/>
            <a:ext cx="7402500" cy="354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3556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000"/>
              <a:buChar char="●"/>
            </a:pPr>
            <a:r>
              <a:rPr lang="en-US" sz="2000">
                <a:solidFill>
                  <a:srgbClr val="333333"/>
                </a:solidFill>
                <a:highlight>
                  <a:srgbClr val="FFFFFF"/>
                </a:highlight>
              </a:rPr>
              <a:t>Estimating moments is a </a:t>
            </a:r>
            <a:r>
              <a:rPr b="1" lang="en-US" sz="2000">
                <a:solidFill>
                  <a:srgbClr val="333333"/>
                </a:solidFill>
                <a:highlight>
                  <a:srgbClr val="FFFFFF"/>
                </a:highlight>
              </a:rPr>
              <a:t>generalization of the problem of counting distinct elements</a:t>
            </a:r>
            <a:r>
              <a:rPr lang="en-US" sz="2000">
                <a:solidFill>
                  <a:srgbClr val="333333"/>
                </a:solidFill>
                <a:highlight>
                  <a:srgbClr val="FFFFFF"/>
                </a:highlight>
              </a:rPr>
              <a:t> in a stream. </a:t>
            </a:r>
            <a:endParaRPr sz="20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-3556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000"/>
              <a:buChar char="●"/>
            </a:pPr>
            <a:r>
              <a:rPr lang="en-US" sz="2000">
                <a:solidFill>
                  <a:srgbClr val="333333"/>
                </a:solidFill>
                <a:highlight>
                  <a:srgbClr val="FFFFFF"/>
                </a:highlight>
              </a:rPr>
              <a:t>Computing "moments," involves calculation of the </a:t>
            </a:r>
            <a:r>
              <a:rPr b="1" lang="en-US" sz="2000">
                <a:solidFill>
                  <a:srgbClr val="333333"/>
                </a:solidFill>
                <a:highlight>
                  <a:srgbClr val="FFFFFF"/>
                </a:highlight>
              </a:rPr>
              <a:t>distribution of frequencies of different elements</a:t>
            </a:r>
            <a:r>
              <a:rPr lang="en-US" sz="2000">
                <a:solidFill>
                  <a:srgbClr val="333333"/>
                </a:solidFill>
                <a:highlight>
                  <a:srgbClr val="FFFFFF"/>
                </a:highlight>
              </a:rPr>
              <a:t> in the stream.</a:t>
            </a:r>
            <a:endParaRPr sz="20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Char char="●"/>
            </a:pPr>
            <a:r>
              <a:rPr lang="en-US" sz="2000">
                <a:solidFill>
                  <a:srgbClr val="333333"/>
                </a:solidFill>
                <a:highlight>
                  <a:srgbClr val="FFFFFF"/>
                </a:highlight>
              </a:rPr>
              <a:t>Suppose a stream consists of elements chosen from a universal set, assume the universal set is ordered so we can speak of the i</a:t>
            </a:r>
            <a:r>
              <a:rPr baseline="30000" lang="en-US" sz="2100">
                <a:solidFill>
                  <a:srgbClr val="333333"/>
                </a:solidFill>
                <a:highlight>
                  <a:srgbClr val="FFFFFF"/>
                </a:highlight>
              </a:rPr>
              <a:t>th</a:t>
            </a:r>
            <a:r>
              <a:rPr lang="en-US" sz="2000">
                <a:solidFill>
                  <a:srgbClr val="333333"/>
                </a:solidFill>
                <a:highlight>
                  <a:srgbClr val="FFFFFF"/>
                </a:highlight>
              </a:rPr>
              <a:t> element for any i.</a:t>
            </a:r>
            <a:endParaRPr sz="20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Char char="●"/>
            </a:pPr>
            <a:r>
              <a:rPr lang="en-US" sz="2000">
                <a:solidFill>
                  <a:srgbClr val="333333"/>
                </a:solidFill>
                <a:highlight>
                  <a:srgbClr val="FFFFFF"/>
                </a:highlight>
              </a:rPr>
              <a:t>Let m</a:t>
            </a:r>
            <a:r>
              <a:rPr baseline="-25000" lang="en-US" sz="2000">
                <a:solidFill>
                  <a:srgbClr val="333333"/>
                </a:solidFill>
                <a:highlight>
                  <a:srgbClr val="FFFFFF"/>
                </a:highlight>
              </a:rPr>
              <a:t>i</a:t>
            </a:r>
            <a:r>
              <a:rPr baseline="-25000" lang="en-US" sz="2100">
                <a:solidFill>
                  <a:srgbClr val="333333"/>
                </a:solidFill>
                <a:highlight>
                  <a:srgbClr val="FFFFFF"/>
                </a:highlight>
              </a:rPr>
              <a:t> </a:t>
            </a:r>
            <a:r>
              <a:rPr lang="en-US" sz="2000">
                <a:solidFill>
                  <a:srgbClr val="333333"/>
                </a:solidFill>
                <a:highlight>
                  <a:srgbClr val="FFFFFF"/>
                </a:highlight>
              </a:rPr>
              <a:t>be the number of occurrences of the i</a:t>
            </a:r>
            <a:r>
              <a:rPr baseline="30000" lang="en-US" sz="2100">
                <a:solidFill>
                  <a:srgbClr val="333333"/>
                </a:solidFill>
                <a:highlight>
                  <a:srgbClr val="FFFFFF"/>
                </a:highlight>
              </a:rPr>
              <a:t>th </a:t>
            </a:r>
            <a:r>
              <a:rPr lang="en-US" sz="2000">
                <a:solidFill>
                  <a:srgbClr val="333333"/>
                </a:solidFill>
                <a:highlight>
                  <a:srgbClr val="FFFFFF"/>
                </a:highlight>
              </a:rPr>
              <a:t>element for any i, then the </a:t>
            </a:r>
            <a:r>
              <a:rPr b="1" lang="en-US" sz="2000">
                <a:solidFill>
                  <a:srgbClr val="333333"/>
                </a:solidFill>
                <a:highlight>
                  <a:srgbClr val="FFFFFF"/>
                </a:highlight>
              </a:rPr>
              <a:t>k</a:t>
            </a:r>
            <a:r>
              <a:rPr b="1" baseline="30000" lang="en-US" sz="2000">
                <a:solidFill>
                  <a:srgbClr val="333333"/>
                </a:solidFill>
                <a:highlight>
                  <a:srgbClr val="FFFFFF"/>
                </a:highlight>
              </a:rPr>
              <a:t>th</a:t>
            </a:r>
            <a:r>
              <a:rPr b="1" lang="en-US" sz="2000">
                <a:solidFill>
                  <a:srgbClr val="333333"/>
                </a:solidFill>
                <a:highlight>
                  <a:srgbClr val="FFFFFF"/>
                </a:highlight>
              </a:rPr>
              <a:t>-order moment of the stream</a:t>
            </a:r>
            <a:r>
              <a:rPr lang="en-US" sz="2000">
                <a:solidFill>
                  <a:srgbClr val="333333"/>
                </a:solidFill>
                <a:highlight>
                  <a:srgbClr val="FFFFFF"/>
                </a:highlight>
              </a:rPr>
              <a:t> is the sum over all i of (m</a:t>
            </a:r>
            <a:r>
              <a:rPr baseline="-25000" lang="en-US" sz="2000">
                <a:solidFill>
                  <a:srgbClr val="333333"/>
                </a:solidFill>
                <a:highlight>
                  <a:srgbClr val="FFFFFF"/>
                </a:highlight>
              </a:rPr>
              <a:t>i</a:t>
            </a:r>
            <a:r>
              <a:rPr lang="en-US" sz="2000">
                <a:solidFill>
                  <a:srgbClr val="333333"/>
                </a:solidFill>
                <a:highlight>
                  <a:srgbClr val="FFFFFF"/>
                </a:highlight>
              </a:rPr>
              <a:t>)</a:t>
            </a:r>
            <a:r>
              <a:rPr baseline="30000" lang="en-US" sz="2100">
                <a:solidFill>
                  <a:srgbClr val="333333"/>
                </a:solidFill>
                <a:highlight>
                  <a:srgbClr val="FFFFFF"/>
                </a:highlight>
              </a:rPr>
              <a:t>k           </a:t>
            </a:r>
            <a:endParaRPr baseline="30000" sz="2100">
              <a:solidFill>
                <a:srgbClr val="333333"/>
              </a:solidFill>
              <a:highlight>
                <a:srgbClr val="FFFFFF"/>
              </a:highlight>
            </a:endParaRPr>
          </a:p>
        </p:txBody>
      </p:sp>
      <p:pic>
        <p:nvPicPr>
          <p:cNvPr id="492" name="Google Shape;492;g219c5fb9f9d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57450" y="4095750"/>
            <a:ext cx="97155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493" name="Google Shape;493;g219c5fb9f9d_0_0"/>
          <p:cNvSpPr txBox="1"/>
          <p:nvPr/>
        </p:nvSpPr>
        <p:spPr>
          <a:xfrm>
            <a:off x="1002125" y="128300"/>
            <a:ext cx="6425400" cy="5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chemeClr val="dk1"/>
                </a:solidFill>
              </a:rPr>
              <a:t>Moments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2c800573588_0_1"/>
          <p:cNvSpPr txBox="1"/>
          <p:nvPr>
            <p:ph idx="1" type="subTitle"/>
          </p:nvPr>
        </p:nvSpPr>
        <p:spPr>
          <a:xfrm>
            <a:off x="870750" y="470700"/>
            <a:ext cx="7402500" cy="4202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Char char="●"/>
            </a:pPr>
            <a:r>
              <a:rPr lang="en-US" sz="2000">
                <a:solidFill>
                  <a:srgbClr val="333333"/>
                </a:solidFill>
                <a:highlight>
                  <a:srgbClr val="FFFFFF"/>
                </a:highlight>
              </a:rPr>
              <a:t>The </a:t>
            </a:r>
            <a:r>
              <a:rPr lang="en-US" sz="2000">
                <a:solidFill>
                  <a:srgbClr val="FF0000"/>
                </a:solidFill>
                <a:highlight>
                  <a:srgbClr val="FFFFFF"/>
                </a:highlight>
              </a:rPr>
              <a:t>0</a:t>
            </a:r>
            <a:r>
              <a:rPr lang="en-US" sz="2000">
                <a:solidFill>
                  <a:srgbClr val="333333"/>
                </a:solidFill>
                <a:highlight>
                  <a:srgbClr val="FFFFFF"/>
                </a:highlight>
              </a:rPr>
              <a:t>th order moment is the number of distinct elements in the stream</a:t>
            </a:r>
            <a:endParaRPr sz="20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Char char="●"/>
            </a:pPr>
            <a:r>
              <a:rPr lang="en-US" sz="2000">
                <a:solidFill>
                  <a:srgbClr val="333333"/>
                </a:solidFill>
                <a:highlight>
                  <a:srgbClr val="FFFFFF"/>
                </a:highlight>
              </a:rPr>
              <a:t>The </a:t>
            </a:r>
            <a:r>
              <a:rPr lang="en-US" sz="2000">
                <a:solidFill>
                  <a:srgbClr val="FF0000"/>
                </a:solidFill>
                <a:highlight>
                  <a:srgbClr val="FFFFFF"/>
                </a:highlight>
              </a:rPr>
              <a:t>1</a:t>
            </a:r>
            <a:r>
              <a:rPr lang="en-US" sz="2000">
                <a:solidFill>
                  <a:srgbClr val="333333"/>
                </a:solidFill>
                <a:highlight>
                  <a:srgbClr val="FFFFFF"/>
                </a:highlight>
              </a:rPr>
              <a:t>st order moment is the length of the stream</a:t>
            </a:r>
            <a:endParaRPr sz="20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333333"/>
                </a:solidFill>
                <a:highlight>
                  <a:srgbClr val="FFFFFF"/>
                </a:highlight>
              </a:rPr>
              <a:t>Calculate 0</a:t>
            </a:r>
            <a:r>
              <a:rPr baseline="30000" lang="en-US" sz="2000">
                <a:solidFill>
                  <a:srgbClr val="333333"/>
                </a:solidFill>
                <a:highlight>
                  <a:srgbClr val="FFFFFF"/>
                </a:highlight>
              </a:rPr>
              <a:t>th</a:t>
            </a:r>
            <a:r>
              <a:rPr lang="en-US" sz="2000">
                <a:solidFill>
                  <a:srgbClr val="333333"/>
                </a:solidFill>
                <a:highlight>
                  <a:srgbClr val="FFFFFF"/>
                </a:highlight>
              </a:rPr>
              <a:t>,1</a:t>
            </a:r>
            <a:r>
              <a:rPr baseline="30000" lang="en-US" sz="2000">
                <a:solidFill>
                  <a:srgbClr val="333333"/>
                </a:solidFill>
                <a:highlight>
                  <a:srgbClr val="FFFFFF"/>
                </a:highlight>
              </a:rPr>
              <a:t>st</a:t>
            </a:r>
            <a:r>
              <a:rPr lang="en-US" sz="2000">
                <a:solidFill>
                  <a:srgbClr val="333333"/>
                </a:solidFill>
                <a:highlight>
                  <a:srgbClr val="FFFFFF"/>
                </a:highlight>
              </a:rPr>
              <a:t> and 2</a:t>
            </a:r>
            <a:r>
              <a:rPr baseline="30000" lang="en-US" sz="2000">
                <a:solidFill>
                  <a:srgbClr val="333333"/>
                </a:solidFill>
                <a:highlight>
                  <a:srgbClr val="FFFFFF"/>
                </a:highlight>
              </a:rPr>
              <a:t>nd</a:t>
            </a:r>
            <a:r>
              <a:rPr lang="en-US" sz="2000">
                <a:solidFill>
                  <a:srgbClr val="333333"/>
                </a:solidFill>
                <a:highlight>
                  <a:srgbClr val="FFFFFF"/>
                </a:highlight>
              </a:rPr>
              <a:t> order moments ?</a:t>
            </a:r>
            <a:endParaRPr sz="20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333333"/>
              </a:solidFill>
              <a:highlight>
                <a:srgbClr val="FFFFFF"/>
              </a:highlight>
            </a:endParaRPr>
          </a:p>
        </p:txBody>
      </p:sp>
      <p:pic>
        <p:nvPicPr>
          <p:cNvPr id="499" name="Google Shape;499;g2c800573588_0_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43025" y="2384300"/>
            <a:ext cx="6840774" cy="118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2310cd6c3bc_0_0"/>
          <p:cNvSpPr txBox="1"/>
          <p:nvPr>
            <p:ph idx="1" type="subTitle"/>
          </p:nvPr>
        </p:nvSpPr>
        <p:spPr>
          <a:xfrm>
            <a:off x="808100" y="1689975"/>
            <a:ext cx="7337100" cy="23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S</a:t>
            </a:r>
            <a:r>
              <a:rPr lang="en-US"/>
              <a:t>uppose</a:t>
            </a:r>
            <a:r>
              <a:rPr lang="en-US"/>
              <a:t> we do not have enough space </a:t>
            </a:r>
            <a:r>
              <a:rPr b="1" lang="en-US"/>
              <a:t>to count all </a:t>
            </a:r>
            <a:r>
              <a:rPr b="1" lang="en-US">
                <a:solidFill>
                  <a:srgbClr val="FF0000"/>
                </a:solidFill>
              </a:rPr>
              <a:t>m</a:t>
            </a:r>
            <a:r>
              <a:rPr b="1" baseline="-25000" lang="en-US" sz="1900">
                <a:solidFill>
                  <a:srgbClr val="FF0000"/>
                </a:solidFill>
              </a:rPr>
              <a:t>i</a:t>
            </a:r>
            <a:r>
              <a:rPr b="1" lang="en-US"/>
              <a:t>  for all elements in the stream</a:t>
            </a:r>
            <a:r>
              <a:rPr lang="en-US"/>
              <a:t>, we can still estimate the second </a:t>
            </a:r>
            <a:r>
              <a:rPr lang="en-US"/>
              <a:t>moment</a:t>
            </a:r>
            <a:r>
              <a:rPr lang="en-US"/>
              <a:t> of the stream using </a:t>
            </a:r>
            <a:r>
              <a:rPr lang="en-US"/>
              <a:t>limited</a:t>
            </a:r>
            <a:r>
              <a:rPr lang="en-US"/>
              <a:t> </a:t>
            </a:r>
            <a:r>
              <a:rPr lang="en-US"/>
              <a:t>amount</a:t>
            </a:r>
            <a:r>
              <a:rPr lang="en-US"/>
              <a:t> of space.</a:t>
            </a:r>
            <a:endParaRPr/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The more space we use the more accurate the result </a:t>
            </a:r>
            <a:r>
              <a:rPr lang="en-US"/>
              <a:t>will be .</a:t>
            </a:r>
            <a:endParaRPr/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We estimate (approximate) second moment of stream by considering and computing  some random number of samples.</a:t>
            </a:r>
            <a:endParaRPr/>
          </a:p>
        </p:txBody>
      </p:sp>
      <p:sp>
        <p:nvSpPr>
          <p:cNvPr id="505" name="Google Shape;505;g2310cd6c3bc_0_0"/>
          <p:cNvSpPr txBox="1"/>
          <p:nvPr/>
        </p:nvSpPr>
        <p:spPr>
          <a:xfrm>
            <a:off x="931725" y="472225"/>
            <a:ext cx="7415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Estimating Moments</a:t>
            </a:r>
            <a:endParaRPr b="1" sz="2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2c800573588_0_13"/>
          <p:cNvSpPr txBox="1"/>
          <p:nvPr>
            <p:ph idx="1" type="subTitle"/>
          </p:nvPr>
        </p:nvSpPr>
        <p:spPr>
          <a:xfrm>
            <a:off x="970875" y="1605575"/>
            <a:ext cx="7337100" cy="3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317500" lvl="0" marL="457200" rtl="0" algn="just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Assume  that we know </a:t>
            </a:r>
            <a:r>
              <a:rPr b="1" lang="en-US">
                <a:solidFill>
                  <a:srgbClr val="FF0000"/>
                </a:solidFill>
              </a:rPr>
              <a:t>n</a:t>
            </a:r>
            <a:r>
              <a:rPr lang="en-US"/>
              <a:t>, the length of the stream.</a:t>
            </a:r>
            <a:endParaRPr/>
          </a:p>
          <a:p>
            <a:pPr indent="-317500" lvl="0" marL="457200" rtl="0" algn="just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We will sample </a:t>
            </a:r>
            <a:r>
              <a:rPr b="1" lang="en-US">
                <a:solidFill>
                  <a:srgbClr val="FF0000"/>
                </a:solidFill>
              </a:rPr>
              <a:t>s</a:t>
            </a:r>
            <a:r>
              <a:rPr lang="en-US"/>
              <a:t> </a:t>
            </a:r>
            <a:r>
              <a:rPr lang="en-US"/>
              <a:t>random positions in the stream.</a:t>
            </a:r>
            <a:endParaRPr/>
          </a:p>
          <a:p>
            <a:pPr indent="-317500" lvl="0" marL="457200" rtl="0" algn="just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For each sample we will identify </a:t>
            </a:r>
            <a:r>
              <a:rPr b="1" lang="en-US"/>
              <a:t> X.element</a:t>
            </a:r>
            <a:r>
              <a:rPr lang="en-US"/>
              <a:t> and </a:t>
            </a:r>
            <a:r>
              <a:rPr b="1" lang="en-US"/>
              <a:t>X.count</a:t>
            </a:r>
            <a:endParaRPr/>
          </a:p>
          <a:p>
            <a:pPr indent="-317500" lvl="1" marL="914400" rtl="0" algn="just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X.element = element in that position</a:t>
            </a:r>
            <a:endParaRPr/>
          </a:p>
          <a:p>
            <a:pPr indent="-317500" lvl="1" marL="914400" rtl="0" algn="just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X.count ← 1 (initially) </a:t>
            </a:r>
            <a:endParaRPr/>
          </a:p>
          <a:p>
            <a:pPr indent="-317500" lvl="1" marL="914400" rtl="0" algn="just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When we see X.element again, X.count ← X.count + 1</a:t>
            </a:r>
            <a:endParaRPr/>
          </a:p>
          <a:p>
            <a:pPr indent="-317500" lvl="0" marL="457200" rtl="0" algn="just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Estimate second moment as </a:t>
            </a:r>
            <a:r>
              <a:rPr b="1" lang="en-US"/>
              <a:t>n(2 × X.count - 1)</a:t>
            </a:r>
            <a:endParaRPr/>
          </a:p>
        </p:txBody>
      </p:sp>
      <p:sp>
        <p:nvSpPr>
          <p:cNvPr id="511" name="Google Shape;511;g2c800573588_0_13"/>
          <p:cNvSpPr txBox="1"/>
          <p:nvPr/>
        </p:nvSpPr>
        <p:spPr>
          <a:xfrm>
            <a:off x="931725" y="353400"/>
            <a:ext cx="7415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Method for </a:t>
            </a:r>
            <a:r>
              <a:rPr b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Estimating Moments  - </a:t>
            </a:r>
            <a:r>
              <a:rPr b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Alon-Matias-Szegedy Algorithm for Second  Moments</a:t>
            </a:r>
            <a:endParaRPr b="1"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2c800573588_0_21"/>
          <p:cNvSpPr txBox="1"/>
          <p:nvPr>
            <p:ph idx="1" type="subTitle"/>
          </p:nvPr>
        </p:nvSpPr>
        <p:spPr>
          <a:xfrm>
            <a:off x="970875" y="1107000"/>
            <a:ext cx="7337100" cy="2475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100"/>
              <a:t>Example</a:t>
            </a:r>
            <a:r>
              <a:rPr lang="en-US" sz="2100"/>
              <a:t>: a,b,c,b,d,a,c,d,a,b,d,c,a,a,b        n = 15</a:t>
            </a:r>
            <a:endParaRPr sz="2100"/>
          </a:p>
          <a:p>
            <a:pPr indent="0" lvl="0" marL="0" rtl="0" algn="just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/>
              <a:t>m</a:t>
            </a:r>
            <a:r>
              <a:rPr baseline="-25000" lang="en-US" sz="2100"/>
              <a:t>a</a:t>
            </a:r>
            <a:r>
              <a:rPr lang="en-US" sz="2100"/>
              <a:t>= 5, m</a:t>
            </a:r>
            <a:r>
              <a:rPr baseline="-25000" lang="en-US" sz="2100"/>
              <a:t>b</a:t>
            </a:r>
            <a:r>
              <a:rPr lang="en-US" sz="2100"/>
              <a:t> = 4, m</a:t>
            </a:r>
            <a:r>
              <a:rPr baseline="-25000" lang="en-US" sz="2100"/>
              <a:t>c</a:t>
            </a:r>
            <a:r>
              <a:rPr lang="en-US" sz="2100"/>
              <a:t>= 3, m</a:t>
            </a:r>
            <a:r>
              <a:rPr baseline="-25000" lang="en-US" sz="2100"/>
              <a:t>d</a:t>
            </a:r>
            <a:r>
              <a:rPr lang="en-US" sz="2100"/>
              <a:t>= 3</a:t>
            </a:r>
            <a:endParaRPr sz="2100"/>
          </a:p>
          <a:p>
            <a:pPr indent="0" lvl="0" marL="0" rtl="0" algn="just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second moment </a:t>
            </a:r>
            <a:r>
              <a:rPr lang="en-US" sz="2100">
                <a:solidFill>
                  <a:srgbClr val="FF0000"/>
                </a:solidFill>
              </a:rPr>
              <a:t>calculated</a:t>
            </a:r>
            <a:r>
              <a:rPr lang="en-US" sz="2100"/>
              <a:t> as  = 25+16+9+9      </a:t>
            </a:r>
            <a:endParaRPr sz="2100"/>
          </a:p>
          <a:p>
            <a:pPr indent="0" lvl="0" marL="1371600" rtl="0" algn="just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/>
              <a:t>                           = 59</a:t>
            </a:r>
            <a:endParaRPr sz="2100"/>
          </a:p>
          <a:p>
            <a:pPr indent="0" lvl="0" marL="0" rtl="0" algn="just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g2c800573588_0_21"/>
          <p:cNvSpPr txBox="1"/>
          <p:nvPr/>
        </p:nvSpPr>
        <p:spPr>
          <a:xfrm>
            <a:off x="931725" y="353400"/>
            <a:ext cx="7415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18" name="Google Shape;518;g2c800573588_0_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69050" y="1349625"/>
            <a:ext cx="971550" cy="95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2c800573588_0_31"/>
          <p:cNvSpPr txBox="1"/>
          <p:nvPr>
            <p:ph idx="1" type="subTitle"/>
          </p:nvPr>
        </p:nvSpPr>
        <p:spPr>
          <a:xfrm>
            <a:off x="714700" y="903300"/>
            <a:ext cx="7587900" cy="4017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Suppose we sample </a:t>
            </a:r>
            <a:r>
              <a:rPr b="1" lang="en-US"/>
              <a:t>s=3</a:t>
            </a:r>
            <a:r>
              <a:rPr lang="en-US"/>
              <a:t> variables X1, X2, X3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 Suppose we pick the </a:t>
            </a:r>
            <a:r>
              <a:rPr b="1" lang="en-US"/>
              <a:t>3rd, 8th, and 13th</a:t>
            </a:r>
            <a:r>
              <a:rPr lang="en-US"/>
              <a:t> position at random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X1.element=c, X2.element=d, X3 .element=a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X1.count=3, X2.count=2, X3 .count=2 (we count forwards only!)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Estimate n(2 × X.count – 1),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 first estimate = 15(6-1) = 75,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Second estimate 15(4-1) = 45, 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third estimate 15(4-1) = 45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Av</a:t>
            </a:r>
            <a:r>
              <a:rPr lang="en-US"/>
              <a:t>e</a:t>
            </a:r>
            <a:r>
              <a:rPr lang="en-US"/>
              <a:t>rage of estimates = </a:t>
            </a:r>
            <a:r>
              <a:rPr lang="en-US">
                <a:solidFill>
                  <a:srgbClr val="FF0000"/>
                </a:solidFill>
              </a:rPr>
              <a:t>55</a:t>
            </a:r>
            <a:r>
              <a:rPr lang="en-US"/>
              <a:t>≃59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26d23e5dc12_0_39"/>
          <p:cNvSpPr txBox="1"/>
          <p:nvPr>
            <p:ph idx="1" type="subTitle"/>
          </p:nvPr>
        </p:nvSpPr>
        <p:spPr>
          <a:xfrm>
            <a:off x="778050" y="1207763"/>
            <a:ext cx="75879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 	Consider </a:t>
            </a:r>
            <a:r>
              <a:rPr b="1" lang="en-US" sz="2000"/>
              <a:t>v </a:t>
            </a:r>
            <a:r>
              <a:rPr lang="en-US" sz="2000"/>
              <a:t> as  </a:t>
            </a:r>
            <a:r>
              <a:rPr b="1" lang="en-US" sz="2000"/>
              <a:t>X.count</a:t>
            </a:r>
            <a:endParaRPr sz="2000"/>
          </a:p>
        </p:txBody>
      </p:sp>
      <p:sp>
        <p:nvSpPr>
          <p:cNvPr id="529" name="Google Shape;529;g26d23e5dc12_0_39"/>
          <p:cNvSpPr txBox="1"/>
          <p:nvPr/>
        </p:nvSpPr>
        <p:spPr>
          <a:xfrm>
            <a:off x="1030325" y="172125"/>
            <a:ext cx="6745500" cy="5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Higher order moments</a:t>
            </a:r>
            <a:endParaRPr b="1"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30" name="Google Shape;530;g26d23e5dc12_0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21925" y="2011500"/>
            <a:ext cx="4210050" cy="2619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2c800573588_0_8"/>
          <p:cNvSpPr txBox="1"/>
          <p:nvPr>
            <p:ph idx="1" type="subTitle"/>
          </p:nvPr>
        </p:nvSpPr>
        <p:spPr>
          <a:xfrm>
            <a:off x="765775" y="1212439"/>
            <a:ext cx="6981000" cy="2432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3556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E33"/>
              </a:buClr>
              <a:buSzPts val="2000"/>
              <a:buChar char="●"/>
            </a:pPr>
            <a:r>
              <a:rPr lang="en-US" sz="2000">
                <a:solidFill>
                  <a:srgbClr val="0D0E33"/>
                </a:solidFill>
                <a:highlight>
                  <a:srgbClr val="FFFFFF"/>
                </a:highlight>
              </a:rPr>
              <a:t>These are very useful in statistics because </a:t>
            </a:r>
            <a:r>
              <a:rPr lang="en-US" sz="2000">
                <a:solidFill>
                  <a:srgbClr val="0D0E33"/>
                </a:solidFill>
              </a:rPr>
              <a:t>they </a:t>
            </a:r>
            <a:r>
              <a:rPr b="1" lang="en-US" sz="2000">
                <a:solidFill>
                  <a:srgbClr val="0D0E33"/>
                </a:solidFill>
              </a:rPr>
              <a:t>tell you much about your data.</a:t>
            </a:r>
            <a:endParaRPr b="1" sz="2000">
              <a:solidFill>
                <a:srgbClr val="0D0E33"/>
              </a:solidFill>
              <a:highlight>
                <a:srgbClr val="FCFCFC"/>
              </a:highlight>
            </a:endParaRPr>
          </a:p>
          <a:p>
            <a:pPr indent="-3556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E33"/>
              </a:buClr>
              <a:buSzPts val="2000"/>
              <a:buChar char="●"/>
            </a:pPr>
            <a:r>
              <a:rPr lang="en-US" sz="2000">
                <a:solidFill>
                  <a:srgbClr val="0D0E33"/>
                </a:solidFill>
                <a:highlight>
                  <a:srgbClr val="FCFCFC"/>
                </a:highlight>
              </a:rPr>
              <a:t>The method of moments is a technique for estimating the parameters of a statistical model. </a:t>
            </a:r>
            <a:endParaRPr sz="2000">
              <a:solidFill>
                <a:srgbClr val="0D0E33"/>
              </a:solidFill>
              <a:highlight>
                <a:srgbClr val="FCFCFC"/>
              </a:highlight>
            </a:endParaRPr>
          </a:p>
          <a:p>
            <a:pPr indent="-3556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E33"/>
              </a:buClr>
              <a:buSzPts val="2000"/>
              <a:buChar char="●"/>
            </a:pPr>
            <a:r>
              <a:rPr lang="en-US" sz="2000">
                <a:solidFill>
                  <a:srgbClr val="0D0E33"/>
                </a:solidFill>
                <a:highlight>
                  <a:srgbClr val="FCFCFC"/>
                </a:highlight>
              </a:rPr>
              <a:t>It works by finding values of the parameters that result in a match between the sample moments and the population moments</a:t>
            </a:r>
            <a:endParaRPr sz="2000">
              <a:solidFill>
                <a:srgbClr val="0D0E33"/>
              </a:solidFill>
            </a:endParaRPr>
          </a:p>
        </p:txBody>
      </p:sp>
      <p:sp>
        <p:nvSpPr>
          <p:cNvPr id="536" name="Google Shape;536;g2c800573588_0_8"/>
          <p:cNvSpPr txBox="1"/>
          <p:nvPr/>
        </p:nvSpPr>
        <p:spPr>
          <a:xfrm>
            <a:off x="753025" y="255250"/>
            <a:ext cx="6726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Calibri"/>
                <a:ea typeface="Calibri"/>
                <a:cs typeface="Calibri"/>
                <a:sym typeface="Calibri"/>
              </a:rPr>
              <a:t>Importance of Estimating Moments</a:t>
            </a:r>
            <a:endParaRPr b="1" sz="2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26d23e5dc12_0_1"/>
          <p:cNvSpPr txBox="1"/>
          <p:nvPr>
            <p:ph idx="1" type="subTitle"/>
          </p:nvPr>
        </p:nvSpPr>
        <p:spPr>
          <a:xfrm>
            <a:off x="765775" y="1212439"/>
            <a:ext cx="6981000" cy="3140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3556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E33"/>
              </a:buClr>
              <a:buSzPts val="2000"/>
              <a:buChar char="●"/>
            </a:pPr>
            <a:r>
              <a:rPr lang="en-US" sz="2000">
                <a:solidFill>
                  <a:srgbClr val="0D0E33"/>
                </a:solidFill>
                <a:highlight>
                  <a:srgbClr val="FFFFFF"/>
                </a:highlight>
              </a:rPr>
              <a:t>It has  applications in various disciplines, prominently in engineering, computer science, physics, and finance.</a:t>
            </a:r>
            <a:endParaRPr sz="2000">
              <a:solidFill>
                <a:srgbClr val="0D0E33"/>
              </a:solidFill>
              <a:highlight>
                <a:srgbClr val="FFFFFF"/>
              </a:highlight>
            </a:endParaRPr>
          </a:p>
          <a:p>
            <a:pPr indent="-3556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E33"/>
              </a:buClr>
              <a:buSzPts val="2000"/>
              <a:buChar char="●"/>
            </a:pPr>
            <a:r>
              <a:rPr lang="en-US" sz="2000">
                <a:solidFill>
                  <a:srgbClr val="0D0E33"/>
                </a:solidFill>
                <a:highlight>
                  <a:srgbClr val="FFFFFF"/>
                </a:highlight>
              </a:rPr>
              <a:t>Specifically, it allows for a robust parameter estimation of various types of distributions, enabling decision-making.</a:t>
            </a:r>
            <a:endParaRPr sz="2000">
              <a:solidFill>
                <a:srgbClr val="0D0E33"/>
              </a:solidFill>
              <a:highlight>
                <a:srgbClr val="FFFFFF"/>
              </a:highlight>
            </a:endParaRPr>
          </a:p>
          <a:p>
            <a:pPr indent="-3556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E33"/>
              </a:buClr>
              <a:buSzPts val="2000"/>
              <a:buChar char="●"/>
            </a:pPr>
            <a:r>
              <a:rPr b="1" lang="en-US" sz="2000">
                <a:solidFill>
                  <a:srgbClr val="0D0E33"/>
                </a:solidFill>
                <a:highlight>
                  <a:srgbClr val="FFFFFF"/>
                </a:highlight>
              </a:rPr>
              <a:t>Engineering</a:t>
            </a:r>
            <a:r>
              <a:rPr lang="en-US" sz="2000">
                <a:solidFill>
                  <a:srgbClr val="0D0E33"/>
                </a:solidFill>
                <a:highlight>
                  <a:srgbClr val="FFFFFF"/>
                </a:highlight>
              </a:rPr>
              <a:t>: In system design and control, the Method of Moments plays a significant role in </a:t>
            </a:r>
            <a:r>
              <a:rPr lang="en-US" sz="2000" u="sng">
                <a:solidFill>
                  <a:srgbClr val="0D0E33"/>
                </a:solidFill>
                <a:highlight>
                  <a:srgbClr val="FFFFFF"/>
                </a:highlight>
              </a:rPr>
              <a:t>predictive model building and system behaviour estimation</a:t>
            </a:r>
            <a:r>
              <a:rPr lang="en-US" sz="2000">
                <a:solidFill>
                  <a:srgbClr val="0D0E33"/>
                </a:solidFill>
                <a:highlight>
                  <a:srgbClr val="FFFFFF"/>
                </a:highlight>
              </a:rPr>
              <a:t>. </a:t>
            </a:r>
            <a:endParaRPr sz="2000">
              <a:solidFill>
                <a:srgbClr val="0D0E33"/>
              </a:solidFill>
              <a:highlight>
                <a:srgbClr val="FFFFFF"/>
              </a:highlight>
            </a:endParaRPr>
          </a:p>
          <a:p>
            <a:pPr indent="-3556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E33"/>
              </a:buClr>
              <a:buSzPts val="2000"/>
              <a:buChar char="●"/>
            </a:pPr>
            <a:r>
              <a:rPr lang="en-US" sz="2000">
                <a:solidFill>
                  <a:srgbClr val="0D0E33"/>
                </a:solidFill>
                <a:highlight>
                  <a:srgbClr val="FFFFFF"/>
                </a:highlight>
              </a:rPr>
              <a:t>The method is used to estimate the parameters of the model which best fits the observed system data.</a:t>
            </a:r>
            <a:endParaRPr sz="2000">
              <a:solidFill>
                <a:srgbClr val="0D0E33"/>
              </a:solidFill>
              <a:highlight>
                <a:srgbClr val="FFFFFF"/>
              </a:highlight>
            </a:endParaRPr>
          </a:p>
        </p:txBody>
      </p:sp>
      <p:sp>
        <p:nvSpPr>
          <p:cNvPr id="542" name="Google Shape;542;g26d23e5dc12_0_1"/>
          <p:cNvSpPr txBox="1"/>
          <p:nvPr/>
        </p:nvSpPr>
        <p:spPr>
          <a:xfrm>
            <a:off x="753025" y="255250"/>
            <a:ext cx="6726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Calibri"/>
                <a:ea typeface="Calibri"/>
                <a:cs typeface="Calibri"/>
                <a:sym typeface="Calibri"/>
              </a:rPr>
              <a:t>Applications</a:t>
            </a:r>
            <a:r>
              <a:rPr b="1" lang="en-US" sz="2000">
                <a:latin typeface="Calibri"/>
                <a:ea typeface="Calibri"/>
                <a:cs typeface="Calibri"/>
                <a:sym typeface="Calibri"/>
              </a:rPr>
              <a:t> of Estimating Moments</a:t>
            </a:r>
            <a:endParaRPr b="1" sz="2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g26d23e5dc12_0_8"/>
          <p:cNvSpPr txBox="1"/>
          <p:nvPr>
            <p:ph idx="1" type="subTitle"/>
          </p:nvPr>
        </p:nvSpPr>
        <p:spPr>
          <a:xfrm>
            <a:off x="765775" y="1212439"/>
            <a:ext cx="6981000" cy="3263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355600" lvl="0" marL="4572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D0E33"/>
              </a:buClr>
              <a:buSzPts val="2000"/>
              <a:buChar char="●"/>
            </a:pPr>
            <a:r>
              <a:rPr b="1" lang="en-US" sz="2000">
                <a:solidFill>
                  <a:srgbClr val="0D0E33"/>
                </a:solidFill>
                <a:highlight>
                  <a:srgbClr val="FFFFFF"/>
                </a:highlight>
              </a:rPr>
              <a:t>Computer Science</a:t>
            </a:r>
            <a:r>
              <a:rPr lang="en-US" sz="2000">
                <a:solidFill>
                  <a:srgbClr val="0D0E33"/>
                </a:solidFill>
                <a:highlight>
                  <a:srgbClr val="FFFFFF"/>
                </a:highlight>
              </a:rPr>
              <a:t>: In computer vision and machine learning, the method is employed in the </a:t>
            </a:r>
            <a:r>
              <a:rPr lang="en-US" sz="2000" u="sng">
                <a:solidFill>
                  <a:srgbClr val="0D0E33"/>
                </a:solidFill>
                <a:highlight>
                  <a:srgbClr val="FFFFFF"/>
                </a:highlight>
              </a:rPr>
              <a:t>estimation of shape parameters</a:t>
            </a:r>
            <a:r>
              <a:rPr b="1" lang="en-US" sz="2000">
                <a:solidFill>
                  <a:srgbClr val="0D0E33"/>
                </a:solidFill>
                <a:highlight>
                  <a:srgbClr val="FFFFFF"/>
                </a:highlight>
              </a:rPr>
              <a:t> </a:t>
            </a:r>
            <a:r>
              <a:rPr lang="en-US" sz="2000">
                <a:solidFill>
                  <a:srgbClr val="0D0E33"/>
                </a:solidFill>
                <a:highlight>
                  <a:srgbClr val="FFFFFF"/>
                </a:highlight>
              </a:rPr>
              <a:t>for image segmentation and object recognition.</a:t>
            </a:r>
            <a:endParaRPr sz="2000">
              <a:solidFill>
                <a:srgbClr val="0D0E33"/>
              </a:solidFill>
              <a:highlight>
                <a:srgbClr val="FFFFFF"/>
              </a:highlight>
            </a:endParaRPr>
          </a:p>
          <a:p>
            <a:pPr indent="-355600" lvl="0" marL="4572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D0E33"/>
              </a:buClr>
              <a:buSzPts val="2000"/>
              <a:buChar char="●"/>
            </a:pPr>
            <a:r>
              <a:rPr b="1" lang="en-US" sz="2000">
                <a:solidFill>
                  <a:srgbClr val="0D0E33"/>
                </a:solidFill>
                <a:highlight>
                  <a:srgbClr val="FFFFFF"/>
                </a:highlight>
              </a:rPr>
              <a:t>Physics</a:t>
            </a:r>
            <a:r>
              <a:rPr lang="en-US" sz="2000">
                <a:solidFill>
                  <a:srgbClr val="0D0E33"/>
                </a:solidFill>
                <a:highlight>
                  <a:srgbClr val="FFFFFF"/>
                </a:highlight>
              </a:rPr>
              <a:t>: In statistical and quantum physics, it is employed for deriving information about the </a:t>
            </a:r>
            <a:r>
              <a:rPr lang="en-US" sz="2000" u="sng">
                <a:solidFill>
                  <a:srgbClr val="0D0E33"/>
                </a:solidFill>
                <a:highlight>
                  <a:srgbClr val="FFFFFF"/>
                </a:highlight>
              </a:rPr>
              <a:t>type of inter-particle interactions</a:t>
            </a:r>
            <a:r>
              <a:rPr lang="en-US" sz="2000">
                <a:solidFill>
                  <a:srgbClr val="0D0E33"/>
                </a:solidFill>
                <a:highlight>
                  <a:srgbClr val="FFFFFF"/>
                </a:highlight>
              </a:rPr>
              <a:t> occurring in a system.</a:t>
            </a:r>
            <a:endParaRPr sz="2000">
              <a:solidFill>
                <a:srgbClr val="0D0E33"/>
              </a:solidFill>
              <a:highlight>
                <a:srgbClr val="FFFFFF"/>
              </a:highlight>
            </a:endParaRPr>
          </a:p>
          <a:p>
            <a:pPr indent="-355600" lvl="0" marL="4572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D0E33"/>
              </a:buClr>
              <a:buSzPts val="2000"/>
              <a:buChar char="●"/>
            </a:pPr>
            <a:r>
              <a:rPr b="1" lang="en-US" sz="2000">
                <a:solidFill>
                  <a:srgbClr val="0D0E33"/>
                </a:solidFill>
                <a:highlight>
                  <a:srgbClr val="FFFFFF"/>
                </a:highlight>
              </a:rPr>
              <a:t>Finance</a:t>
            </a:r>
            <a:r>
              <a:rPr lang="en-US" sz="2000">
                <a:solidFill>
                  <a:srgbClr val="0D0E33"/>
                </a:solidFill>
                <a:highlight>
                  <a:srgbClr val="FFFFFF"/>
                </a:highlight>
              </a:rPr>
              <a:t>: Method of Moments finds a home in econometrics too, assisting in </a:t>
            </a:r>
            <a:r>
              <a:rPr lang="en-US" sz="2000" u="sng">
                <a:solidFill>
                  <a:srgbClr val="0D0E33"/>
                </a:solidFill>
                <a:highlight>
                  <a:srgbClr val="FFFFFF"/>
                </a:highlight>
              </a:rPr>
              <a:t>estimating financial risk</a:t>
            </a:r>
            <a:r>
              <a:rPr b="1" lang="en-US" sz="2000">
                <a:solidFill>
                  <a:srgbClr val="0D0E33"/>
                </a:solidFill>
                <a:highlight>
                  <a:srgbClr val="FFFFFF"/>
                </a:highlight>
              </a:rPr>
              <a:t> </a:t>
            </a:r>
            <a:r>
              <a:rPr lang="en-US" sz="2000">
                <a:solidFill>
                  <a:srgbClr val="0D0E33"/>
                </a:solidFill>
                <a:highlight>
                  <a:srgbClr val="FFFFFF"/>
                </a:highlight>
              </a:rPr>
              <a:t>by providing measures of skewness and kurtosis for security returns.</a:t>
            </a:r>
            <a:endParaRPr sz="2000">
              <a:solidFill>
                <a:srgbClr val="0D0E33"/>
              </a:solidFill>
              <a:highlight>
                <a:srgbClr val="FFFFFF"/>
              </a:highlight>
            </a:endParaRPr>
          </a:p>
        </p:txBody>
      </p:sp>
      <p:sp>
        <p:nvSpPr>
          <p:cNvPr id="548" name="Google Shape;548;g26d23e5dc12_0_8"/>
          <p:cNvSpPr txBox="1"/>
          <p:nvPr/>
        </p:nvSpPr>
        <p:spPr>
          <a:xfrm>
            <a:off x="753025" y="255250"/>
            <a:ext cx="6726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26d23e5dc12_0_21"/>
          <p:cNvSpPr txBox="1"/>
          <p:nvPr>
            <p:ph idx="1" type="subTitle"/>
          </p:nvPr>
        </p:nvSpPr>
        <p:spPr>
          <a:xfrm>
            <a:off x="1081500" y="494889"/>
            <a:ext cx="6981000" cy="1785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355600" lvl="0" marL="4572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D0E33"/>
              </a:buClr>
              <a:buSzPts val="2000"/>
              <a:buChar char="●"/>
            </a:pPr>
            <a:r>
              <a:rPr lang="en-US" sz="2000">
                <a:solidFill>
                  <a:srgbClr val="0D0E33"/>
                </a:solidFill>
                <a:highlight>
                  <a:srgbClr val="FFFFFF"/>
                </a:highlight>
              </a:rPr>
              <a:t>Skewness and Kurtosis are used to describe the spread and height of your normal distribution. </a:t>
            </a:r>
            <a:endParaRPr sz="2000">
              <a:solidFill>
                <a:srgbClr val="0D0E33"/>
              </a:solidFill>
              <a:highlight>
                <a:srgbClr val="FFFFFF"/>
              </a:highlight>
            </a:endParaRPr>
          </a:p>
          <a:p>
            <a:pPr indent="-355600" lvl="0" marL="4572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D0E33"/>
              </a:buClr>
              <a:buSzPts val="2000"/>
              <a:buChar char="●"/>
            </a:pPr>
            <a:r>
              <a:rPr lang="en-US" sz="2000">
                <a:solidFill>
                  <a:srgbClr val="0D0E33"/>
                </a:solidFill>
                <a:highlight>
                  <a:srgbClr val="FFFFFF"/>
                </a:highlight>
              </a:rPr>
              <a:t>Skewness is used to denote the horizontal pull on the data, tells you how spread out the data is.</a:t>
            </a:r>
            <a:endParaRPr sz="2000">
              <a:solidFill>
                <a:srgbClr val="0D0E33"/>
              </a:solidFill>
              <a:highlight>
                <a:srgbClr val="FFFFFF"/>
              </a:highlight>
            </a:endParaRPr>
          </a:p>
          <a:p>
            <a:pPr indent="-355600" lvl="0" marL="4572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D0E33"/>
              </a:buClr>
              <a:buSzPts val="2000"/>
              <a:buChar char="●"/>
            </a:pPr>
            <a:r>
              <a:rPr lang="en-US" sz="2000">
                <a:solidFill>
                  <a:srgbClr val="0D0E33"/>
                </a:solidFill>
                <a:highlight>
                  <a:srgbClr val="FFFFFF"/>
                </a:highlight>
              </a:rPr>
              <a:t>Kurtosis is used to find the vertical pull or the peak's height.</a:t>
            </a:r>
            <a:endParaRPr sz="2000">
              <a:solidFill>
                <a:srgbClr val="0D0E33"/>
              </a:solidFill>
              <a:highlight>
                <a:srgbClr val="FFFFFF"/>
              </a:highlight>
            </a:endParaRPr>
          </a:p>
        </p:txBody>
      </p:sp>
      <p:pic>
        <p:nvPicPr>
          <p:cNvPr id="554" name="Google Shape;554;g26d23e5dc12_0_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78200" y="2534689"/>
            <a:ext cx="5445498" cy="2305261"/>
          </a:xfrm>
          <a:prstGeom prst="rect">
            <a:avLst/>
          </a:prstGeom>
          <a:noFill/>
          <a:ln>
            <a:noFill/>
          </a:ln>
        </p:spPr>
      </p:pic>
      <p:sp>
        <p:nvSpPr>
          <p:cNvPr id="555" name="Google Shape;555;g26d23e5dc12_0_21"/>
          <p:cNvSpPr txBox="1"/>
          <p:nvPr/>
        </p:nvSpPr>
        <p:spPr>
          <a:xfrm>
            <a:off x="7023700" y="3899075"/>
            <a:ext cx="18486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Normal distribution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0" name="Google Shape;560;g26d23e5dc12_0_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483025"/>
            <a:ext cx="4865625" cy="285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1" name="Google Shape;561;g26d23e5dc12_0_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59625" y="1366600"/>
            <a:ext cx="3789550" cy="258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g26d23e5dc12_0_48"/>
          <p:cNvSpPr txBox="1"/>
          <p:nvPr/>
        </p:nvSpPr>
        <p:spPr>
          <a:xfrm>
            <a:off x="1384475" y="1420075"/>
            <a:ext cx="7099800" cy="21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Section 4.5 Exercise 4.5.1 : Compute the surprise number (second moment) for the stream 3, 1, 4, 1, 3, 4, 2, 1, 2.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is the third moment of the stream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g2c623facacc_0_0"/>
          <p:cNvSpPr txBox="1"/>
          <p:nvPr>
            <p:ph idx="1" type="subTitle"/>
          </p:nvPr>
        </p:nvSpPr>
        <p:spPr>
          <a:xfrm>
            <a:off x="1063675" y="2880348"/>
            <a:ext cx="6708600" cy="1108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https://pandeyusolution.wordpress.com/estimating-moments/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4"/>
              </a:rPr>
              <a:t>https://www.studysmarter.co.uk/explanations/engineering/engineering-mathematics/method-of-moments/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97A7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2023-03-23T03:37:39Z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  <property fmtid="{D5CDD505-2E9C-101B-9397-08002B2CF9AE}" pid="3" name="LastSaved">
    <vt:filetime>2023-03-23T00:00:00Z</vt:filetime>
  </property>
</Properties>
</file>
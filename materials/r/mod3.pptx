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99" r:id="rId8"/>
    <p:sldId id="262" r:id="rId9"/>
    <p:sldId id="264" r:id="rId10"/>
    <p:sldId id="265" r:id="rId11"/>
    <p:sldId id="300" r:id="rId12"/>
    <p:sldId id="266" r:id="rId13"/>
    <p:sldId id="267" r:id="rId14"/>
    <p:sldId id="268" r:id="rId15"/>
    <p:sldId id="269" r:id="rId16"/>
    <p:sldId id="270" r:id="rId17"/>
    <p:sldId id="271" r:id="rId18"/>
    <p:sldId id="263" r:id="rId19"/>
    <p:sldId id="282" r:id="rId20"/>
    <p:sldId id="281" r:id="rId21"/>
    <p:sldId id="280" r:id="rId22"/>
    <p:sldId id="279" r:id="rId23"/>
    <p:sldId id="278" r:id="rId24"/>
    <p:sldId id="302" r:id="rId25"/>
    <p:sldId id="303" r:id="rId26"/>
    <p:sldId id="305" r:id="rId27"/>
    <p:sldId id="301" r:id="rId28"/>
    <p:sldId id="286" r:id="rId29"/>
    <p:sldId id="277" r:id="rId30"/>
    <p:sldId id="275" r:id="rId31"/>
    <p:sldId id="306" r:id="rId32"/>
    <p:sldId id="276" r:id="rId33"/>
    <p:sldId id="307" r:id="rId34"/>
    <p:sldId id="285" r:id="rId35"/>
    <p:sldId id="284" r:id="rId36"/>
    <p:sldId id="308" r:id="rId37"/>
    <p:sldId id="292" r:id="rId38"/>
    <p:sldId id="293" r:id="rId39"/>
    <p:sldId id="294" r:id="rId40"/>
    <p:sldId id="295" r:id="rId41"/>
    <p:sldId id="296" r:id="rId42"/>
    <p:sldId id="297" r:id="rId43"/>
    <p:sldId id="298" r:id="rId44"/>
    <p:sldId id="304" r:id="rId45"/>
    <p:sldId id="312" r:id="rId46"/>
    <p:sldId id="309" r:id="rId47"/>
    <p:sldId id="316" r:id="rId48"/>
    <p:sldId id="317" r:id="rId49"/>
    <p:sldId id="283" r:id="rId50"/>
    <p:sldId id="272" r:id="rId51"/>
    <p:sldId id="273" r:id="rId52"/>
    <p:sldId id="274" r:id="rId53"/>
    <p:sldId id="287" r:id="rId54"/>
    <p:sldId id="288" r:id="rId55"/>
    <p:sldId id="289" r:id="rId56"/>
    <p:sldId id="290" r:id="rId57"/>
    <p:sldId id="291"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60"/>
  </p:normalViewPr>
  <p:slideViewPr>
    <p:cSldViewPr snapToGrid="0">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4D7D2-B3DB-426B-9232-6FA664821C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DA0C61-2214-41FC-B6EA-3D4E42388E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1FCAA8C-47F3-474E-9A1A-D5CAF81E27B6}"/>
              </a:ext>
            </a:extLst>
          </p:cNvPr>
          <p:cNvSpPr>
            <a:spLocks noGrp="1"/>
          </p:cNvSpPr>
          <p:nvPr>
            <p:ph type="dt" sz="half" idx="10"/>
          </p:nvPr>
        </p:nvSpPr>
        <p:spPr/>
        <p:txBody>
          <a:bodyPr/>
          <a:lstStyle/>
          <a:p>
            <a:fld id="{7F17B660-DDB2-4F0E-961E-10928C20DC93}" type="datetimeFigureOut">
              <a:rPr lang="en-US" smtClean="0"/>
              <a:t>2/27/2025</a:t>
            </a:fld>
            <a:endParaRPr lang="en-US"/>
          </a:p>
        </p:txBody>
      </p:sp>
      <p:sp>
        <p:nvSpPr>
          <p:cNvPr id="5" name="Footer Placeholder 4">
            <a:extLst>
              <a:ext uri="{FF2B5EF4-FFF2-40B4-BE49-F238E27FC236}">
                <a16:creationId xmlns:a16="http://schemas.microsoft.com/office/drawing/2014/main" id="{0FA11835-D67E-4473-B413-EA2B50459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B5EA0-1F34-4F84-967B-421D128026F6}"/>
              </a:ext>
            </a:extLst>
          </p:cNvPr>
          <p:cNvSpPr>
            <a:spLocks noGrp="1"/>
          </p:cNvSpPr>
          <p:nvPr>
            <p:ph type="sldNum" sz="quarter" idx="12"/>
          </p:nvPr>
        </p:nvSpPr>
        <p:spPr/>
        <p:txBody>
          <a:bodyPr/>
          <a:lstStyle/>
          <a:p>
            <a:fld id="{C95F8596-F259-48B6-8C56-273F1C3BCF2E}" type="slidenum">
              <a:rPr lang="en-US" smtClean="0"/>
              <a:t>‹#›</a:t>
            </a:fld>
            <a:endParaRPr lang="en-US"/>
          </a:p>
        </p:txBody>
      </p:sp>
    </p:spTree>
    <p:extLst>
      <p:ext uri="{BB962C8B-B14F-4D97-AF65-F5344CB8AC3E}">
        <p14:creationId xmlns:p14="http://schemas.microsoft.com/office/powerpoint/2010/main" val="4118555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D1BD7-E5B4-4264-8C1F-98511103DA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B6955C-ECE6-4DB5-8EED-7EA4391B7A5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D5D098-5D77-4063-BE7B-F7F91EB91A27}"/>
              </a:ext>
            </a:extLst>
          </p:cNvPr>
          <p:cNvSpPr>
            <a:spLocks noGrp="1"/>
          </p:cNvSpPr>
          <p:nvPr>
            <p:ph type="dt" sz="half" idx="10"/>
          </p:nvPr>
        </p:nvSpPr>
        <p:spPr/>
        <p:txBody>
          <a:bodyPr/>
          <a:lstStyle/>
          <a:p>
            <a:fld id="{7F17B660-DDB2-4F0E-961E-10928C20DC93}" type="datetimeFigureOut">
              <a:rPr lang="en-US" smtClean="0"/>
              <a:t>2/27/2025</a:t>
            </a:fld>
            <a:endParaRPr lang="en-US"/>
          </a:p>
        </p:txBody>
      </p:sp>
      <p:sp>
        <p:nvSpPr>
          <p:cNvPr id="5" name="Footer Placeholder 4">
            <a:extLst>
              <a:ext uri="{FF2B5EF4-FFF2-40B4-BE49-F238E27FC236}">
                <a16:creationId xmlns:a16="http://schemas.microsoft.com/office/drawing/2014/main" id="{2BDFC709-C2B1-4519-860F-F7F6126F16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DE9832-A3AE-4312-9153-77C2532942D3}"/>
              </a:ext>
            </a:extLst>
          </p:cNvPr>
          <p:cNvSpPr>
            <a:spLocks noGrp="1"/>
          </p:cNvSpPr>
          <p:nvPr>
            <p:ph type="sldNum" sz="quarter" idx="12"/>
          </p:nvPr>
        </p:nvSpPr>
        <p:spPr/>
        <p:txBody>
          <a:bodyPr/>
          <a:lstStyle/>
          <a:p>
            <a:fld id="{C95F8596-F259-48B6-8C56-273F1C3BCF2E}" type="slidenum">
              <a:rPr lang="en-US" smtClean="0"/>
              <a:t>‹#›</a:t>
            </a:fld>
            <a:endParaRPr lang="en-US"/>
          </a:p>
        </p:txBody>
      </p:sp>
    </p:spTree>
    <p:extLst>
      <p:ext uri="{BB962C8B-B14F-4D97-AF65-F5344CB8AC3E}">
        <p14:creationId xmlns:p14="http://schemas.microsoft.com/office/powerpoint/2010/main" val="2017619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9E412-C4ED-4196-B21B-2FA5489307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DEE53B-5FF7-46CA-AB4E-B184F6FC2A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1C41BAA-9E3F-4753-9F47-FF20DE5E05DE}"/>
              </a:ext>
            </a:extLst>
          </p:cNvPr>
          <p:cNvSpPr>
            <a:spLocks noGrp="1"/>
          </p:cNvSpPr>
          <p:nvPr>
            <p:ph type="dt" sz="half" idx="10"/>
          </p:nvPr>
        </p:nvSpPr>
        <p:spPr/>
        <p:txBody>
          <a:bodyPr/>
          <a:lstStyle/>
          <a:p>
            <a:fld id="{7F17B660-DDB2-4F0E-961E-10928C20DC93}" type="datetimeFigureOut">
              <a:rPr lang="en-US" smtClean="0"/>
              <a:t>2/27/2025</a:t>
            </a:fld>
            <a:endParaRPr lang="en-US"/>
          </a:p>
        </p:txBody>
      </p:sp>
      <p:sp>
        <p:nvSpPr>
          <p:cNvPr id="5" name="Footer Placeholder 4">
            <a:extLst>
              <a:ext uri="{FF2B5EF4-FFF2-40B4-BE49-F238E27FC236}">
                <a16:creationId xmlns:a16="http://schemas.microsoft.com/office/drawing/2014/main" id="{5FE0119D-88E0-4BE7-8FCB-D424AE5A88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6ADA89-E519-4C3F-BAA8-803AFC6521B8}"/>
              </a:ext>
            </a:extLst>
          </p:cNvPr>
          <p:cNvSpPr>
            <a:spLocks noGrp="1"/>
          </p:cNvSpPr>
          <p:nvPr>
            <p:ph type="sldNum" sz="quarter" idx="12"/>
          </p:nvPr>
        </p:nvSpPr>
        <p:spPr/>
        <p:txBody>
          <a:bodyPr/>
          <a:lstStyle/>
          <a:p>
            <a:fld id="{C95F8596-F259-48B6-8C56-273F1C3BCF2E}" type="slidenum">
              <a:rPr lang="en-US" smtClean="0"/>
              <a:t>‹#›</a:t>
            </a:fld>
            <a:endParaRPr lang="en-US"/>
          </a:p>
        </p:txBody>
      </p:sp>
    </p:spTree>
    <p:extLst>
      <p:ext uri="{BB962C8B-B14F-4D97-AF65-F5344CB8AC3E}">
        <p14:creationId xmlns:p14="http://schemas.microsoft.com/office/powerpoint/2010/main" val="774759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8E114-3BA1-46E5-A827-0D655971E1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788768-12CC-4892-AB9A-DBC49702BAC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9DC059-8B01-407C-B969-21629BF29AE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24AEFD-6445-4FB8-822D-A85DA8EA7451}"/>
              </a:ext>
            </a:extLst>
          </p:cNvPr>
          <p:cNvSpPr>
            <a:spLocks noGrp="1"/>
          </p:cNvSpPr>
          <p:nvPr>
            <p:ph type="dt" sz="half" idx="10"/>
          </p:nvPr>
        </p:nvSpPr>
        <p:spPr/>
        <p:txBody>
          <a:bodyPr/>
          <a:lstStyle/>
          <a:p>
            <a:fld id="{7F17B660-DDB2-4F0E-961E-10928C20DC93}" type="datetimeFigureOut">
              <a:rPr lang="en-US" smtClean="0"/>
              <a:t>2/27/2025</a:t>
            </a:fld>
            <a:endParaRPr lang="en-US"/>
          </a:p>
        </p:txBody>
      </p:sp>
      <p:sp>
        <p:nvSpPr>
          <p:cNvPr id="6" name="Footer Placeholder 5">
            <a:extLst>
              <a:ext uri="{FF2B5EF4-FFF2-40B4-BE49-F238E27FC236}">
                <a16:creationId xmlns:a16="http://schemas.microsoft.com/office/drawing/2014/main" id="{28C6548F-A7AF-4B80-A7C1-60CADD2D9F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98146-CAD0-4E31-AE9A-671F33C4C904}"/>
              </a:ext>
            </a:extLst>
          </p:cNvPr>
          <p:cNvSpPr>
            <a:spLocks noGrp="1"/>
          </p:cNvSpPr>
          <p:nvPr>
            <p:ph type="sldNum" sz="quarter" idx="12"/>
          </p:nvPr>
        </p:nvSpPr>
        <p:spPr/>
        <p:txBody>
          <a:bodyPr/>
          <a:lstStyle/>
          <a:p>
            <a:fld id="{C95F8596-F259-48B6-8C56-273F1C3BCF2E}" type="slidenum">
              <a:rPr lang="en-US" smtClean="0"/>
              <a:t>‹#›</a:t>
            </a:fld>
            <a:endParaRPr lang="en-US"/>
          </a:p>
        </p:txBody>
      </p:sp>
    </p:spTree>
    <p:extLst>
      <p:ext uri="{BB962C8B-B14F-4D97-AF65-F5344CB8AC3E}">
        <p14:creationId xmlns:p14="http://schemas.microsoft.com/office/powerpoint/2010/main" val="2262506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CB59B-6453-4E6D-8E90-1451C77CD4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C31CEE-20D2-4288-B057-CA49328C2E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C292A88-4365-4EBA-8432-36C50540B7A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867623-EC9C-4EA4-9C51-E58F1E515A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150A30D-DC4C-4FAF-9D3E-1EB6395D97C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DC4FED-0E51-4465-93EC-3472B2D21518}"/>
              </a:ext>
            </a:extLst>
          </p:cNvPr>
          <p:cNvSpPr>
            <a:spLocks noGrp="1"/>
          </p:cNvSpPr>
          <p:nvPr>
            <p:ph type="dt" sz="half" idx="10"/>
          </p:nvPr>
        </p:nvSpPr>
        <p:spPr/>
        <p:txBody>
          <a:bodyPr/>
          <a:lstStyle/>
          <a:p>
            <a:fld id="{7F17B660-DDB2-4F0E-961E-10928C20DC93}" type="datetimeFigureOut">
              <a:rPr lang="en-US" smtClean="0"/>
              <a:t>2/27/2025</a:t>
            </a:fld>
            <a:endParaRPr lang="en-US"/>
          </a:p>
        </p:txBody>
      </p:sp>
      <p:sp>
        <p:nvSpPr>
          <p:cNvPr id="8" name="Footer Placeholder 7">
            <a:extLst>
              <a:ext uri="{FF2B5EF4-FFF2-40B4-BE49-F238E27FC236}">
                <a16:creationId xmlns:a16="http://schemas.microsoft.com/office/drawing/2014/main" id="{BF63D655-215F-429A-8B35-F09D87C41AD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23B3EC-7FA4-451E-9E5F-1B61A4F9B811}"/>
              </a:ext>
            </a:extLst>
          </p:cNvPr>
          <p:cNvSpPr>
            <a:spLocks noGrp="1"/>
          </p:cNvSpPr>
          <p:nvPr>
            <p:ph type="sldNum" sz="quarter" idx="12"/>
          </p:nvPr>
        </p:nvSpPr>
        <p:spPr/>
        <p:txBody>
          <a:bodyPr/>
          <a:lstStyle/>
          <a:p>
            <a:fld id="{C95F8596-F259-48B6-8C56-273F1C3BCF2E}" type="slidenum">
              <a:rPr lang="en-US" smtClean="0"/>
              <a:t>‹#›</a:t>
            </a:fld>
            <a:endParaRPr lang="en-US"/>
          </a:p>
        </p:txBody>
      </p:sp>
    </p:spTree>
    <p:extLst>
      <p:ext uri="{BB962C8B-B14F-4D97-AF65-F5344CB8AC3E}">
        <p14:creationId xmlns:p14="http://schemas.microsoft.com/office/powerpoint/2010/main" val="282363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B0F8A-6CE3-49A4-9CBF-AA9AF25265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911593-0B08-4836-AC41-C07FBBEDAAF1}"/>
              </a:ext>
            </a:extLst>
          </p:cNvPr>
          <p:cNvSpPr>
            <a:spLocks noGrp="1"/>
          </p:cNvSpPr>
          <p:nvPr>
            <p:ph type="dt" sz="half" idx="10"/>
          </p:nvPr>
        </p:nvSpPr>
        <p:spPr/>
        <p:txBody>
          <a:bodyPr/>
          <a:lstStyle/>
          <a:p>
            <a:fld id="{7F17B660-DDB2-4F0E-961E-10928C20DC93}" type="datetimeFigureOut">
              <a:rPr lang="en-US" smtClean="0"/>
              <a:t>2/27/2025</a:t>
            </a:fld>
            <a:endParaRPr lang="en-US"/>
          </a:p>
        </p:txBody>
      </p:sp>
      <p:sp>
        <p:nvSpPr>
          <p:cNvPr id="4" name="Footer Placeholder 3">
            <a:extLst>
              <a:ext uri="{FF2B5EF4-FFF2-40B4-BE49-F238E27FC236}">
                <a16:creationId xmlns:a16="http://schemas.microsoft.com/office/drawing/2014/main" id="{2A97AC2B-9B26-450B-A3E8-F762F38E2A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F3E1BD-1B15-4237-A9F9-A4B1159F37CE}"/>
              </a:ext>
            </a:extLst>
          </p:cNvPr>
          <p:cNvSpPr>
            <a:spLocks noGrp="1"/>
          </p:cNvSpPr>
          <p:nvPr>
            <p:ph type="sldNum" sz="quarter" idx="12"/>
          </p:nvPr>
        </p:nvSpPr>
        <p:spPr/>
        <p:txBody>
          <a:bodyPr/>
          <a:lstStyle/>
          <a:p>
            <a:fld id="{C95F8596-F259-48B6-8C56-273F1C3BCF2E}" type="slidenum">
              <a:rPr lang="en-US" smtClean="0"/>
              <a:t>‹#›</a:t>
            </a:fld>
            <a:endParaRPr lang="en-US"/>
          </a:p>
        </p:txBody>
      </p:sp>
    </p:spTree>
    <p:extLst>
      <p:ext uri="{BB962C8B-B14F-4D97-AF65-F5344CB8AC3E}">
        <p14:creationId xmlns:p14="http://schemas.microsoft.com/office/powerpoint/2010/main" val="2367959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EC9C9F-6EA8-455C-A446-9BF12E9415E6}"/>
              </a:ext>
            </a:extLst>
          </p:cNvPr>
          <p:cNvSpPr>
            <a:spLocks noGrp="1"/>
          </p:cNvSpPr>
          <p:nvPr>
            <p:ph type="dt" sz="half" idx="10"/>
          </p:nvPr>
        </p:nvSpPr>
        <p:spPr/>
        <p:txBody>
          <a:bodyPr/>
          <a:lstStyle/>
          <a:p>
            <a:fld id="{7F17B660-DDB2-4F0E-961E-10928C20DC93}" type="datetimeFigureOut">
              <a:rPr lang="en-US" smtClean="0"/>
              <a:t>2/27/2025</a:t>
            </a:fld>
            <a:endParaRPr lang="en-US"/>
          </a:p>
        </p:txBody>
      </p:sp>
      <p:sp>
        <p:nvSpPr>
          <p:cNvPr id="3" name="Footer Placeholder 2">
            <a:extLst>
              <a:ext uri="{FF2B5EF4-FFF2-40B4-BE49-F238E27FC236}">
                <a16:creationId xmlns:a16="http://schemas.microsoft.com/office/drawing/2014/main" id="{A71E6BA1-C41F-41F3-8F3D-A21D223D03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B996F2-429D-480F-AA2A-25DF9A0573F2}"/>
              </a:ext>
            </a:extLst>
          </p:cNvPr>
          <p:cNvSpPr>
            <a:spLocks noGrp="1"/>
          </p:cNvSpPr>
          <p:nvPr>
            <p:ph type="sldNum" sz="quarter" idx="12"/>
          </p:nvPr>
        </p:nvSpPr>
        <p:spPr/>
        <p:txBody>
          <a:bodyPr/>
          <a:lstStyle/>
          <a:p>
            <a:fld id="{C95F8596-F259-48B6-8C56-273F1C3BCF2E}" type="slidenum">
              <a:rPr lang="en-US" smtClean="0"/>
              <a:t>‹#›</a:t>
            </a:fld>
            <a:endParaRPr lang="en-US"/>
          </a:p>
        </p:txBody>
      </p:sp>
    </p:spTree>
    <p:extLst>
      <p:ext uri="{BB962C8B-B14F-4D97-AF65-F5344CB8AC3E}">
        <p14:creationId xmlns:p14="http://schemas.microsoft.com/office/powerpoint/2010/main" val="1941443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17ABB-7EDD-4D84-B2F8-0CE3C0D3E7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76AA75-40D8-4FBE-8680-F7A1641D8E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574244-BCBD-4D84-9AE3-E9C264F068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28421C-F109-43A9-86C0-E13EF5D5C165}"/>
              </a:ext>
            </a:extLst>
          </p:cNvPr>
          <p:cNvSpPr>
            <a:spLocks noGrp="1"/>
          </p:cNvSpPr>
          <p:nvPr>
            <p:ph type="dt" sz="half" idx="10"/>
          </p:nvPr>
        </p:nvSpPr>
        <p:spPr/>
        <p:txBody>
          <a:bodyPr/>
          <a:lstStyle/>
          <a:p>
            <a:fld id="{7F17B660-DDB2-4F0E-961E-10928C20DC93}" type="datetimeFigureOut">
              <a:rPr lang="en-US" smtClean="0"/>
              <a:t>2/27/2025</a:t>
            </a:fld>
            <a:endParaRPr lang="en-US"/>
          </a:p>
        </p:txBody>
      </p:sp>
      <p:sp>
        <p:nvSpPr>
          <p:cNvPr id="6" name="Footer Placeholder 5">
            <a:extLst>
              <a:ext uri="{FF2B5EF4-FFF2-40B4-BE49-F238E27FC236}">
                <a16:creationId xmlns:a16="http://schemas.microsoft.com/office/drawing/2014/main" id="{A5552455-BDFB-4385-8E17-DA7C73F885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FCA795-7814-4E7D-A2B8-4E824CE18967}"/>
              </a:ext>
            </a:extLst>
          </p:cNvPr>
          <p:cNvSpPr>
            <a:spLocks noGrp="1"/>
          </p:cNvSpPr>
          <p:nvPr>
            <p:ph type="sldNum" sz="quarter" idx="12"/>
          </p:nvPr>
        </p:nvSpPr>
        <p:spPr/>
        <p:txBody>
          <a:bodyPr/>
          <a:lstStyle/>
          <a:p>
            <a:fld id="{C95F8596-F259-48B6-8C56-273F1C3BCF2E}" type="slidenum">
              <a:rPr lang="en-US" smtClean="0"/>
              <a:t>‹#›</a:t>
            </a:fld>
            <a:endParaRPr lang="en-US"/>
          </a:p>
        </p:txBody>
      </p:sp>
    </p:spTree>
    <p:extLst>
      <p:ext uri="{BB962C8B-B14F-4D97-AF65-F5344CB8AC3E}">
        <p14:creationId xmlns:p14="http://schemas.microsoft.com/office/powerpoint/2010/main" val="453490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AF228-A6BE-46A9-A9C1-C0053AA5D5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8B3C3D-737B-4B98-815F-9DB4324793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D05CB5-0462-4372-8FC7-8C3D77B074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374CE06-D1A9-4648-B2ED-D09FF825C243}"/>
              </a:ext>
            </a:extLst>
          </p:cNvPr>
          <p:cNvSpPr>
            <a:spLocks noGrp="1"/>
          </p:cNvSpPr>
          <p:nvPr>
            <p:ph type="dt" sz="half" idx="10"/>
          </p:nvPr>
        </p:nvSpPr>
        <p:spPr/>
        <p:txBody>
          <a:bodyPr/>
          <a:lstStyle/>
          <a:p>
            <a:fld id="{7F17B660-DDB2-4F0E-961E-10928C20DC93}" type="datetimeFigureOut">
              <a:rPr lang="en-US" smtClean="0"/>
              <a:t>2/27/2025</a:t>
            </a:fld>
            <a:endParaRPr lang="en-US"/>
          </a:p>
        </p:txBody>
      </p:sp>
      <p:sp>
        <p:nvSpPr>
          <p:cNvPr id="6" name="Footer Placeholder 5">
            <a:extLst>
              <a:ext uri="{FF2B5EF4-FFF2-40B4-BE49-F238E27FC236}">
                <a16:creationId xmlns:a16="http://schemas.microsoft.com/office/drawing/2014/main" id="{446284D4-6F97-45D4-A817-23E0F7AF93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4C528A-1A6C-4C4A-8CE4-15BBFEB66ECB}"/>
              </a:ext>
            </a:extLst>
          </p:cNvPr>
          <p:cNvSpPr>
            <a:spLocks noGrp="1"/>
          </p:cNvSpPr>
          <p:nvPr>
            <p:ph type="sldNum" sz="quarter" idx="12"/>
          </p:nvPr>
        </p:nvSpPr>
        <p:spPr/>
        <p:txBody>
          <a:bodyPr/>
          <a:lstStyle/>
          <a:p>
            <a:fld id="{C95F8596-F259-48B6-8C56-273F1C3BCF2E}" type="slidenum">
              <a:rPr lang="en-US" smtClean="0"/>
              <a:t>‹#›</a:t>
            </a:fld>
            <a:endParaRPr lang="en-US"/>
          </a:p>
        </p:txBody>
      </p:sp>
    </p:spTree>
    <p:extLst>
      <p:ext uri="{BB962C8B-B14F-4D97-AF65-F5344CB8AC3E}">
        <p14:creationId xmlns:p14="http://schemas.microsoft.com/office/powerpoint/2010/main" val="4216808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422F5-E908-456C-93B0-63C50A3FA5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39AA56-2DF4-473C-B5F6-233AC7C92B5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7D9FD1-462F-4320-AD17-054D1460190D}"/>
              </a:ext>
            </a:extLst>
          </p:cNvPr>
          <p:cNvSpPr>
            <a:spLocks noGrp="1"/>
          </p:cNvSpPr>
          <p:nvPr>
            <p:ph type="dt" sz="half" idx="10"/>
          </p:nvPr>
        </p:nvSpPr>
        <p:spPr/>
        <p:txBody>
          <a:bodyPr/>
          <a:lstStyle/>
          <a:p>
            <a:fld id="{7F17B660-DDB2-4F0E-961E-10928C20DC93}" type="datetimeFigureOut">
              <a:rPr lang="en-US" smtClean="0"/>
              <a:t>2/27/2025</a:t>
            </a:fld>
            <a:endParaRPr lang="en-US"/>
          </a:p>
        </p:txBody>
      </p:sp>
      <p:sp>
        <p:nvSpPr>
          <p:cNvPr id="5" name="Footer Placeholder 4">
            <a:extLst>
              <a:ext uri="{FF2B5EF4-FFF2-40B4-BE49-F238E27FC236}">
                <a16:creationId xmlns:a16="http://schemas.microsoft.com/office/drawing/2014/main" id="{0BCBEE2B-7D26-4BED-BEE8-90EDA3248E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71B4CC-370E-43F1-9B22-7982B391965E}"/>
              </a:ext>
            </a:extLst>
          </p:cNvPr>
          <p:cNvSpPr>
            <a:spLocks noGrp="1"/>
          </p:cNvSpPr>
          <p:nvPr>
            <p:ph type="sldNum" sz="quarter" idx="12"/>
          </p:nvPr>
        </p:nvSpPr>
        <p:spPr/>
        <p:txBody>
          <a:bodyPr/>
          <a:lstStyle/>
          <a:p>
            <a:fld id="{C95F8596-F259-48B6-8C56-273F1C3BCF2E}" type="slidenum">
              <a:rPr lang="en-US" smtClean="0"/>
              <a:t>‹#›</a:t>
            </a:fld>
            <a:endParaRPr lang="en-US"/>
          </a:p>
        </p:txBody>
      </p:sp>
    </p:spTree>
    <p:extLst>
      <p:ext uri="{BB962C8B-B14F-4D97-AF65-F5344CB8AC3E}">
        <p14:creationId xmlns:p14="http://schemas.microsoft.com/office/powerpoint/2010/main" val="2617948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56A511-8FCC-43EA-BF54-4102B17C69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307C50-8C3C-4F4A-A175-B35D21DA2C5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845587-88C6-4560-AB20-8DCE81007EE9}"/>
              </a:ext>
            </a:extLst>
          </p:cNvPr>
          <p:cNvSpPr>
            <a:spLocks noGrp="1"/>
          </p:cNvSpPr>
          <p:nvPr>
            <p:ph type="dt" sz="half" idx="10"/>
          </p:nvPr>
        </p:nvSpPr>
        <p:spPr/>
        <p:txBody>
          <a:bodyPr/>
          <a:lstStyle/>
          <a:p>
            <a:fld id="{7F17B660-DDB2-4F0E-961E-10928C20DC93}" type="datetimeFigureOut">
              <a:rPr lang="en-US" smtClean="0"/>
              <a:t>2/27/2025</a:t>
            </a:fld>
            <a:endParaRPr lang="en-US"/>
          </a:p>
        </p:txBody>
      </p:sp>
      <p:sp>
        <p:nvSpPr>
          <p:cNvPr id="5" name="Footer Placeholder 4">
            <a:extLst>
              <a:ext uri="{FF2B5EF4-FFF2-40B4-BE49-F238E27FC236}">
                <a16:creationId xmlns:a16="http://schemas.microsoft.com/office/drawing/2014/main" id="{F7142267-F97F-430E-AE5A-5038A6B1C1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DF61FB-526A-4EB6-BC71-92593E8D7ABF}"/>
              </a:ext>
            </a:extLst>
          </p:cNvPr>
          <p:cNvSpPr>
            <a:spLocks noGrp="1"/>
          </p:cNvSpPr>
          <p:nvPr>
            <p:ph type="sldNum" sz="quarter" idx="12"/>
          </p:nvPr>
        </p:nvSpPr>
        <p:spPr/>
        <p:txBody>
          <a:bodyPr/>
          <a:lstStyle/>
          <a:p>
            <a:fld id="{C95F8596-F259-48B6-8C56-273F1C3BCF2E}" type="slidenum">
              <a:rPr lang="en-US" smtClean="0"/>
              <a:t>‹#›</a:t>
            </a:fld>
            <a:endParaRPr lang="en-US"/>
          </a:p>
        </p:txBody>
      </p:sp>
    </p:spTree>
    <p:extLst>
      <p:ext uri="{BB962C8B-B14F-4D97-AF65-F5344CB8AC3E}">
        <p14:creationId xmlns:p14="http://schemas.microsoft.com/office/powerpoint/2010/main" val="4146042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2ED013-1B22-4B1A-80F5-FF4CE142C4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09CB32-75FB-4A0E-86BA-3C728541D9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92328-016D-48E4-95D0-C8B490527E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17B660-DDB2-4F0E-961E-10928C20DC93}" type="datetimeFigureOut">
              <a:rPr lang="en-US" smtClean="0"/>
              <a:t>2/27/2025</a:t>
            </a:fld>
            <a:endParaRPr lang="en-US"/>
          </a:p>
        </p:txBody>
      </p:sp>
      <p:sp>
        <p:nvSpPr>
          <p:cNvPr id="5" name="Footer Placeholder 4">
            <a:extLst>
              <a:ext uri="{FF2B5EF4-FFF2-40B4-BE49-F238E27FC236}">
                <a16:creationId xmlns:a16="http://schemas.microsoft.com/office/drawing/2014/main" id="{E95C909A-3DEA-48BA-BDE9-FD73412E7F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5FA23B6-1AB0-41F5-B677-26B29A334A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5F8596-F259-48B6-8C56-273F1C3BCF2E}" type="slidenum">
              <a:rPr lang="en-US" smtClean="0"/>
              <a:t>‹#›</a:t>
            </a:fld>
            <a:endParaRPr lang="en-US"/>
          </a:p>
        </p:txBody>
      </p:sp>
    </p:spTree>
    <p:extLst>
      <p:ext uri="{BB962C8B-B14F-4D97-AF65-F5344CB8AC3E}">
        <p14:creationId xmlns:p14="http://schemas.microsoft.com/office/powerpoint/2010/main" val="2702516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4.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EA69D-C562-4E23-ADAE-AACF9CBAC88B}"/>
              </a:ext>
            </a:extLst>
          </p:cNvPr>
          <p:cNvSpPr>
            <a:spLocks noGrp="1"/>
          </p:cNvSpPr>
          <p:nvPr>
            <p:ph type="ctrTitle"/>
          </p:nvPr>
        </p:nvSpPr>
        <p:spPr/>
        <p:txBody>
          <a:bodyPr/>
          <a:lstStyle/>
          <a:p>
            <a:r>
              <a:rPr lang="en-US" dirty="0"/>
              <a:t>MODULE 3</a:t>
            </a:r>
          </a:p>
        </p:txBody>
      </p:sp>
      <p:sp>
        <p:nvSpPr>
          <p:cNvPr id="3" name="Subtitle 2">
            <a:extLst>
              <a:ext uri="{FF2B5EF4-FFF2-40B4-BE49-F238E27FC236}">
                <a16:creationId xmlns:a16="http://schemas.microsoft.com/office/drawing/2014/main" id="{D70B16A7-D706-4269-A49F-6E3B06CF3773}"/>
              </a:ext>
            </a:extLst>
          </p:cNvPr>
          <p:cNvSpPr>
            <a:spLocks noGrp="1"/>
          </p:cNvSpPr>
          <p:nvPr>
            <p:ph type="subTitle" idx="1"/>
          </p:nvPr>
        </p:nvSpPr>
        <p:spPr/>
        <p:txBody>
          <a:bodyPr/>
          <a:lstStyle/>
          <a:p>
            <a:r>
              <a:rPr lang="en-US" dirty="0"/>
              <a:t>STATISTICS WITH R</a:t>
            </a:r>
          </a:p>
        </p:txBody>
      </p:sp>
    </p:spTree>
    <p:extLst>
      <p:ext uri="{BB962C8B-B14F-4D97-AF65-F5344CB8AC3E}">
        <p14:creationId xmlns:p14="http://schemas.microsoft.com/office/powerpoint/2010/main" val="3672351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1422A-0E1D-4372-8802-8591E01D36D7}"/>
              </a:ext>
            </a:extLst>
          </p:cNvPr>
          <p:cNvSpPr>
            <a:spLocks noGrp="1"/>
          </p:cNvSpPr>
          <p:nvPr>
            <p:ph type="title"/>
          </p:nvPr>
        </p:nvSpPr>
        <p:spPr>
          <a:xfrm>
            <a:off x="838200" y="242597"/>
            <a:ext cx="10515600" cy="783770"/>
          </a:xfrm>
        </p:spPr>
        <p:txBody>
          <a:bodyPr/>
          <a:lstStyle/>
          <a:p>
            <a:r>
              <a:rPr lang="en-US" dirty="0"/>
              <a:t>Summary Statistics</a:t>
            </a:r>
          </a:p>
        </p:txBody>
      </p:sp>
      <p:sp>
        <p:nvSpPr>
          <p:cNvPr id="3" name="Content Placeholder 2">
            <a:extLst>
              <a:ext uri="{FF2B5EF4-FFF2-40B4-BE49-F238E27FC236}">
                <a16:creationId xmlns:a16="http://schemas.microsoft.com/office/drawing/2014/main" id="{0340CBB6-A15E-4DF0-8AF5-A889B8E0E581}"/>
              </a:ext>
            </a:extLst>
          </p:cNvPr>
          <p:cNvSpPr>
            <a:spLocks noGrp="1"/>
          </p:cNvSpPr>
          <p:nvPr>
            <p:ph idx="1"/>
          </p:nvPr>
        </p:nvSpPr>
        <p:spPr>
          <a:xfrm>
            <a:off x="838200" y="1222310"/>
            <a:ext cx="10515600" cy="4954653"/>
          </a:xfrm>
        </p:spPr>
        <p:txBody>
          <a:bodyPr>
            <a:normAutofit lnSpcReduction="10000"/>
          </a:bodyPr>
          <a:lstStyle/>
          <a:p>
            <a:r>
              <a:rPr lang="en-US" dirty="0"/>
              <a:t>To calculate mean – mean()</a:t>
            </a:r>
          </a:p>
          <a:p>
            <a:pPr lvl="1"/>
            <a:r>
              <a:rPr lang="en-US" dirty="0"/>
              <a:t>&gt; mean(c(1,2,3,4,5,NA))</a:t>
            </a:r>
          </a:p>
          <a:p>
            <a:pPr lvl="1"/>
            <a:r>
              <a:rPr lang="en-US" dirty="0"/>
              <a:t>[1] NA</a:t>
            </a:r>
          </a:p>
          <a:p>
            <a:pPr lvl="1"/>
            <a:r>
              <a:rPr lang="en-US" dirty="0"/>
              <a:t>&gt; mean(c(1,2,3,4,5,NA),na.rm=TRUE)</a:t>
            </a:r>
          </a:p>
          <a:p>
            <a:pPr lvl="1"/>
            <a:r>
              <a:rPr lang="en-US" dirty="0"/>
              <a:t>[1] 3</a:t>
            </a:r>
          </a:p>
          <a:p>
            <a:r>
              <a:rPr lang="en-US" dirty="0"/>
              <a:t>To calculate minimum – min()</a:t>
            </a:r>
          </a:p>
          <a:p>
            <a:r>
              <a:rPr lang="en-US" dirty="0"/>
              <a:t>To calculate maximum – max()</a:t>
            </a:r>
          </a:p>
          <a:p>
            <a:r>
              <a:rPr lang="en-US" dirty="0"/>
              <a:t>To calculate median – median()</a:t>
            </a:r>
          </a:p>
          <a:p>
            <a:r>
              <a:rPr lang="en-US" dirty="0"/>
              <a:t>To calculate percentile – quantile()</a:t>
            </a:r>
          </a:p>
          <a:p>
            <a:r>
              <a:rPr lang="en-US" dirty="0"/>
              <a:t>To calculate inter quartile range – IQR()</a:t>
            </a:r>
          </a:p>
          <a:p>
            <a:r>
              <a:rPr lang="en-US" dirty="0"/>
              <a:t>To get statistical summary – summary()</a:t>
            </a:r>
          </a:p>
        </p:txBody>
      </p:sp>
    </p:spTree>
    <p:extLst>
      <p:ext uri="{BB962C8B-B14F-4D97-AF65-F5344CB8AC3E}">
        <p14:creationId xmlns:p14="http://schemas.microsoft.com/office/powerpoint/2010/main" val="1069184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CE4C2-4193-4682-951B-0AAE067490E0}"/>
              </a:ext>
            </a:extLst>
          </p:cNvPr>
          <p:cNvSpPr>
            <a:spLocks noGrp="1"/>
          </p:cNvSpPr>
          <p:nvPr>
            <p:ph type="title"/>
          </p:nvPr>
        </p:nvSpPr>
        <p:spPr>
          <a:xfrm>
            <a:off x="838200" y="346465"/>
            <a:ext cx="10515600" cy="446638"/>
          </a:xfrm>
        </p:spPr>
        <p:txBody>
          <a:bodyPr>
            <a:normAutofit fontScale="90000"/>
          </a:bodyPr>
          <a:lstStyle/>
          <a:p>
            <a:r>
              <a:rPr lang="en-US" dirty="0"/>
              <a:t>Correlation and Covariance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44C95A-1063-444D-93B2-9B371BDFF23F}"/>
                  </a:ext>
                </a:extLst>
              </p:cNvPr>
              <p:cNvSpPr>
                <a:spLocks noGrp="1"/>
              </p:cNvSpPr>
              <p:nvPr>
                <p:ph idx="1"/>
              </p:nvPr>
            </p:nvSpPr>
            <p:spPr>
              <a:xfrm>
                <a:off x="838200" y="1054359"/>
                <a:ext cx="10515600" cy="5141265"/>
              </a:xfrm>
            </p:spPr>
            <p:txBody>
              <a:bodyPr>
                <a:normAutofit lnSpcReduction="10000"/>
              </a:bodyPr>
              <a:lstStyle/>
              <a:p>
                <a:r>
                  <a:rPr lang="en-US" b="1" dirty="0"/>
                  <a:t>Correlation :</a:t>
                </a:r>
              </a:p>
              <a:p>
                <a:pPr lvl="1"/>
                <a:r>
                  <a:rPr lang="en-US" dirty="0"/>
                  <a:t>Measures the linear relationship between two variables</a:t>
                </a:r>
              </a:p>
              <a:p>
                <a:pPr lvl="1"/>
                <a:r>
                  <a:rPr lang="en-US" dirty="0"/>
                  <a:t>Correlation ranges from -1 to +1</a:t>
                </a:r>
              </a:p>
              <a:p>
                <a:pPr lvl="1"/>
                <a:r>
                  <a:rPr lang="en-US" dirty="0"/>
                  <a:t>1 means that one variable is a (positive) linear function of the other</a:t>
                </a:r>
              </a:p>
              <a:p>
                <a:pPr lvl="1"/>
                <a:r>
                  <a:rPr lang="en-US" dirty="0"/>
                  <a:t>0 means the two variables aren’t correlated at all </a:t>
                </a:r>
              </a:p>
              <a:p>
                <a:pPr lvl="1"/>
                <a:r>
                  <a:rPr lang="en-US" dirty="0"/>
                  <a:t>−1 means that one variable is a negative linear function of the other (the two move in completely opposite directions</a:t>
                </a:r>
              </a:p>
              <a:p>
                <a:pPr lvl="1"/>
                <a:r>
                  <a:rPr lang="en-US" dirty="0"/>
                  <a:t>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𝐶𝑂𝑉</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𝑦</m:t>
                        </m:r>
                        <m:r>
                          <a:rPr lang="en-US" i="1">
                            <a:latin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𝑥</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𝑦</m:t>
                            </m:r>
                          </m:sub>
                        </m:sSub>
                      </m:den>
                    </m:f>
                  </m:oMath>
                </a14:m>
                <a:endParaRPr lang="en-US" dirty="0"/>
              </a:p>
              <a:p>
                <a:pPr lvl="1"/>
                <a:r>
                  <a:rPr lang="en-US" dirty="0"/>
                  <a:t>Function in R : </a:t>
                </a:r>
                <a:r>
                  <a:rPr lang="en-US" dirty="0" err="1"/>
                  <a:t>cor</a:t>
                </a:r>
                <a:r>
                  <a:rPr lang="en-US" dirty="0"/>
                  <a:t>(x, y = NULL, use = "everything", method = c("</a:t>
                </a:r>
                <a:r>
                  <a:rPr lang="en-US" dirty="0" err="1"/>
                  <a:t>pearson</a:t>
                </a:r>
                <a:r>
                  <a:rPr lang="en-US" dirty="0"/>
                  <a:t>", "</a:t>
                </a:r>
                <a:r>
                  <a:rPr lang="en-US" dirty="0" err="1"/>
                  <a:t>kendall</a:t>
                </a:r>
                <a:r>
                  <a:rPr lang="en-US" dirty="0"/>
                  <a:t>", "spearman"))</a:t>
                </a:r>
              </a:p>
              <a:p>
                <a:r>
                  <a:rPr lang="en-US" dirty="0"/>
                  <a:t>If you specify a matrix or data frame, then </a:t>
                </a:r>
                <a:r>
                  <a:rPr lang="en-US" sz="2400" dirty="0" err="1"/>
                  <a:t>cor</a:t>
                </a:r>
                <a:r>
                  <a:rPr lang="en-US" sz="2400" dirty="0"/>
                  <a:t> </a:t>
                </a:r>
                <a:r>
                  <a:rPr lang="en-US" dirty="0"/>
                  <a:t>will compute the correlation between each air of variables and return a matrix of results.</a:t>
                </a:r>
              </a:p>
            </p:txBody>
          </p:sp>
        </mc:Choice>
        <mc:Fallback xmlns="">
          <p:sp>
            <p:nvSpPr>
              <p:cNvPr id="3" name="Content Placeholder 2">
                <a:extLst>
                  <a:ext uri="{FF2B5EF4-FFF2-40B4-BE49-F238E27FC236}">
                    <a16:creationId xmlns:a16="http://schemas.microsoft.com/office/drawing/2014/main" id="{7844C95A-1063-444D-93B2-9B371BDFF23F}"/>
                  </a:ext>
                </a:extLst>
              </p:cNvPr>
              <p:cNvSpPr>
                <a:spLocks noGrp="1" noRot="1" noChangeAspect="1" noMove="1" noResize="1" noEditPoints="1" noAdjustHandles="1" noChangeArrowheads="1" noChangeShapeType="1" noTextEdit="1"/>
              </p:cNvSpPr>
              <p:nvPr>
                <p:ph idx="1"/>
              </p:nvPr>
            </p:nvSpPr>
            <p:spPr>
              <a:xfrm>
                <a:off x="838200" y="1054359"/>
                <a:ext cx="10515600" cy="5141265"/>
              </a:xfrm>
              <a:blipFill>
                <a:blip r:embed="rId2"/>
                <a:stretch>
                  <a:fillRect l="-1043" t="-2728" r="-23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5855556-F9C6-46E5-A9C2-2BBECB013DC2}"/>
              </a:ext>
            </a:extLst>
          </p:cNvPr>
          <p:cNvPicPr>
            <a:picLocks noChangeAspect="1"/>
          </p:cNvPicPr>
          <p:nvPr/>
        </p:nvPicPr>
        <p:blipFill>
          <a:blip r:embed="rId3"/>
          <a:stretch>
            <a:fillRect/>
          </a:stretch>
        </p:blipFill>
        <p:spPr>
          <a:xfrm>
            <a:off x="6978861" y="3219060"/>
            <a:ext cx="3683358" cy="839756"/>
          </a:xfrm>
          <a:prstGeom prst="rect">
            <a:avLst/>
          </a:prstGeom>
        </p:spPr>
      </p:pic>
    </p:spTree>
    <p:extLst>
      <p:ext uri="{BB962C8B-B14F-4D97-AF65-F5344CB8AC3E}">
        <p14:creationId xmlns:p14="http://schemas.microsoft.com/office/powerpoint/2010/main" val="1319671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F566B-DE42-462F-98BC-EA32C72E51DF}"/>
              </a:ext>
            </a:extLst>
          </p:cNvPr>
          <p:cNvSpPr>
            <a:spLocks noGrp="1"/>
          </p:cNvSpPr>
          <p:nvPr>
            <p:ph type="title"/>
          </p:nvPr>
        </p:nvSpPr>
        <p:spPr>
          <a:xfrm>
            <a:off x="838200" y="365125"/>
            <a:ext cx="10515600" cy="763879"/>
          </a:xfrm>
        </p:spPr>
        <p:txBody>
          <a:bodyPr/>
          <a:lstStyle/>
          <a:p>
            <a:r>
              <a:rPr lang="en-US" dirty="0"/>
              <a:t>Correlation and Covariance</a:t>
            </a:r>
          </a:p>
        </p:txBody>
      </p:sp>
      <p:sp>
        <p:nvSpPr>
          <p:cNvPr id="3" name="Content Placeholder 2">
            <a:extLst>
              <a:ext uri="{FF2B5EF4-FFF2-40B4-BE49-F238E27FC236}">
                <a16:creationId xmlns:a16="http://schemas.microsoft.com/office/drawing/2014/main" id="{A92C5291-DA57-49A7-A4E7-1911B1D9109D}"/>
              </a:ext>
            </a:extLst>
          </p:cNvPr>
          <p:cNvSpPr>
            <a:spLocks noGrp="1"/>
          </p:cNvSpPr>
          <p:nvPr>
            <p:ph idx="1"/>
          </p:nvPr>
        </p:nvSpPr>
        <p:spPr>
          <a:xfrm>
            <a:off x="838200" y="1352939"/>
            <a:ext cx="10515600" cy="4842686"/>
          </a:xfrm>
        </p:spPr>
        <p:txBody>
          <a:bodyPr>
            <a:normAutofit/>
          </a:bodyPr>
          <a:lstStyle/>
          <a:p>
            <a:r>
              <a:rPr lang="en-US" dirty="0"/>
              <a:t>The use argument specifies how the function should treat NA values. If you want an error raised when values are NA, choose use="</a:t>
            </a:r>
            <a:r>
              <a:rPr lang="en-US" dirty="0" err="1"/>
              <a:t>all.obs</a:t>
            </a:r>
            <a:r>
              <a:rPr lang="en-US" dirty="0"/>
              <a:t>“</a:t>
            </a:r>
          </a:p>
          <a:p>
            <a:r>
              <a:rPr lang="en-US" dirty="0"/>
              <a:t>If you would like the result to be NA when an element is NA, choose use="everything". </a:t>
            </a:r>
          </a:p>
          <a:p>
            <a:r>
              <a:rPr lang="en-US" dirty="0"/>
              <a:t>To omit cases where values are NA, choose use="</a:t>
            </a:r>
            <a:r>
              <a:rPr lang="en-US" dirty="0" err="1"/>
              <a:t>complete.obs</a:t>
            </a:r>
            <a:r>
              <a:rPr lang="en-US" dirty="0"/>
              <a:t>". To omit cases where values are NA, but return NA if all values are NA, specify use="</a:t>
            </a:r>
            <a:r>
              <a:rPr lang="en-US" dirty="0" err="1"/>
              <a:t>na.or.complete</a:t>
            </a:r>
            <a:r>
              <a:rPr lang="en-US" dirty="0"/>
              <a:t>". </a:t>
            </a:r>
          </a:p>
          <a:p>
            <a:r>
              <a:rPr lang="en-US" dirty="0"/>
              <a:t>To omit pairs where at least one value is NA, choose use="</a:t>
            </a:r>
            <a:r>
              <a:rPr lang="en-US" dirty="0" err="1"/>
              <a:t>pairwise.complete.obs</a:t>
            </a:r>
            <a:r>
              <a:rPr lang="en-US" dirty="0"/>
              <a:t>".</a:t>
            </a:r>
            <a:endParaRPr lang="en-US" b="1" dirty="0"/>
          </a:p>
        </p:txBody>
      </p:sp>
    </p:spTree>
    <p:extLst>
      <p:ext uri="{BB962C8B-B14F-4D97-AF65-F5344CB8AC3E}">
        <p14:creationId xmlns:p14="http://schemas.microsoft.com/office/powerpoint/2010/main" val="4090449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ED77D-0A89-4E44-BE73-193088F8EC28}"/>
              </a:ext>
            </a:extLst>
          </p:cNvPr>
          <p:cNvSpPr>
            <a:spLocks noGrp="1"/>
          </p:cNvSpPr>
          <p:nvPr>
            <p:ph type="title"/>
          </p:nvPr>
        </p:nvSpPr>
        <p:spPr>
          <a:xfrm>
            <a:off x="838200" y="365126"/>
            <a:ext cx="10515600" cy="717226"/>
          </a:xfrm>
        </p:spPr>
        <p:txBody>
          <a:bodyPr/>
          <a:lstStyle/>
          <a:p>
            <a:r>
              <a:rPr lang="en-US" dirty="0"/>
              <a:t>Correlation and Covariance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A77624-91C1-4A4F-AC58-6D9820CAAFFB}"/>
                  </a:ext>
                </a:extLst>
              </p:cNvPr>
              <p:cNvSpPr>
                <a:spLocks noGrp="1"/>
              </p:cNvSpPr>
              <p:nvPr>
                <p:ph idx="1"/>
              </p:nvPr>
            </p:nvSpPr>
            <p:spPr>
              <a:xfrm>
                <a:off x="838200" y="1343608"/>
                <a:ext cx="10515600" cy="4852016"/>
              </a:xfrm>
            </p:spPr>
            <p:txBody>
              <a:bodyPr/>
              <a:lstStyle/>
              <a:p>
                <a:r>
                  <a:rPr lang="en-US" b="1" dirty="0"/>
                  <a:t>Covariance:</a:t>
                </a:r>
              </a:p>
              <a:p>
                <a:pPr lvl="1"/>
                <a:r>
                  <a:rPr lang="en-US" dirty="0"/>
                  <a:t>Covariance measures the degree to which two variables change together. It indicates the direction of the linear relationship between variables (positive or negative) but doesn't provide a standardized measure like correlation</a:t>
                </a:r>
              </a:p>
              <a:p>
                <a:pPr lvl="1"/>
                <a:r>
                  <a:rPr lang="en-US" dirty="0"/>
                  <a:t>Formula : </a:t>
                </a:r>
                <a14:m>
                  <m:oMath xmlns:m="http://schemas.openxmlformats.org/officeDocument/2006/math">
                    <m:r>
                      <a:rPr lang="en-US" b="0" i="1" smtClean="0">
                        <a:latin typeface="Cambria Math" panose="02040503050406030204" pitchFamily="18" charset="0"/>
                      </a:rPr>
                      <m:t>𝑐𝑜𝑣</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e>
                        </m:nary>
                      </m:num>
                      <m:den>
                        <m:r>
                          <a:rPr lang="en-US" b="0" i="1" smtClean="0">
                            <a:latin typeface="Cambria Math" panose="02040503050406030204" pitchFamily="18" charset="0"/>
                          </a:rPr>
                          <m:t>𝑛</m:t>
                        </m:r>
                      </m:den>
                    </m:f>
                  </m:oMath>
                </a14:m>
                <a:endParaRPr lang="en-US" dirty="0"/>
              </a:p>
              <a:p>
                <a:pPr lvl="1"/>
                <a:r>
                  <a:rPr lang="en-US" dirty="0"/>
                  <a:t>Function in R: </a:t>
                </a:r>
                <a:r>
                  <a:rPr lang="en-US" b="1" dirty="0" err="1"/>
                  <a:t>cov</a:t>
                </a:r>
                <a:r>
                  <a:rPr lang="en-US" b="1" dirty="0"/>
                  <a:t>(x, y = NULL, use = "everything", method = c("</a:t>
                </a:r>
                <a:r>
                  <a:rPr lang="en-US" b="1" dirty="0" err="1"/>
                  <a:t>pearson</a:t>
                </a:r>
                <a:r>
                  <a:rPr lang="en-US" b="1" dirty="0"/>
                  <a:t>", "</a:t>
                </a:r>
                <a:r>
                  <a:rPr lang="en-US" b="1" dirty="0" err="1"/>
                  <a:t>kendall</a:t>
                </a:r>
                <a:r>
                  <a:rPr lang="en-US" b="1" dirty="0"/>
                  <a:t>", "spearman"))</a:t>
                </a:r>
              </a:p>
              <a:p>
                <a:pPr lvl="1"/>
                <a:endParaRPr lang="en-US" dirty="0"/>
              </a:p>
            </p:txBody>
          </p:sp>
        </mc:Choice>
        <mc:Fallback xmlns="">
          <p:sp>
            <p:nvSpPr>
              <p:cNvPr id="3" name="Content Placeholder 2">
                <a:extLst>
                  <a:ext uri="{FF2B5EF4-FFF2-40B4-BE49-F238E27FC236}">
                    <a16:creationId xmlns:a16="http://schemas.microsoft.com/office/drawing/2014/main" id="{97A77624-91C1-4A4F-AC58-6D9820CAAFFB}"/>
                  </a:ext>
                </a:extLst>
              </p:cNvPr>
              <p:cNvSpPr>
                <a:spLocks noGrp="1" noRot="1" noChangeAspect="1" noMove="1" noResize="1" noEditPoints="1" noAdjustHandles="1" noChangeArrowheads="1" noChangeShapeType="1" noTextEdit="1"/>
              </p:cNvSpPr>
              <p:nvPr>
                <p:ph idx="1"/>
              </p:nvPr>
            </p:nvSpPr>
            <p:spPr>
              <a:xfrm>
                <a:off x="838200" y="1343608"/>
                <a:ext cx="10515600" cy="4852016"/>
              </a:xfrm>
              <a:blipFill>
                <a:blip r:embed="rId2"/>
                <a:stretch>
                  <a:fillRect l="-1043" t="-2010"/>
                </a:stretch>
              </a:blipFill>
            </p:spPr>
            <p:txBody>
              <a:bodyPr/>
              <a:lstStyle/>
              <a:p>
                <a:r>
                  <a:rPr lang="en-US">
                    <a:noFill/>
                  </a:rPr>
                  <a:t> </a:t>
                </a:r>
              </a:p>
            </p:txBody>
          </p:sp>
        </mc:Fallback>
      </mc:AlternateContent>
    </p:spTree>
    <p:extLst>
      <p:ext uri="{BB962C8B-B14F-4D97-AF65-F5344CB8AC3E}">
        <p14:creationId xmlns:p14="http://schemas.microsoft.com/office/powerpoint/2010/main" val="4227798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406C8-2CB2-4F2B-BCB1-6E9063FB0306}"/>
              </a:ext>
            </a:extLst>
          </p:cNvPr>
          <p:cNvSpPr>
            <a:spLocks noGrp="1"/>
          </p:cNvSpPr>
          <p:nvPr>
            <p:ph type="title"/>
          </p:nvPr>
        </p:nvSpPr>
        <p:spPr>
          <a:xfrm>
            <a:off x="838200" y="186613"/>
            <a:ext cx="10515600" cy="793101"/>
          </a:xfrm>
        </p:spPr>
        <p:txBody>
          <a:bodyPr/>
          <a:lstStyle/>
          <a:p>
            <a:r>
              <a:rPr lang="en-US" dirty="0"/>
              <a:t>Statistical Testing </a:t>
            </a:r>
          </a:p>
        </p:txBody>
      </p:sp>
      <p:sp>
        <p:nvSpPr>
          <p:cNvPr id="3" name="Content Placeholder 2">
            <a:extLst>
              <a:ext uri="{FF2B5EF4-FFF2-40B4-BE49-F238E27FC236}">
                <a16:creationId xmlns:a16="http://schemas.microsoft.com/office/drawing/2014/main" id="{A240E76A-E987-4292-8D14-29854CA871E4}"/>
              </a:ext>
            </a:extLst>
          </p:cNvPr>
          <p:cNvSpPr>
            <a:spLocks noGrp="1"/>
          </p:cNvSpPr>
          <p:nvPr>
            <p:ph idx="1"/>
          </p:nvPr>
        </p:nvSpPr>
        <p:spPr>
          <a:xfrm>
            <a:off x="838200" y="1259633"/>
            <a:ext cx="10515600" cy="4935992"/>
          </a:xfrm>
        </p:spPr>
        <p:txBody>
          <a:bodyPr>
            <a:normAutofit/>
          </a:bodyPr>
          <a:lstStyle/>
          <a:p>
            <a:r>
              <a:rPr lang="en-US" dirty="0"/>
              <a:t>Statistical testing is used in hypothesis testing</a:t>
            </a:r>
          </a:p>
          <a:p>
            <a:r>
              <a:rPr lang="en-US" dirty="0"/>
              <a:t>In hypothesis testing we evaluate two mutually exclusive statements on a population using a sample of data</a:t>
            </a:r>
          </a:p>
          <a:p>
            <a:r>
              <a:rPr lang="en-US" dirty="0"/>
              <a:t>They can be used to:</a:t>
            </a:r>
          </a:p>
          <a:p>
            <a:pPr lvl="1"/>
            <a:r>
              <a:rPr lang="en-US" sz="2000" dirty="0"/>
              <a:t> </a:t>
            </a:r>
            <a:r>
              <a:rPr lang="en-US" dirty="0"/>
              <a:t>Determine whether a predictor variable has a statistically significant relationship with an outcome variable.</a:t>
            </a:r>
          </a:p>
          <a:p>
            <a:pPr lvl="1"/>
            <a:r>
              <a:rPr lang="en-US" dirty="0"/>
              <a:t>Estimate the difference between two or more groups</a:t>
            </a:r>
          </a:p>
          <a:p>
            <a:pPr marL="0" indent="0">
              <a:buNone/>
            </a:pPr>
            <a:endParaRPr lang="en-US" dirty="0"/>
          </a:p>
        </p:txBody>
      </p:sp>
    </p:spTree>
    <p:extLst>
      <p:ext uri="{BB962C8B-B14F-4D97-AF65-F5344CB8AC3E}">
        <p14:creationId xmlns:p14="http://schemas.microsoft.com/office/powerpoint/2010/main" val="1720936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406C8-2CB2-4F2B-BCB1-6E9063FB0306}"/>
              </a:ext>
            </a:extLst>
          </p:cNvPr>
          <p:cNvSpPr>
            <a:spLocks noGrp="1"/>
          </p:cNvSpPr>
          <p:nvPr>
            <p:ph type="title"/>
          </p:nvPr>
        </p:nvSpPr>
        <p:spPr>
          <a:xfrm>
            <a:off x="838200" y="186613"/>
            <a:ext cx="10515600" cy="793101"/>
          </a:xfrm>
        </p:spPr>
        <p:txBody>
          <a:bodyPr/>
          <a:lstStyle/>
          <a:p>
            <a:r>
              <a:rPr lang="en-US" dirty="0"/>
              <a:t>Statistical Testing </a:t>
            </a:r>
          </a:p>
        </p:txBody>
      </p:sp>
      <p:sp>
        <p:nvSpPr>
          <p:cNvPr id="3" name="Content Placeholder 2">
            <a:extLst>
              <a:ext uri="{FF2B5EF4-FFF2-40B4-BE49-F238E27FC236}">
                <a16:creationId xmlns:a16="http://schemas.microsoft.com/office/drawing/2014/main" id="{A240E76A-E987-4292-8D14-29854CA871E4}"/>
              </a:ext>
            </a:extLst>
          </p:cNvPr>
          <p:cNvSpPr>
            <a:spLocks noGrp="1"/>
          </p:cNvSpPr>
          <p:nvPr>
            <p:ph idx="1"/>
          </p:nvPr>
        </p:nvSpPr>
        <p:spPr>
          <a:xfrm>
            <a:off x="838200" y="1259633"/>
            <a:ext cx="10515600" cy="4935992"/>
          </a:xfrm>
        </p:spPr>
        <p:txBody>
          <a:bodyPr>
            <a:normAutofit/>
          </a:bodyPr>
          <a:lstStyle/>
          <a:p>
            <a:r>
              <a:rPr lang="en-US" dirty="0"/>
              <a:t>Steps in hypothesis testing:</a:t>
            </a:r>
          </a:p>
          <a:p>
            <a:pPr marL="514350" indent="-514350">
              <a:buFont typeface="+mj-lt"/>
              <a:buAutoNum type="arabicPeriod"/>
            </a:pPr>
            <a:r>
              <a:rPr lang="en-US" dirty="0"/>
              <a:t>Make Initial assumption (H0)</a:t>
            </a:r>
          </a:p>
          <a:p>
            <a:pPr marL="514350" indent="-514350">
              <a:buFont typeface="+mj-lt"/>
              <a:buAutoNum type="arabicPeriod"/>
            </a:pPr>
            <a:r>
              <a:rPr lang="en-US" dirty="0"/>
              <a:t>Collect data</a:t>
            </a:r>
          </a:p>
          <a:p>
            <a:pPr marL="514350" indent="-514350">
              <a:buFont typeface="+mj-lt"/>
              <a:buAutoNum type="arabicPeriod"/>
            </a:pPr>
            <a:r>
              <a:rPr lang="en-US" dirty="0"/>
              <a:t>Gather Evidence to reject or not reject the null hypothesis</a:t>
            </a:r>
          </a:p>
          <a:p>
            <a:endParaRPr lang="en-US" dirty="0"/>
          </a:p>
        </p:txBody>
      </p:sp>
    </p:spTree>
    <p:extLst>
      <p:ext uri="{BB962C8B-B14F-4D97-AF65-F5344CB8AC3E}">
        <p14:creationId xmlns:p14="http://schemas.microsoft.com/office/powerpoint/2010/main" val="2860367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8DCB-CF1C-4300-9886-02FC6EA6EA1C}"/>
              </a:ext>
            </a:extLst>
          </p:cNvPr>
          <p:cNvSpPr>
            <a:spLocks noGrp="1"/>
          </p:cNvSpPr>
          <p:nvPr>
            <p:ph type="title"/>
          </p:nvPr>
        </p:nvSpPr>
        <p:spPr>
          <a:xfrm>
            <a:off x="838200" y="365126"/>
            <a:ext cx="10515600" cy="717226"/>
          </a:xfrm>
        </p:spPr>
        <p:txBody>
          <a:bodyPr/>
          <a:lstStyle/>
          <a:p>
            <a:r>
              <a:rPr lang="en-US" dirty="0"/>
              <a:t>Statistical Testing</a:t>
            </a:r>
          </a:p>
        </p:txBody>
      </p:sp>
      <p:sp>
        <p:nvSpPr>
          <p:cNvPr id="3" name="Content Placeholder 2">
            <a:extLst>
              <a:ext uri="{FF2B5EF4-FFF2-40B4-BE49-F238E27FC236}">
                <a16:creationId xmlns:a16="http://schemas.microsoft.com/office/drawing/2014/main" id="{CDA3B613-5C37-4E1D-9380-0CDECCB50A8A}"/>
              </a:ext>
            </a:extLst>
          </p:cNvPr>
          <p:cNvSpPr>
            <a:spLocks noGrp="1"/>
          </p:cNvSpPr>
          <p:nvPr>
            <p:ph idx="1"/>
          </p:nvPr>
        </p:nvSpPr>
        <p:spPr>
          <a:xfrm>
            <a:off x="838200" y="968189"/>
            <a:ext cx="10515600" cy="5827058"/>
          </a:xfrm>
        </p:spPr>
        <p:txBody>
          <a:bodyPr>
            <a:normAutofit/>
          </a:bodyPr>
          <a:lstStyle/>
          <a:p>
            <a:r>
              <a:rPr lang="en-US" dirty="0"/>
              <a:t>Statistical tests assume a null hypothesis of no relationship or no difference between groups. </a:t>
            </a:r>
          </a:p>
          <a:p>
            <a:r>
              <a:rPr lang="en-US" dirty="0"/>
              <a:t>Then they determine whether the observed data fall outside of the range of values predicted by the null hypothesis.</a:t>
            </a:r>
          </a:p>
          <a:p>
            <a:r>
              <a:rPr lang="en-US" dirty="0"/>
              <a:t> Statistical tests work by calculating a test statistic –a number that describes how much the relationship between variables in your test differs from the null hypothesis of no relationship.</a:t>
            </a:r>
          </a:p>
          <a:p>
            <a:r>
              <a:rPr lang="en-US" dirty="0"/>
              <a:t> It then calculates a p value (probability value). </a:t>
            </a:r>
          </a:p>
          <a:p>
            <a:r>
              <a:rPr lang="en-US" dirty="0"/>
              <a:t>The p-value estimates how likely it is that you would see the difference described by the test statistic if the null hypothesis of no relationship were true.</a:t>
            </a:r>
          </a:p>
          <a:p>
            <a:pPr marL="0" indent="0">
              <a:buNone/>
            </a:pPr>
            <a:endParaRPr lang="en-US" dirty="0"/>
          </a:p>
        </p:txBody>
      </p:sp>
    </p:spTree>
    <p:extLst>
      <p:ext uri="{BB962C8B-B14F-4D97-AF65-F5344CB8AC3E}">
        <p14:creationId xmlns:p14="http://schemas.microsoft.com/office/powerpoint/2010/main" val="353176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8DCB-CF1C-4300-9886-02FC6EA6EA1C}"/>
              </a:ext>
            </a:extLst>
          </p:cNvPr>
          <p:cNvSpPr>
            <a:spLocks noGrp="1"/>
          </p:cNvSpPr>
          <p:nvPr>
            <p:ph type="title"/>
          </p:nvPr>
        </p:nvSpPr>
        <p:spPr>
          <a:xfrm>
            <a:off x="838200" y="365126"/>
            <a:ext cx="10515600" cy="717226"/>
          </a:xfrm>
        </p:spPr>
        <p:txBody>
          <a:bodyPr/>
          <a:lstStyle/>
          <a:p>
            <a:r>
              <a:rPr lang="en-US" dirty="0"/>
              <a:t>Statistical Testing</a:t>
            </a:r>
          </a:p>
        </p:txBody>
      </p:sp>
      <p:sp>
        <p:nvSpPr>
          <p:cNvPr id="3" name="Content Placeholder 2">
            <a:extLst>
              <a:ext uri="{FF2B5EF4-FFF2-40B4-BE49-F238E27FC236}">
                <a16:creationId xmlns:a16="http://schemas.microsoft.com/office/drawing/2014/main" id="{CDA3B613-5C37-4E1D-9380-0CDECCB50A8A}"/>
              </a:ext>
            </a:extLst>
          </p:cNvPr>
          <p:cNvSpPr>
            <a:spLocks noGrp="1"/>
          </p:cNvSpPr>
          <p:nvPr>
            <p:ph idx="1"/>
          </p:nvPr>
        </p:nvSpPr>
        <p:spPr>
          <a:xfrm>
            <a:off x="838200" y="1082352"/>
            <a:ext cx="10515600" cy="5626358"/>
          </a:xfrm>
        </p:spPr>
        <p:txBody>
          <a:bodyPr>
            <a:normAutofit/>
          </a:bodyPr>
          <a:lstStyle/>
          <a:p>
            <a:r>
              <a:rPr lang="en-US" dirty="0"/>
              <a:t>If the value of the test statistic is more extreme than the statistic calculated from the null hypothesis, then you can infer a statistically significant relationship between the predictor and outcome variables.</a:t>
            </a:r>
          </a:p>
          <a:p>
            <a:r>
              <a:rPr lang="en-US" dirty="0"/>
              <a:t> If the value of the test statistic is less extreme than the one calculated from the null hypothesis, then you can infer no statistically significant relationship between the predictor and outcome variables.</a:t>
            </a:r>
          </a:p>
          <a:p>
            <a:r>
              <a:rPr lang="en-US" dirty="0"/>
              <a:t>For a statistical test to be valid, your sample size needs to be large enough to approximate the true distribution of the population being studied</a:t>
            </a:r>
          </a:p>
        </p:txBody>
      </p:sp>
    </p:spTree>
    <p:extLst>
      <p:ext uri="{BB962C8B-B14F-4D97-AF65-F5344CB8AC3E}">
        <p14:creationId xmlns:p14="http://schemas.microsoft.com/office/powerpoint/2010/main" val="3196975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8DCB-CF1C-4300-9886-02FC6EA6EA1C}"/>
              </a:ext>
            </a:extLst>
          </p:cNvPr>
          <p:cNvSpPr>
            <a:spLocks noGrp="1"/>
          </p:cNvSpPr>
          <p:nvPr>
            <p:ph type="title"/>
          </p:nvPr>
        </p:nvSpPr>
        <p:spPr>
          <a:xfrm>
            <a:off x="838200" y="131856"/>
            <a:ext cx="10515600" cy="717226"/>
          </a:xfrm>
        </p:spPr>
        <p:txBody>
          <a:bodyPr/>
          <a:lstStyle/>
          <a:p>
            <a:r>
              <a:rPr lang="en-US" dirty="0"/>
              <a:t>Statistical Testing</a:t>
            </a:r>
          </a:p>
        </p:txBody>
      </p:sp>
      <p:sp>
        <p:nvSpPr>
          <p:cNvPr id="3" name="Content Placeholder 2">
            <a:extLst>
              <a:ext uri="{FF2B5EF4-FFF2-40B4-BE49-F238E27FC236}">
                <a16:creationId xmlns:a16="http://schemas.microsoft.com/office/drawing/2014/main" id="{CDA3B613-5C37-4E1D-9380-0CDECCB50A8A}"/>
              </a:ext>
            </a:extLst>
          </p:cNvPr>
          <p:cNvSpPr>
            <a:spLocks noGrp="1"/>
          </p:cNvSpPr>
          <p:nvPr>
            <p:ph idx="1"/>
          </p:nvPr>
        </p:nvSpPr>
        <p:spPr>
          <a:xfrm>
            <a:off x="410547" y="849082"/>
            <a:ext cx="11551298" cy="5859628"/>
          </a:xfrm>
        </p:spPr>
        <p:txBody>
          <a:bodyPr>
            <a:normAutofit/>
          </a:bodyPr>
          <a:lstStyle/>
          <a:p>
            <a:r>
              <a:rPr lang="en-US" dirty="0"/>
              <a:t>How to determine which statistical test to use?</a:t>
            </a:r>
          </a:p>
          <a:p>
            <a:pPr marL="0" indent="0">
              <a:buNone/>
            </a:pPr>
            <a:r>
              <a:rPr lang="en-US" dirty="0"/>
              <a:t>1. Whether your data meets certain assumptions</a:t>
            </a:r>
          </a:p>
          <a:p>
            <a:pPr lvl="1"/>
            <a:r>
              <a:rPr lang="en-US" sz="2000" dirty="0"/>
              <a:t> </a:t>
            </a:r>
            <a:r>
              <a:rPr lang="en-US" dirty="0"/>
              <a:t>Statistical tests make some common assumptions about the data they are testing:</a:t>
            </a:r>
          </a:p>
          <a:p>
            <a:pPr marL="457200" lvl="1" indent="0">
              <a:buNone/>
            </a:pPr>
            <a:endParaRPr lang="en-US" dirty="0"/>
          </a:p>
          <a:p>
            <a:pPr lvl="2"/>
            <a:r>
              <a:rPr lang="en-US" sz="1600" dirty="0"/>
              <a:t> </a:t>
            </a:r>
            <a:r>
              <a:rPr lang="en-US" dirty="0"/>
              <a:t>Independence of observations (a.k.a. no autocorrelation): The observations/variables you include in your test are not related (for example, multiple measurements of a single test subject are not independent, while measurements of multiple different test subjects are independent).</a:t>
            </a:r>
          </a:p>
          <a:p>
            <a:pPr lvl="2"/>
            <a:r>
              <a:rPr lang="en-US" dirty="0"/>
              <a:t>Homogeneity of variance: the variance within each group being compared is similar among all groups. If one group has much more variation than others, it will limit the test’s effectiveness.</a:t>
            </a:r>
          </a:p>
          <a:p>
            <a:pPr lvl="2"/>
            <a:r>
              <a:rPr lang="en-US" dirty="0"/>
              <a:t>Normality of data: the data follows a normal distribution (a.k.a. a bell curve). This assumption applies only to quantitative data</a:t>
            </a:r>
          </a:p>
        </p:txBody>
      </p:sp>
    </p:spTree>
    <p:extLst>
      <p:ext uri="{BB962C8B-B14F-4D97-AF65-F5344CB8AC3E}">
        <p14:creationId xmlns:p14="http://schemas.microsoft.com/office/powerpoint/2010/main" val="3611739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8DCB-CF1C-4300-9886-02FC6EA6EA1C}"/>
              </a:ext>
            </a:extLst>
          </p:cNvPr>
          <p:cNvSpPr>
            <a:spLocks noGrp="1"/>
          </p:cNvSpPr>
          <p:nvPr>
            <p:ph type="title"/>
          </p:nvPr>
        </p:nvSpPr>
        <p:spPr>
          <a:xfrm>
            <a:off x="838200" y="131856"/>
            <a:ext cx="10515600" cy="717226"/>
          </a:xfrm>
        </p:spPr>
        <p:txBody>
          <a:bodyPr/>
          <a:lstStyle/>
          <a:p>
            <a:r>
              <a:rPr lang="en-US" dirty="0"/>
              <a:t>Statistical Testing</a:t>
            </a:r>
          </a:p>
        </p:txBody>
      </p:sp>
      <p:sp>
        <p:nvSpPr>
          <p:cNvPr id="3" name="Content Placeholder 2">
            <a:extLst>
              <a:ext uri="{FF2B5EF4-FFF2-40B4-BE49-F238E27FC236}">
                <a16:creationId xmlns:a16="http://schemas.microsoft.com/office/drawing/2014/main" id="{CDA3B613-5C37-4E1D-9380-0CDECCB50A8A}"/>
              </a:ext>
            </a:extLst>
          </p:cNvPr>
          <p:cNvSpPr>
            <a:spLocks noGrp="1"/>
          </p:cNvSpPr>
          <p:nvPr>
            <p:ph idx="1"/>
          </p:nvPr>
        </p:nvSpPr>
        <p:spPr>
          <a:xfrm>
            <a:off x="410547" y="849082"/>
            <a:ext cx="11551298" cy="5859628"/>
          </a:xfrm>
        </p:spPr>
        <p:txBody>
          <a:bodyPr>
            <a:normAutofit/>
          </a:bodyPr>
          <a:lstStyle/>
          <a:p>
            <a:r>
              <a:rPr lang="en-US" dirty="0"/>
              <a:t>How to determine which statistical test to use?</a:t>
            </a:r>
          </a:p>
          <a:p>
            <a:r>
              <a:rPr lang="en-US" dirty="0"/>
              <a:t>If your data do not meet the assumptions of normality or homogeneity of variance, you may be able to perform a nonparametric statistical test, which allows you to make comparisons without any assumptions about the data distribution.</a:t>
            </a:r>
          </a:p>
          <a:p>
            <a:r>
              <a:rPr lang="en-US" dirty="0"/>
              <a:t>If your data do not meet the assumption of independence of observations, you may be able to use a test that accounts for structure in your data (repeated-measures tests or tests that include blocking variables).</a:t>
            </a:r>
          </a:p>
        </p:txBody>
      </p:sp>
    </p:spTree>
    <p:extLst>
      <p:ext uri="{BB962C8B-B14F-4D97-AF65-F5344CB8AC3E}">
        <p14:creationId xmlns:p14="http://schemas.microsoft.com/office/powerpoint/2010/main" val="1123681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8DCB-CF1C-4300-9886-02FC6EA6EA1C}"/>
              </a:ext>
            </a:extLst>
          </p:cNvPr>
          <p:cNvSpPr>
            <a:spLocks noGrp="1"/>
          </p:cNvSpPr>
          <p:nvPr>
            <p:ph type="title"/>
          </p:nvPr>
        </p:nvSpPr>
        <p:spPr>
          <a:xfrm>
            <a:off x="838200" y="131856"/>
            <a:ext cx="10515600" cy="717226"/>
          </a:xfrm>
        </p:spPr>
        <p:txBody>
          <a:bodyPr/>
          <a:lstStyle/>
          <a:p>
            <a:r>
              <a:rPr lang="en-US" dirty="0"/>
              <a:t>Statistical Testing</a:t>
            </a:r>
          </a:p>
        </p:txBody>
      </p:sp>
      <p:sp>
        <p:nvSpPr>
          <p:cNvPr id="3" name="Content Placeholder 2">
            <a:extLst>
              <a:ext uri="{FF2B5EF4-FFF2-40B4-BE49-F238E27FC236}">
                <a16:creationId xmlns:a16="http://schemas.microsoft.com/office/drawing/2014/main" id="{CDA3B613-5C37-4E1D-9380-0CDECCB50A8A}"/>
              </a:ext>
            </a:extLst>
          </p:cNvPr>
          <p:cNvSpPr>
            <a:spLocks noGrp="1"/>
          </p:cNvSpPr>
          <p:nvPr>
            <p:ph idx="1"/>
          </p:nvPr>
        </p:nvSpPr>
        <p:spPr>
          <a:xfrm>
            <a:off x="410547" y="849082"/>
            <a:ext cx="11551298" cy="5859628"/>
          </a:xfrm>
        </p:spPr>
        <p:txBody>
          <a:bodyPr>
            <a:normAutofit/>
          </a:bodyPr>
          <a:lstStyle/>
          <a:p>
            <a:pPr marL="0" indent="0">
              <a:buNone/>
            </a:pPr>
            <a:r>
              <a:rPr lang="en-US" dirty="0"/>
              <a:t>2. The types of variables that you are dealing with</a:t>
            </a:r>
          </a:p>
          <a:p>
            <a:r>
              <a:rPr lang="en-US" dirty="0"/>
              <a:t>Quantitative vs categorical variables</a:t>
            </a:r>
          </a:p>
          <a:p>
            <a:r>
              <a:rPr lang="en-US" dirty="0"/>
              <a:t>Data is a specific measurement of a variable –it is the value you record in your data sheet. Data is generally divided into two categories:</a:t>
            </a:r>
          </a:p>
          <a:p>
            <a:r>
              <a:rPr lang="en-US" dirty="0"/>
              <a:t>Quantitative data represents amounts</a:t>
            </a:r>
          </a:p>
          <a:p>
            <a:r>
              <a:rPr lang="en-US" dirty="0"/>
              <a:t>Categorical data represents groupings</a:t>
            </a:r>
          </a:p>
          <a:p>
            <a:r>
              <a:rPr lang="en-US" dirty="0"/>
              <a:t>A variable that contains quantitative data is a quantitative variable; a variable that contains categorical data is a categorical variable. Each of these types of variables can be broken down into further types.</a:t>
            </a:r>
          </a:p>
          <a:p>
            <a:r>
              <a:rPr lang="en-US" b="1" dirty="0"/>
              <a:t>Quantitative variables</a:t>
            </a:r>
            <a:endParaRPr lang="en-US" dirty="0"/>
          </a:p>
          <a:p>
            <a:pPr lvl="1"/>
            <a:r>
              <a:rPr lang="en-US" dirty="0"/>
              <a:t>When you collect quantitative data, the numbers you record represent real amounts that can be added, subtracted, divided, etc. There are two types of quantitative variables: discrete and continuous. </a:t>
            </a:r>
          </a:p>
        </p:txBody>
      </p:sp>
    </p:spTree>
    <p:extLst>
      <p:ext uri="{BB962C8B-B14F-4D97-AF65-F5344CB8AC3E}">
        <p14:creationId xmlns:p14="http://schemas.microsoft.com/office/powerpoint/2010/main" val="26074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8DCB-CF1C-4300-9886-02FC6EA6EA1C}"/>
              </a:ext>
            </a:extLst>
          </p:cNvPr>
          <p:cNvSpPr>
            <a:spLocks noGrp="1"/>
          </p:cNvSpPr>
          <p:nvPr>
            <p:ph type="title"/>
          </p:nvPr>
        </p:nvSpPr>
        <p:spPr>
          <a:xfrm>
            <a:off x="838200" y="131856"/>
            <a:ext cx="10515600" cy="717226"/>
          </a:xfrm>
        </p:spPr>
        <p:txBody>
          <a:bodyPr/>
          <a:lstStyle/>
          <a:p>
            <a:r>
              <a:rPr lang="en-US" dirty="0"/>
              <a:t>Statistical Testing</a:t>
            </a:r>
          </a:p>
        </p:txBody>
      </p:sp>
      <p:pic>
        <p:nvPicPr>
          <p:cNvPr id="4" name="Content Placeholder 3">
            <a:extLst>
              <a:ext uri="{FF2B5EF4-FFF2-40B4-BE49-F238E27FC236}">
                <a16:creationId xmlns:a16="http://schemas.microsoft.com/office/drawing/2014/main" id="{7866D0C2-EEBD-4574-8D94-824B91CB5E4E}"/>
              </a:ext>
            </a:extLst>
          </p:cNvPr>
          <p:cNvPicPr>
            <a:picLocks noGrp="1" noChangeAspect="1"/>
          </p:cNvPicPr>
          <p:nvPr>
            <p:ph idx="1"/>
          </p:nvPr>
        </p:nvPicPr>
        <p:blipFill>
          <a:blip r:embed="rId2"/>
          <a:stretch>
            <a:fillRect/>
          </a:stretch>
        </p:blipFill>
        <p:spPr>
          <a:xfrm>
            <a:off x="1073020" y="1280477"/>
            <a:ext cx="9097347" cy="3403489"/>
          </a:xfrm>
          <a:prstGeom prst="rect">
            <a:avLst/>
          </a:prstGeom>
        </p:spPr>
      </p:pic>
    </p:spTree>
    <p:extLst>
      <p:ext uri="{BB962C8B-B14F-4D97-AF65-F5344CB8AC3E}">
        <p14:creationId xmlns:p14="http://schemas.microsoft.com/office/powerpoint/2010/main" val="2616926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8DCB-CF1C-4300-9886-02FC6EA6EA1C}"/>
              </a:ext>
            </a:extLst>
          </p:cNvPr>
          <p:cNvSpPr>
            <a:spLocks noGrp="1"/>
          </p:cNvSpPr>
          <p:nvPr>
            <p:ph type="title"/>
          </p:nvPr>
        </p:nvSpPr>
        <p:spPr>
          <a:xfrm>
            <a:off x="838200" y="131856"/>
            <a:ext cx="10515600" cy="717226"/>
          </a:xfrm>
        </p:spPr>
        <p:txBody>
          <a:bodyPr/>
          <a:lstStyle/>
          <a:p>
            <a:r>
              <a:rPr lang="en-US" dirty="0"/>
              <a:t>Statistical Testing</a:t>
            </a:r>
          </a:p>
        </p:txBody>
      </p:sp>
      <p:sp>
        <p:nvSpPr>
          <p:cNvPr id="3" name="Content Placeholder 2">
            <a:extLst>
              <a:ext uri="{FF2B5EF4-FFF2-40B4-BE49-F238E27FC236}">
                <a16:creationId xmlns:a16="http://schemas.microsoft.com/office/drawing/2014/main" id="{CDA3B613-5C37-4E1D-9380-0CDECCB50A8A}"/>
              </a:ext>
            </a:extLst>
          </p:cNvPr>
          <p:cNvSpPr>
            <a:spLocks noGrp="1"/>
          </p:cNvSpPr>
          <p:nvPr>
            <p:ph idx="1"/>
          </p:nvPr>
        </p:nvSpPr>
        <p:spPr>
          <a:xfrm>
            <a:off x="410547" y="849082"/>
            <a:ext cx="11551298" cy="5859628"/>
          </a:xfrm>
        </p:spPr>
        <p:txBody>
          <a:bodyPr>
            <a:normAutofit/>
          </a:bodyPr>
          <a:lstStyle/>
          <a:p>
            <a:r>
              <a:rPr lang="en-US" b="1" dirty="0"/>
              <a:t>Categorical variables</a:t>
            </a:r>
          </a:p>
          <a:p>
            <a:pPr lvl="1"/>
            <a:r>
              <a:rPr lang="en-US" dirty="0"/>
              <a:t>Categorical variables represent groupings of some kind. They are sometimes recorded as numbers, but the numbers represent categories rather than actual amounts of things.</a:t>
            </a:r>
          </a:p>
          <a:p>
            <a:pPr lvl="1"/>
            <a:r>
              <a:rPr lang="en-US" dirty="0"/>
              <a:t>There are three types of categorical variables: binary, nominal, and ordinal variables.</a:t>
            </a:r>
          </a:p>
          <a:p>
            <a:pPr lvl="1"/>
            <a:endParaRPr lang="en-US" dirty="0"/>
          </a:p>
        </p:txBody>
      </p:sp>
      <p:pic>
        <p:nvPicPr>
          <p:cNvPr id="5" name="Picture 4">
            <a:extLst>
              <a:ext uri="{FF2B5EF4-FFF2-40B4-BE49-F238E27FC236}">
                <a16:creationId xmlns:a16="http://schemas.microsoft.com/office/drawing/2014/main" id="{F92E8AB2-809F-4093-AACC-BB4D9DC550CA}"/>
              </a:ext>
            </a:extLst>
          </p:cNvPr>
          <p:cNvPicPr>
            <a:picLocks noChangeAspect="1"/>
          </p:cNvPicPr>
          <p:nvPr/>
        </p:nvPicPr>
        <p:blipFill>
          <a:blip r:embed="rId2"/>
          <a:stretch>
            <a:fillRect/>
          </a:stretch>
        </p:blipFill>
        <p:spPr>
          <a:xfrm>
            <a:off x="1343608" y="2976465"/>
            <a:ext cx="9423919" cy="3526972"/>
          </a:xfrm>
          <a:prstGeom prst="rect">
            <a:avLst/>
          </a:prstGeom>
        </p:spPr>
      </p:pic>
    </p:spTree>
    <p:extLst>
      <p:ext uri="{BB962C8B-B14F-4D97-AF65-F5344CB8AC3E}">
        <p14:creationId xmlns:p14="http://schemas.microsoft.com/office/powerpoint/2010/main" val="2792711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8DCB-CF1C-4300-9886-02FC6EA6EA1C}"/>
              </a:ext>
            </a:extLst>
          </p:cNvPr>
          <p:cNvSpPr>
            <a:spLocks noGrp="1"/>
          </p:cNvSpPr>
          <p:nvPr>
            <p:ph type="title"/>
          </p:nvPr>
        </p:nvSpPr>
        <p:spPr>
          <a:xfrm>
            <a:off x="838200" y="131856"/>
            <a:ext cx="10515600" cy="717226"/>
          </a:xfrm>
        </p:spPr>
        <p:txBody>
          <a:bodyPr/>
          <a:lstStyle/>
          <a:p>
            <a:r>
              <a:rPr lang="en-US" dirty="0"/>
              <a:t>Statistical Testing</a:t>
            </a:r>
          </a:p>
        </p:txBody>
      </p:sp>
      <p:sp>
        <p:nvSpPr>
          <p:cNvPr id="3" name="Content Placeholder 2">
            <a:extLst>
              <a:ext uri="{FF2B5EF4-FFF2-40B4-BE49-F238E27FC236}">
                <a16:creationId xmlns:a16="http://schemas.microsoft.com/office/drawing/2014/main" id="{CDA3B613-5C37-4E1D-9380-0CDECCB50A8A}"/>
              </a:ext>
            </a:extLst>
          </p:cNvPr>
          <p:cNvSpPr>
            <a:spLocks noGrp="1"/>
          </p:cNvSpPr>
          <p:nvPr>
            <p:ph idx="1"/>
          </p:nvPr>
        </p:nvSpPr>
        <p:spPr>
          <a:xfrm>
            <a:off x="410547" y="849082"/>
            <a:ext cx="11551298" cy="5859628"/>
          </a:xfrm>
        </p:spPr>
        <p:txBody>
          <a:bodyPr>
            <a:normAutofit/>
          </a:bodyPr>
          <a:lstStyle/>
          <a:p>
            <a:r>
              <a:rPr lang="en-US" b="1" dirty="0"/>
              <a:t>For Discrete Data</a:t>
            </a:r>
          </a:p>
          <a:p>
            <a:r>
              <a:rPr lang="en-US" dirty="0"/>
              <a:t>The two statistical tests which are most commonly used to analyze discrete variables are the chi-square test (including the chi-square test with Yates’ correction) and Fisher’s exact test. </a:t>
            </a:r>
          </a:p>
          <a:p>
            <a:r>
              <a:rPr lang="en-US" sz="2000" b="1" dirty="0"/>
              <a:t>CHI-SQUARE Test:</a:t>
            </a:r>
          </a:p>
          <a:p>
            <a:pPr lvl="1"/>
            <a:r>
              <a:rPr lang="en-US" dirty="0"/>
              <a:t>For these tests, degrees of freedom are used to determine if a certain null hypothesis can be rejected based on the total number of variables and samples within the experiment. As with any statistic, the larger the sample size, the more reliable the results.</a:t>
            </a:r>
          </a:p>
          <a:p>
            <a:pPr lvl="1"/>
            <a:endParaRPr lang="en-US" sz="1600" b="1" dirty="0"/>
          </a:p>
          <a:p>
            <a:endParaRPr lang="en-US" b="1" dirty="0"/>
          </a:p>
          <a:p>
            <a:pPr lvl="2"/>
            <a:endParaRPr lang="en-US" b="1" dirty="0"/>
          </a:p>
        </p:txBody>
      </p:sp>
      <p:pic>
        <p:nvPicPr>
          <p:cNvPr id="4" name="Picture 3">
            <a:extLst>
              <a:ext uri="{FF2B5EF4-FFF2-40B4-BE49-F238E27FC236}">
                <a16:creationId xmlns:a16="http://schemas.microsoft.com/office/drawing/2014/main" id="{05BA1E14-7D10-4AEF-98A9-5FBE68FB9586}"/>
              </a:ext>
            </a:extLst>
          </p:cNvPr>
          <p:cNvPicPr>
            <a:picLocks noChangeAspect="1"/>
          </p:cNvPicPr>
          <p:nvPr/>
        </p:nvPicPr>
        <p:blipFill>
          <a:blip r:embed="rId2"/>
          <a:stretch>
            <a:fillRect/>
          </a:stretch>
        </p:blipFill>
        <p:spPr>
          <a:xfrm>
            <a:off x="3526139" y="4144040"/>
            <a:ext cx="5421918" cy="2395470"/>
          </a:xfrm>
          <a:prstGeom prst="rect">
            <a:avLst/>
          </a:prstGeom>
        </p:spPr>
      </p:pic>
    </p:spTree>
    <p:extLst>
      <p:ext uri="{BB962C8B-B14F-4D97-AF65-F5344CB8AC3E}">
        <p14:creationId xmlns:p14="http://schemas.microsoft.com/office/powerpoint/2010/main" val="393588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8DCB-CF1C-4300-9886-02FC6EA6EA1C}"/>
              </a:ext>
            </a:extLst>
          </p:cNvPr>
          <p:cNvSpPr>
            <a:spLocks noGrp="1"/>
          </p:cNvSpPr>
          <p:nvPr>
            <p:ph type="title"/>
          </p:nvPr>
        </p:nvSpPr>
        <p:spPr>
          <a:xfrm>
            <a:off x="838200" y="131856"/>
            <a:ext cx="10515600" cy="717226"/>
          </a:xfrm>
        </p:spPr>
        <p:txBody>
          <a:bodyPr/>
          <a:lstStyle/>
          <a:p>
            <a:r>
              <a:rPr lang="en-US" dirty="0"/>
              <a:t>Statistical Testing</a:t>
            </a:r>
          </a:p>
        </p:txBody>
      </p:sp>
      <p:sp>
        <p:nvSpPr>
          <p:cNvPr id="3" name="Content Placeholder 2">
            <a:extLst>
              <a:ext uri="{FF2B5EF4-FFF2-40B4-BE49-F238E27FC236}">
                <a16:creationId xmlns:a16="http://schemas.microsoft.com/office/drawing/2014/main" id="{CDA3B613-5C37-4E1D-9380-0CDECCB50A8A}"/>
              </a:ext>
            </a:extLst>
          </p:cNvPr>
          <p:cNvSpPr>
            <a:spLocks noGrp="1"/>
          </p:cNvSpPr>
          <p:nvPr>
            <p:ph idx="1"/>
          </p:nvPr>
        </p:nvSpPr>
        <p:spPr>
          <a:xfrm>
            <a:off x="410547" y="849082"/>
            <a:ext cx="11551298" cy="5859628"/>
          </a:xfrm>
        </p:spPr>
        <p:txBody>
          <a:bodyPr>
            <a:normAutofit/>
          </a:bodyPr>
          <a:lstStyle/>
          <a:p>
            <a:r>
              <a:rPr lang="en-US" dirty="0"/>
              <a:t>For example, consider an imaginary coin with exactly a 50/50 chance of landing heads or tails and a real coin that you toss 100 times. If this coin is fair, then it will also have an equal probability of landing on either side, and the expected result of tossing the coin 100 times is that heads will come up 50 times and tails will come up 50 times.</a:t>
            </a:r>
            <a:endParaRPr lang="en-US" b="1" dirty="0"/>
          </a:p>
          <a:p>
            <a:r>
              <a:rPr lang="en-US" dirty="0"/>
              <a:t>In this case, χ2 can tell us how well the actual results of 100 coin flips compare to the theoretical model that a fair coin will give 50/50 results. The actual toss could come up 50/50, or 60/40, or even 90/10. The farther away the actual results of the 100 tosses are from 50/50, the less good the fit of this set of tosses is to the theoretical expectation of 50/50, and the more likely we might conclude that this coin is not actually a fair coin</a:t>
            </a:r>
            <a:endParaRPr lang="en-US" b="1" dirty="0"/>
          </a:p>
          <a:p>
            <a:endParaRPr lang="en-US" b="1" dirty="0"/>
          </a:p>
          <a:p>
            <a:pPr lvl="2"/>
            <a:endParaRPr lang="en-US" b="1" dirty="0"/>
          </a:p>
        </p:txBody>
      </p:sp>
    </p:spTree>
    <p:extLst>
      <p:ext uri="{BB962C8B-B14F-4D97-AF65-F5344CB8AC3E}">
        <p14:creationId xmlns:p14="http://schemas.microsoft.com/office/powerpoint/2010/main" val="3198552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8DCB-CF1C-4300-9886-02FC6EA6EA1C}"/>
              </a:ext>
            </a:extLst>
          </p:cNvPr>
          <p:cNvSpPr>
            <a:spLocks noGrp="1"/>
          </p:cNvSpPr>
          <p:nvPr>
            <p:ph type="title"/>
          </p:nvPr>
        </p:nvSpPr>
        <p:spPr>
          <a:xfrm>
            <a:off x="838200" y="131856"/>
            <a:ext cx="10515600" cy="717226"/>
          </a:xfrm>
        </p:spPr>
        <p:txBody>
          <a:bodyPr/>
          <a:lstStyle/>
          <a:p>
            <a:r>
              <a:rPr lang="en-US" dirty="0"/>
              <a:t>Statistical Testing</a:t>
            </a:r>
          </a:p>
        </p:txBody>
      </p:sp>
      <p:sp>
        <p:nvSpPr>
          <p:cNvPr id="3" name="Content Placeholder 2">
            <a:extLst>
              <a:ext uri="{FF2B5EF4-FFF2-40B4-BE49-F238E27FC236}">
                <a16:creationId xmlns:a16="http://schemas.microsoft.com/office/drawing/2014/main" id="{CDA3B613-5C37-4E1D-9380-0CDECCB50A8A}"/>
              </a:ext>
            </a:extLst>
          </p:cNvPr>
          <p:cNvSpPr>
            <a:spLocks noGrp="1"/>
          </p:cNvSpPr>
          <p:nvPr>
            <p:ph idx="1"/>
          </p:nvPr>
        </p:nvSpPr>
        <p:spPr>
          <a:xfrm>
            <a:off x="410547" y="849082"/>
            <a:ext cx="11551298" cy="5859628"/>
          </a:xfrm>
        </p:spPr>
        <p:txBody>
          <a:bodyPr>
            <a:normAutofit/>
          </a:bodyPr>
          <a:lstStyle/>
          <a:p>
            <a:r>
              <a:rPr lang="en-US" b="1" dirty="0"/>
              <a:t>For Continuous variable</a:t>
            </a:r>
          </a:p>
          <a:p>
            <a:r>
              <a:rPr lang="en-US" dirty="0"/>
              <a:t>Much of the statistical analysis in medical research, however, involves the analysis of continuous variables (such as cardiac output, blood pressure, and heart rate) which can assume an infinite range of values</a:t>
            </a:r>
          </a:p>
          <a:p>
            <a:r>
              <a:rPr lang="en-US" dirty="0"/>
              <a:t>As with discrete variables, the statistical analysis of continuous variables requires the application of specialized tests.  </a:t>
            </a:r>
          </a:p>
          <a:p>
            <a:r>
              <a:rPr lang="en-US" dirty="0"/>
              <a:t>In general, these tests compare the means of two (or more) data sets to determine whether the data sets differ significantly from one another. </a:t>
            </a:r>
          </a:p>
          <a:p>
            <a:pPr marL="971550" lvl="1" indent="-514350">
              <a:buFont typeface="+mj-lt"/>
              <a:buAutoNum type="arabicPeriod"/>
            </a:pPr>
            <a:r>
              <a:rPr lang="en-US" dirty="0"/>
              <a:t>One-sample t-test</a:t>
            </a:r>
          </a:p>
          <a:p>
            <a:pPr marL="971550" lvl="1" indent="-514350">
              <a:buFont typeface="+mj-lt"/>
              <a:buAutoNum type="arabicPeriod"/>
            </a:pPr>
            <a:r>
              <a:rPr lang="en-US" dirty="0"/>
              <a:t>Paired t-test</a:t>
            </a:r>
          </a:p>
          <a:p>
            <a:pPr marL="971550" lvl="1" indent="-514350">
              <a:buFont typeface="+mj-lt"/>
              <a:buAutoNum type="arabicPeriod"/>
            </a:pPr>
            <a:r>
              <a:rPr lang="en-US" dirty="0"/>
              <a:t>ANOVA </a:t>
            </a:r>
          </a:p>
          <a:p>
            <a:pPr lvl="2"/>
            <a:endParaRPr lang="en-US" b="1" dirty="0"/>
          </a:p>
        </p:txBody>
      </p:sp>
    </p:spTree>
    <p:extLst>
      <p:ext uri="{BB962C8B-B14F-4D97-AF65-F5344CB8AC3E}">
        <p14:creationId xmlns:p14="http://schemas.microsoft.com/office/powerpoint/2010/main" val="3072986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pic>
        <p:nvPicPr>
          <p:cNvPr id="17" name="Content Placeholder 16">
            <a:extLst>
              <a:ext uri="{FF2B5EF4-FFF2-40B4-BE49-F238E27FC236}">
                <a16:creationId xmlns:a16="http://schemas.microsoft.com/office/drawing/2014/main" id="{BBCFA44C-1A4F-4EAF-A050-8DB3E54090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3645" y="4434554"/>
            <a:ext cx="1493649" cy="1905165"/>
          </a:xfrm>
        </p:spPr>
      </p:pic>
      <p:pic>
        <p:nvPicPr>
          <p:cNvPr id="19" name="Picture 18">
            <a:extLst>
              <a:ext uri="{FF2B5EF4-FFF2-40B4-BE49-F238E27FC236}">
                <a16:creationId xmlns:a16="http://schemas.microsoft.com/office/drawing/2014/main" id="{A7612FA3-3DEE-47B1-BE81-46FD689946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4658" y="834816"/>
            <a:ext cx="4823878" cy="4412362"/>
          </a:xfrm>
          <a:prstGeom prst="rect">
            <a:avLst/>
          </a:prstGeom>
        </p:spPr>
      </p:pic>
      <p:pic>
        <p:nvPicPr>
          <p:cNvPr id="23" name="Picture 22">
            <a:extLst>
              <a:ext uri="{FF2B5EF4-FFF2-40B4-BE49-F238E27FC236}">
                <a16:creationId xmlns:a16="http://schemas.microsoft.com/office/drawing/2014/main" id="{E5EA0D46-30F8-4F86-BBB4-92085A7D67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25791" y="945194"/>
            <a:ext cx="3673158" cy="3635055"/>
          </a:xfrm>
          <a:prstGeom prst="rect">
            <a:avLst/>
          </a:prstGeom>
        </p:spPr>
      </p:pic>
      <p:pic>
        <p:nvPicPr>
          <p:cNvPr id="27" name="Picture 26">
            <a:extLst>
              <a:ext uri="{FF2B5EF4-FFF2-40B4-BE49-F238E27FC236}">
                <a16:creationId xmlns:a16="http://schemas.microsoft.com/office/drawing/2014/main" id="{6033EC02-3C0B-4267-AF70-3150DC3ADD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935" y="945194"/>
            <a:ext cx="2987299" cy="3292125"/>
          </a:xfrm>
          <a:prstGeom prst="rect">
            <a:avLst/>
          </a:prstGeom>
        </p:spPr>
      </p:pic>
    </p:spTree>
    <p:extLst>
      <p:ext uri="{BB962C8B-B14F-4D97-AF65-F5344CB8AC3E}">
        <p14:creationId xmlns:p14="http://schemas.microsoft.com/office/powerpoint/2010/main" val="3683140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pic>
        <p:nvPicPr>
          <p:cNvPr id="6" name="Picture 5">
            <a:extLst>
              <a:ext uri="{FF2B5EF4-FFF2-40B4-BE49-F238E27FC236}">
                <a16:creationId xmlns:a16="http://schemas.microsoft.com/office/drawing/2014/main" id="{74072E33-2DA6-4037-B14B-40F9C87B8C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1423" y="972052"/>
            <a:ext cx="8817104" cy="5204911"/>
          </a:xfrm>
          <a:prstGeom prst="rect">
            <a:avLst/>
          </a:prstGeom>
        </p:spPr>
      </p:pic>
    </p:spTree>
    <p:extLst>
      <p:ext uri="{BB962C8B-B14F-4D97-AF65-F5344CB8AC3E}">
        <p14:creationId xmlns:p14="http://schemas.microsoft.com/office/powerpoint/2010/main" val="535772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sp>
        <p:nvSpPr>
          <p:cNvPr id="11" name="Content Placeholder 10">
            <a:extLst>
              <a:ext uri="{FF2B5EF4-FFF2-40B4-BE49-F238E27FC236}">
                <a16:creationId xmlns:a16="http://schemas.microsoft.com/office/drawing/2014/main" id="{428FCBFD-AD48-43DB-9597-8A23DA17CBE5}"/>
              </a:ext>
            </a:extLst>
          </p:cNvPr>
          <p:cNvSpPr>
            <a:spLocks noGrp="1"/>
          </p:cNvSpPr>
          <p:nvPr>
            <p:ph idx="1"/>
          </p:nvPr>
        </p:nvSpPr>
        <p:spPr>
          <a:xfrm>
            <a:off x="279917" y="914400"/>
            <a:ext cx="11653935" cy="5775648"/>
          </a:xfrm>
        </p:spPr>
        <p:txBody>
          <a:bodyPr>
            <a:normAutofit fontScale="92500" lnSpcReduction="10000"/>
          </a:bodyPr>
          <a:lstStyle/>
          <a:p>
            <a:r>
              <a:rPr lang="en-US" b="1" dirty="0"/>
              <a:t>One sample t-test</a:t>
            </a:r>
          </a:p>
          <a:p>
            <a:pPr lvl="1"/>
            <a:r>
              <a:rPr lang="en-US" dirty="0"/>
              <a:t>The One Sample t-test, or student’s test, compares the mean of a vector against a theoretical mean </a:t>
            </a:r>
          </a:p>
          <a:p>
            <a:pPr lvl="1"/>
            <a:r>
              <a:rPr lang="en-US" dirty="0"/>
              <a:t>Formula : </a:t>
            </a:r>
          </a:p>
          <a:p>
            <a:pPr lvl="1"/>
            <a:endParaRPr lang="en-US" dirty="0"/>
          </a:p>
          <a:p>
            <a:pPr lvl="1"/>
            <a:endParaRPr lang="en-US" dirty="0"/>
          </a:p>
          <a:p>
            <a:endParaRPr lang="en-US" dirty="0"/>
          </a:p>
          <a:p>
            <a:pPr marL="0" indent="0">
              <a:buNone/>
            </a:pPr>
            <a:r>
              <a:rPr lang="en-US" sz="2400" dirty="0"/>
              <a:t>                  </a:t>
            </a:r>
            <a:r>
              <a:rPr lang="en-US" dirty="0"/>
              <a:t>- m refers to the mean</a:t>
            </a:r>
          </a:p>
          <a:p>
            <a:pPr marL="0" indent="0">
              <a:buNone/>
            </a:pPr>
            <a:r>
              <a:rPr lang="en-US" dirty="0"/>
              <a:t>               - Mu refer to the theoretical mean</a:t>
            </a:r>
          </a:p>
          <a:p>
            <a:pPr marL="0" indent="0">
              <a:buNone/>
            </a:pPr>
            <a:r>
              <a:rPr lang="en-US" dirty="0"/>
              <a:t>               - s is the standard deviation</a:t>
            </a:r>
          </a:p>
          <a:p>
            <a:pPr marL="0" indent="0">
              <a:buNone/>
            </a:pPr>
            <a:r>
              <a:rPr lang="en-US" dirty="0"/>
              <a:t>               - n the number of observations</a:t>
            </a:r>
          </a:p>
          <a:p>
            <a:endParaRPr lang="en-US" dirty="0"/>
          </a:p>
          <a:p>
            <a:r>
              <a:rPr lang="en-US" sz="2400" dirty="0"/>
              <a:t> </a:t>
            </a:r>
            <a:r>
              <a:rPr lang="en-US" dirty="0"/>
              <a:t>To evaluate the statistical significance of the t-test, you need to compute the p-value. The p-value ranges from 0 to 1</a:t>
            </a:r>
          </a:p>
        </p:txBody>
      </p:sp>
      <p:pic>
        <p:nvPicPr>
          <p:cNvPr id="3" name="Picture 2">
            <a:extLst>
              <a:ext uri="{FF2B5EF4-FFF2-40B4-BE49-F238E27FC236}">
                <a16:creationId xmlns:a16="http://schemas.microsoft.com/office/drawing/2014/main" id="{A003FC6B-F3D5-4ADB-BD0A-2567EAF4A01A}"/>
              </a:ext>
            </a:extLst>
          </p:cNvPr>
          <p:cNvPicPr>
            <a:picLocks noChangeAspect="1"/>
          </p:cNvPicPr>
          <p:nvPr/>
        </p:nvPicPr>
        <p:blipFill>
          <a:blip r:embed="rId2"/>
          <a:stretch>
            <a:fillRect/>
          </a:stretch>
        </p:blipFill>
        <p:spPr>
          <a:xfrm>
            <a:off x="2635133" y="2138747"/>
            <a:ext cx="1955528" cy="1068946"/>
          </a:xfrm>
          <a:prstGeom prst="rect">
            <a:avLst/>
          </a:prstGeom>
        </p:spPr>
      </p:pic>
    </p:spTree>
    <p:extLst>
      <p:ext uri="{BB962C8B-B14F-4D97-AF65-F5344CB8AC3E}">
        <p14:creationId xmlns:p14="http://schemas.microsoft.com/office/powerpoint/2010/main" val="1669526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sp>
        <p:nvSpPr>
          <p:cNvPr id="11" name="Content Placeholder 10">
            <a:extLst>
              <a:ext uri="{FF2B5EF4-FFF2-40B4-BE49-F238E27FC236}">
                <a16:creationId xmlns:a16="http://schemas.microsoft.com/office/drawing/2014/main" id="{428FCBFD-AD48-43DB-9597-8A23DA17CBE5}"/>
              </a:ext>
            </a:extLst>
          </p:cNvPr>
          <p:cNvSpPr>
            <a:spLocks noGrp="1"/>
          </p:cNvSpPr>
          <p:nvPr>
            <p:ph idx="1"/>
          </p:nvPr>
        </p:nvSpPr>
        <p:spPr>
          <a:xfrm>
            <a:off x="279917" y="914400"/>
            <a:ext cx="11653935" cy="5775648"/>
          </a:xfrm>
        </p:spPr>
        <p:txBody>
          <a:bodyPr/>
          <a:lstStyle/>
          <a:p>
            <a:r>
              <a:rPr lang="en-US" dirty="0"/>
              <a:t> A p-value lower than 0.05 means you are strongly confident to reject the null hypothesis, thus Ha is accepted.</a:t>
            </a:r>
          </a:p>
          <a:p>
            <a:r>
              <a:rPr lang="en-US" dirty="0"/>
              <a:t>A p-value higher than 0.05 indicates that you don’t have enough evidences to reject the null hypothesis.</a:t>
            </a:r>
          </a:p>
          <a:p>
            <a:endParaRPr lang="en-US" dirty="0"/>
          </a:p>
          <a:p>
            <a:r>
              <a:rPr lang="en-US" dirty="0"/>
              <a:t>Example:</a:t>
            </a:r>
          </a:p>
          <a:p>
            <a:r>
              <a:rPr lang="en-US" dirty="0"/>
              <a:t>Suppose you are a company producing cookies. Each cookie is supposed to contain 10 grams of sugar. The cookies are produced by a machine that adds the sugar in a bowl before mixing everything. You believe the machine does not add 10 grams of sugar for each cookie. If your assumption is true, the machine needs to be fixed. You stored the level of sugar of thirty cookies.</a:t>
            </a:r>
          </a:p>
        </p:txBody>
      </p:sp>
    </p:spTree>
    <p:extLst>
      <p:ext uri="{BB962C8B-B14F-4D97-AF65-F5344CB8AC3E}">
        <p14:creationId xmlns:p14="http://schemas.microsoft.com/office/powerpoint/2010/main" val="583640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pic>
        <p:nvPicPr>
          <p:cNvPr id="7" name="Content Placeholder 6">
            <a:extLst>
              <a:ext uri="{FF2B5EF4-FFF2-40B4-BE49-F238E27FC236}">
                <a16:creationId xmlns:a16="http://schemas.microsoft.com/office/drawing/2014/main" id="{6D3EBA6B-0B50-45B3-A6E3-07C62D8829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0267" y="1120771"/>
            <a:ext cx="9268761" cy="1837033"/>
          </a:xfrm>
        </p:spPr>
      </p:pic>
      <p:pic>
        <p:nvPicPr>
          <p:cNvPr id="9" name="Picture 8">
            <a:extLst>
              <a:ext uri="{FF2B5EF4-FFF2-40B4-BE49-F238E27FC236}">
                <a16:creationId xmlns:a16="http://schemas.microsoft.com/office/drawing/2014/main" id="{1061F979-21EB-48F6-9C1B-57974D9E4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162" y="3089530"/>
            <a:ext cx="8596957" cy="1837033"/>
          </a:xfrm>
          <a:prstGeom prst="rect">
            <a:avLst/>
          </a:prstGeom>
        </p:spPr>
      </p:pic>
    </p:spTree>
    <p:extLst>
      <p:ext uri="{BB962C8B-B14F-4D97-AF65-F5344CB8AC3E}">
        <p14:creationId xmlns:p14="http://schemas.microsoft.com/office/powerpoint/2010/main" val="3931418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sp>
        <p:nvSpPr>
          <p:cNvPr id="11" name="Content Placeholder 10">
            <a:extLst>
              <a:ext uri="{FF2B5EF4-FFF2-40B4-BE49-F238E27FC236}">
                <a16:creationId xmlns:a16="http://schemas.microsoft.com/office/drawing/2014/main" id="{428FCBFD-AD48-43DB-9597-8A23DA17CBE5}"/>
              </a:ext>
            </a:extLst>
          </p:cNvPr>
          <p:cNvSpPr>
            <a:spLocks noGrp="1"/>
          </p:cNvSpPr>
          <p:nvPr>
            <p:ph idx="1"/>
          </p:nvPr>
        </p:nvSpPr>
        <p:spPr>
          <a:xfrm>
            <a:off x="279917" y="914400"/>
            <a:ext cx="11653935" cy="5775648"/>
          </a:xfrm>
        </p:spPr>
        <p:txBody>
          <a:bodyPr/>
          <a:lstStyle/>
          <a:p>
            <a:r>
              <a:rPr lang="en-US" b="1" dirty="0"/>
              <a:t>Two sample t-test</a:t>
            </a:r>
          </a:p>
          <a:p>
            <a:pPr lvl="1"/>
            <a:r>
              <a:rPr lang="en-US" dirty="0"/>
              <a:t>Also known as Independent sample t-test</a:t>
            </a:r>
          </a:p>
          <a:p>
            <a:pPr lvl="1"/>
            <a:r>
              <a:rPr lang="en-US" dirty="0"/>
              <a:t>Compares the means of two independent groups. (Independent means the observations in a group is not related to the observations in the other group)</a:t>
            </a:r>
          </a:p>
          <a:p>
            <a:pPr lvl="1"/>
            <a:r>
              <a:rPr lang="en-US" b="1" dirty="0"/>
              <a:t>Assumptions</a:t>
            </a:r>
          </a:p>
          <a:p>
            <a:pPr lvl="2"/>
            <a:r>
              <a:rPr lang="en-US" dirty="0"/>
              <a:t>The data in each group should be approximately normally distributed</a:t>
            </a:r>
          </a:p>
          <a:p>
            <a:pPr lvl="2"/>
            <a:r>
              <a:rPr lang="en-US" dirty="0"/>
              <a:t>The variances of the two groups should be approximately equal</a:t>
            </a:r>
          </a:p>
          <a:p>
            <a:pPr lvl="2"/>
            <a:endParaRPr lang="en-US" dirty="0"/>
          </a:p>
        </p:txBody>
      </p:sp>
    </p:spTree>
    <p:extLst>
      <p:ext uri="{BB962C8B-B14F-4D97-AF65-F5344CB8AC3E}">
        <p14:creationId xmlns:p14="http://schemas.microsoft.com/office/powerpoint/2010/main" val="1924031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pic>
        <p:nvPicPr>
          <p:cNvPr id="4" name="Content Placeholder 3">
            <a:extLst>
              <a:ext uri="{FF2B5EF4-FFF2-40B4-BE49-F238E27FC236}">
                <a16:creationId xmlns:a16="http://schemas.microsoft.com/office/drawing/2014/main" id="{799863F1-823D-4385-AD38-9617D39FD7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3196" y="1138404"/>
            <a:ext cx="7342857" cy="4161905"/>
          </a:xfrm>
          <a:prstGeom prst="rect">
            <a:avLst/>
          </a:prstGeom>
        </p:spPr>
      </p:pic>
    </p:spTree>
    <p:extLst>
      <p:ext uri="{BB962C8B-B14F-4D97-AF65-F5344CB8AC3E}">
        <p14:creationId xmlns:p14="http://schemas.microsoft.com/office/powerpoint/2010/main" val="36530876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C3AA5-7866-46FD-8317-CA4F87182B31}"/>
              </a:ext>
            </a:extLst>
          </p:cNvPr>
          <p:cNvSpPr>
            <a:spLocks noGrp="1"/>
          </p:cNvSpPr>
          <p:nvPr>
            <p:ph type="title"/>
          </p:nvPr>
        </p:nvSpPr>
        <p:spPr>
          <a:xfrm>
            <a:off x="466165" y="152400"/>
            <a:ext cx="11349317" cy="681317"/>
          </a:xfrm>
        </p:spPr>
        <p:txBody>
          <a:bodyPr>
            <a:normAutofit fontScale="90000"/>
          </a:bodyPr>
          <a:lstStyle/>
          <a:p>
            <a:r>
              <a:rPr lang="en-US" dirty="0"/>
              <a:t>Statistical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B65355-9B64-4E9A-8051-550D287635F9}"/>
                  </a:ext>
                </a:extLst>
              </p:cNvPr>
              <p:cNvSpPr>
                <a:spLocks noGrp="1"/>
              </p:cNvSpPr>
              <p:nvPr>
                <p:ph idx="1"/>
              </p:nvPr>
            </p:nvSpPr>
            <p:spPr>
              <a:xfrm>
                <a:off x="466165" y="1048871"/>
                <a:ext cx="11349317" cy="5620870"/>
              </a:xfrm>
            </p:spPr>
            <p:txBody>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=0.05</m:t>
                    </m:r>
                  </m:oMath>
                </a14:m>
                <a:endParaRPr lang="en-US" dirty="0"/>
              </a:p>
              <a:p>
                <a14:m>
                  <m:oMath xmlns:m="http://schemas.openxmlformats.org/officeDocument/2006/math">
                    <m:r>
                      <a:rPr lang="en-US" b="0" i="1" smtClean="0">
                        <a:latin typeface="Cambria Math" panose="02040503050406030204" pitchFamily="18" charset="0"/>
                      </a:rPr>
                      <m:t>𝐻</m:t>
                    </m:r>
                    <m:r>
                      <a:rPr lang="en-US" b="0" i="1" baseline="-25000" smtClean="0">
                        <a:latin typeface="Cambria Math" panose="02040503050406030204" pitchFamily="18" charset="0"/>
                      </a:rPr>
                      <m:t>0</m:t>
                    </m:r>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𝐴</m:t>
                        </m:r>
                        <m:r>
                          <a:rPr lang="en-US" b="0" i="1" smtClean="0">
                            <a:latin typeface="Cambria Math" panose="02040503050406030204" pitchFamily="18" charset="0"/>
                          </a:rPr>
                          <m:t> </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𝐵</m:t>
                        </m:r>
                      </m:sub>
                    </m:sSub>
                  </m:oMath>
                </a14:m>
                <a:endParaRPr lang="en-US" b="0" dirty="0"/>
              </a:p>
              <a:p>
                <a14:m>
                  <m:oMath xmlns:m="http://schemas.openxmlformats.org/officeDocument/2006/math">
                    <m:r>
                      <a:rPr lang="en-US" i="1">
                        <a:latin typeface="Cambria Math" panose="02040503050406030204" pitchFamily="18" charset="0"/>
                      </a:rPr>
                      <m:t>𝐻</m:t>
                    </m:r>
                    <m:r>
                      <a:rPr lang="en-US" b="0" i="1" baseline="-25000" smtClean="0">
                        <a:latin typeface="Cambria Math" panose="02040503050406030204" pitchFamily="18" charset="0"/>
                      </a:rPr>
                      <m:t>𝐴</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𝐴</m:t>
                        </m:r>
                        <m:r>
                          <a:rPr lang="en-US" i="1">
                            <a:latin typeface="Cambria Math" panose="02040503050406030204" pitchFamily="18" charset="0"/>
                          </a:rPr>
                          <m:t> </m:t>
                        </m:r>
                      </m:sub>
                    </m:sSub>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𝐵</m:t>
                        </m:r>
                      </m:sub>
                    </m:sSub>
                  </m:oMath>
                </a14:m>
                <a:endParaRPr lang="en-US" dirty="0"/>
              </a:p>
              <a:p>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e>
                          <m:sub>
                            <m:r>
                              <a:rPr lang="en-US" b="0" i="1" smtClean="0">
                                <a:latin typeface="Cambria Math" panose="02040503050406030204" pitchFamily="18" charset="0"/>
                              </a:rPr>
                              <m:t>𝐴</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b>
                            <m:r>
                              <a:rPr lang="en-US" b="0" i="1" smtClean="0">
                                <a:latin typeface="Cambria Math" panose="02040503050406030204" pitchFamily="18" charset="0"/>
                              </a:rPr>
                              <m:t>𝐵</m:t>
                            </m:r>
                          </m:sub>
                        </m:sSub>
                      </m:num>
                      <m:den>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𝑆</m:t>
                                    </m:r>
                                  </m:e>
                                  <m:sub>
                                    <m:r>
                                      <a:rPr lang="en-US" b="0" i="1" smtClean="0">
                                        <a:latin typeface="Cambria Math" panose="02040503050406030204" pitchFamily="18" charset="0"/>
                                      </a:rPr>
                                      <m:t>𝐴</m:t>
                                    </m:r>
                                  </m:sub>
                                  <m:sup>
                                    <m:r>
                                      <a:rPr lang="en-US" b="0" i="1" smtClean="0">
                                        <a:latin typeface="Cambria Math" panose="02040503050406030204" pitchFamily="18" charset="0"/>
                                      </a:rPr>
                                      <m:t>2</m:t>
                                    </m:r>
                                  </m:sup>
                                </m:sSubSup>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𝐴</m:t>
                                    </m:r>
                                  </m:sub>
                                </m:sSub>
                              </m:den>
                            </m:f>
                          </m:e>
                        </m:rad>
                        <m:r>
                          <a:rPr lang="en-US" b="0" i="1" smtClean="0">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𝑆</m:t>
                                </m:r>
                              </m:e>
                              <m:sub>
                                <m:r>
                                  <a:rPr lang="en-US" b="0" i="1" smtClean="0">
                                    <a:latin typeface="Cambria Math" panose="02040503050406030204" pitchFamily="18" charset="0"/>
                                  </a:rPr>
                                  <m:t>𝐵</m:t>
                                </m:r>
                              </m:sub>
                              <m:sup>
                                <m:r>
                                  <a:rPr lang="en-US" i="1">
                                    <a:latin typeface="Cambria Math" panose="02040503050406030204" pitchFamily="18" charset="0"/>
                                  </a:rPr>
                                  <m:t>2</m:t>
                                </m:r>
                              </m:sup>
                            </m:sSubSup>
                          </m:num>
                          <m:den>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𝐵</m:t>
                                </m:r>
                              </m:sub>
                            </m:sSub>
                          </m:den>
                        </m:f>
                      </m:den>
                    </m:f>
                  </m:oMath>
                </a14:m>
                <a:r>
                  <a:rPr lang="en-US" dirty="0"/>
                  <a:t>=  </a:t>
                </a:r>
              </a:p>
              <a:p>
                <a:endParaRPr lang="en-US" dirty="0"/>
              </a:p>
            </p:txBody>
          </p:sp>
        </mc:Choice>
        <mc:Fallback xmlns="">
          <p:sp>
            <p:nvSpPr>
              <p:cNvPr id="3" name="Content Placeholder 2">
                <a:extLst>
                  <a:ext uri="{FF2B5EF4-FFF2-40B4-BE49-F238E27FC236}">
                    <a16:creationId xmlns:a16="http://schemas.microsoft.com/office/drawing/2014/main" id="{3BB65355-9B64-4E9A-8051-550D287635F9}"/>
                  </a:ext>
                </a:extLst>
              </p:cNvPr>
              <p:cNvSpPr>
                <a:spLocks noGrp="1" noRot="1" noChangeAspect="1" noMove="1" noResize="1" noEditPoints="1" noAdjustHandles="1" noChangeArrowheads="1" noChangeShapeType="1" noTextEdit="1"/>
              </p:cNvSpPr>
              <p:nvPr>
                <p:ph idx="1"/>
              </p:nvPr>
            </p:nvSpPr>
            <p:spPr>
              <a:xfrm>
                <a:off x="466165" y="1048871"/>
                <a:ext cx="11349317" cy="5620870"/>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1260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C3AA5-7866-46FD-8317-CA4F87182B31}"/>
              </a:ext>
            </a:extLst>
          </p:cNvPr>
          <p:cNvSpPr>
            <a:spLocks noGrp="1"/>
          </p:cNvSpPr>
          <p:nvPr>
            <p:ph type="title"/>
          </p:nvPr>
        </p:nvSpPr>
        <p:spPr>
          <a:xfrm>
            <a:off x="466165" y="152400"/>
            <a:ext cx="11349317" cy="681317"/>
          </a:xfrm>
        </p:spPr>
        <p:txBody>
          <a:bodyPr>
            <a:normAutofit fontScale="90000"/>
          </a:bodyPr>
          <a:lstStyle/>
          <a:p>
            <a:r>
              <a:rPr lang="en-US" dirty="0"/>
              <a:t>Statistical Testing</a:t>
            </a:r>
          </a:p>
        </p:txBody>
      </p:sp>
      <p:sp>
        <p:nvSpPr>
          <p:cNvPr id="3" name="Content Placeholder 2">
            <a:extLst>
              <a:ext uri="{FF2B5EF4-FFF2-40B4-BE49-F238E27FC236}">
                <a16:creationId xmlns:a16="http://schemas.microsoft.com/office/drawing/2014/main" id="{3BB65355-9B64-4E9A-8051-550D287635F9}"/>
              </a:ext>
            </a:extLst>
          </p:cNvPr>
          <p:cNvSpPr>
            <a:spLocks noGrp="1"/>
          </p:cNvSpPr>
          <p:nvPr>
            <p:ph idx="1"/>
          </p:nvPr>
        </p:nvSpPr>
        <p:spPr>
          <a:xfrm>
            <a:off x="466165" y="1048871"/>
            <a:ext cx="11349317" cy="5620870"/>
          </a:xfrm>
        </p:spPr>
        <p:txBody>
          <a:bodyPr/>
          <a:lstStyle/>
          <a:p>
            <a:r>
              <a:rPr lang="en-US" dirty="0"/>
              <a:t>Example:</a:t>
            </a:r>
          </a:p>
          <a:p>
            <a:pPr marL="0" indent="0">
              <a:buNone/>
            </a:pPr>
            <a:r>
              <a:rPr lang="en-US" dirty="0"/>
              <a:t>  </a:t>
            </a:r>
          </a:p>
          <a:p>
            <a:endParaRPr lang="en-US" dirty="0"/>
          </a:p>
        </p:txBody>
      </p:sp>
      <p:pic>
        <p:nvPicPr>
          <p:cNvPr id="4" name="Picture 3">
            <a:extLst>
              <a:ext uri="{FF2B5EF4-FFF2-40B4-BE49-F238E27FC236}">
                <a16:creationId xmlns:a16="http://schemas.microsoft.com/office/drawing/2014/main" id="{1C38A781-650C-450C-9D5F-58E6F880C966}"/>
              </a:ext>
            </a:extLst>
          </p:cNvPr>
          <p:cNvPicPr>
            <a:picLocks noChangeAspect="1"/>
          </p:cNvPicPr>
          <p:nvPr/>
        </p:nvPicPr>
        <p:blipFill>
          <a:blip r:embed="rId2"/>
          <a:stretch>
            <a:fillRect/>
          </a:stretch>
        </p:blipFill>
        <p:spPr>
          <a:xfrm>
            <a:off x="655099" y="1444967"/>
            <a:ext cx="6973866" cy="2625009"/>
          </a:xfrm>
          <a:prstGeom prst="rect">
            <a:avLst/>
          </a:prstGeom>
        </p:spPr>
      </p:pic>
      <p:pic>
        <p:nvPicPr>
          <p:cNvPr id="6" name="Picture 5">
            <a:extLst>
              <a:ext uri="{FF2B5EF4-FFF2-40B4-BE49-F238E27FC236}">
                <a16:creationId xmlns:a16="http://schemas.microsoft.com/office/drawing/2014/main" id="{2DA26B92-D859-492A-AABF-D9AE8BCD6A0B}"/>
              </a:ext>
            </a:extLst>
          </p:cNvPr>
          <p:cNvPicPr>
            <a:picLocks noChangeAspect="1"/>
          </p:cNvPicPr>
          <p:nvPr/>
        </p:nvPicPr>
        <p:blipFill>
          <a:blip r:embed="rId3"/>
          <a:stretch>
            <a:fillRect/>
          </a:stretch>
        </p:blipFill>
        <p:spPr>
          <a:xfrm>
            <a:off x="655099" y="4029635"/>
            <a:ext cx="7292972" cy="2796782"/>
          </a:xfrm>
          <a:prstGeom prst="rect">
            <a:avLst/>
          </a:prstGeom>
        </p:spPr>
      </p:pic>
    </p:spTree>
    <p:extLst>
      <p:ext uri="{BB962C8B-B14F-4D97-AF65-F5344CB8AC3E}">
        <p14:creationId xmlns:p14="http://schemas.microsoft.com/office/powerpoint/2010/main" val="94575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sp>
        <p:nvSpPr>
          <p:cNvPr id="11" name="Content Placeholder 10">
            <a:extLst>
              <a:ext uri="{FF2B5EF4-FFF2-40B4-BE49-F238E27FC236}">
                <a16:creationId xmlns:a16="http://schemas.microsoft.com/office/drawing/2014/main" id="{428FCBFD-AD48-43DB-9597-8A23DA17CBE5}"/>
              </a:ext>
            </a:extLst>
          </p:cNvPr>
          <p:cNvSpPr>
            <a:spLocks noGrp="1"/>
          </p:cNvSpPr>
          <p:nvPr>
            <p:ph idx="1"/>
          </p:nvPr>
        </p:nvSpPr>
        <p:spPr>
          <a:xfrm>
            <a:off x="279917" y="914400"/>
            <a:ext cx="11653935" cy="5775648"/>
          </a:xfrm>
        </p:spPr>
        <p:txBody>
          <a:bodyPr/>
          <a:lstStyle/>
          <a:p>
            <a:r>
              <a:rPr lang="en-US" b="1" dirty="0"/>
              <a:t>Paired t-test</a:t>
            </a:r>
          </a:p>
          <a:p>
            <a:r>
              <a:rPr lang="en-US" sz="2400" dirty="0"/>
              <a:t> </a:t>
            </a:r>
            <a:r>
              <a:rPr lang="en-US" dirty="0"/>
              <a:t>The Paired T-test, or dependent sample t-test, is used when the mean of the treated group is computed twice. </a:t>
            </a:r>
          </a:p>
          <a:p>
            <a:r>
              <a:rPr lang="en-US" dirty="0"/>
              <a:t>The basic application of the paired t-test is:</a:t>
            </a:r>
          </a:p>
          <a:p>
            <a:pPr lvl="1"/>
            <a:r>
              <a:rPr lang="en-US" sz="2000" dirty="0"/>
              <a:t> </a:t>
            </a:r>
            <a:r>
              <a:rPr lang="en-US" dirty="0"/>
              <a:t>A/B Testing: Compare two variants</a:t>
            </a:r>
          </a:p>
          <a:p>
            <a:pPr lvl="1"/>
            <a:r>
              <a:rPr lang="en-US" sz="2400" dirty="0"/>
              <a:t> </a:t>
            </a:r>
            <a:r>
              <a:rPr lang="en-US" dirty="0"/>
              <a:t>Case Control Studies: Before/after treatment</a:t>
            </a:r>
          </a:p>
        </p:txBody>
      </p:sp>
    </p:spTree>
    <p:extLst>
      <p:ext uri="{BB962C8B-B14F-4D97-AF65-F5344CB8AC3E}">
        <p14:creationId xmlns:p14="http://schemas.microsoft.com/office/powerpoint/2010/main" val="2845950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730623" y="170328"/>
            <a:ext cx="10515600" cy="744071"/>
          </a:xfrm>
        </p:spPr>
        <p:txBody>
          <a:bodyPr>
            <a:normAutofit/>
          </a:bodyPr>
          <a:lstStyle/>
          <a:p>
            <a:r>
              <a:rPr lang="en-US" dirty="0"/>
              <a:t>Statistical Testing</a:t>
            </a:r>
          </a:p>
        </p:txBody>
      </p:sp>
      <p:sp>
        <p:nvSpPr>
          <p:cNvPr id="11" name="Content Placeholder 10">
            <a:extLst>
              <a:ext uri="{FF2B5EF4-FFF2-40B4-BE49-F238E27FC236}">
                <a16:creationId xmlns:a16="http://schemas.microsoft.com/office/drawing/2014/main" id="{428FCBFD-AD48-43DB-9597-8A23DA17CBE5}"/>
              </a:ext>
            </a:extLst>
          </p:cNvPr>
          <p:cNvSpPr>
            <a:spLocks noGrp="1"/>
          </p:cNvSpPr>
          <p:nvPr>
            <p:ph idx="1"/>
          </p:nvPr>
        </p:nvSpPr>
        <p:spPr>
          <a:xfrm>
            <a:off x="838200" y="1004047"/>
            <a:ext cx="10515600" cy="5172916"/>
          </a:xfrm>
        </p:spPr>
        <p:txBody>
          <a:bodyPr/>
          <a:lstStyle/>
          <a:p>
            <a:pPr lvl="1"/>
            <a:endParaRPr lang="en-US" dirty="0"/>
          </a:p>
          <a:p>
            <a:pPr marL="0" indent="0">
              <a:buNone/>
            </a:pPr>
            <a:r>
              <a:rPr lang="en-US" sz="2400" dirty="0"/>
              <a:t> </a:t>
            </a:r>
          </a:p>
          <a:p>
            <a:pPr marL="0" indent="0">
              <a:buNone/>
            </a:pPr>
            <a:endParaRPr lang="en-US" sz="2400" dirty="0"/>
          </a:p>
          <a:p>
            <a:pPr marL="0" indent="0">
              <a:buNone/>
            </a:pPr>
            <a:endParaRPr lang="en-US" sz="2400" dirty="0"/>
          </a:p>
          <a:p>
            <a:pPr marL="0" indent="0">
              <a:buNone/>
            </a:pPr>
            <a:endParaRPr lang="en-US" sz="2400" dirty="0"/>
          </a:p>
          <a:p>
            <a:endParaRPr lang="en-US" sz="2400" dirty="0"/>
          </a:p>
        </p:txBody>
      </p:sp>
      <p:pic>
        <p:nvPicPr>
          <p:cNvPr id="5" name="Picture 4">
            <a:extLst>
              <a:ext uri="{FF2B5EF4-FFF2-40B4-BE49-F238E27FC236}">
                <a16:creationId xmlns:a16="http://schemas.microsoft.com/office/drawing/2014/main" id="{7F13962B-75DA-47F4-8E40-B2728B9D3C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7961" y="1498501"/>
            <a:ext cx="4934204" cy="1930499"/>
          </a:xfrm>
          <a:prstGeom prst="rect">
            <a:avLst/>
          </a:prstGeom>
        </p:spPr>
      </p:pic>
    </p:spTree>
    <p:extLst>
      <p:ext uri="{BB962C8B-B14F-4D97-AF65-F5344CB8AC3E}">
        <p14:creationId xmlns:p14="http://schemas.microsoft.com/office/powerpoint/2010/main" val="22787281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pic>
        <p:nvPicPr>
          <p:cNvPr id="3" name="Content Placeholder 2">
            <a:extLst>
              <a:ext uri="{FF2B5EF4-FFF2-40B4-BE49-F238E27FC236}">
                <a16:creationId xmlns:a16="http://schemas.microsoft.com/office/drawing/2014/main" id="{5C245996-0458-4EA2-8C3C-1C04078BEDD5}"/>
              </a:ext>
            </a:extLst>
          </p:cNvPr>
          <p:cNvPicPr>
            <a:picLocks noGrp="1" noChangeAspect="1"/>
          </p:cNvPicPr>
          <p:nvPr>
            <p:ph idx="1"/>
          </p:nvPr>
        </p:nvPicPr>
        <p:blipFill>
          <a:blip r:embed="rId2"/>
          <a:stretch>
            <a:fillRect/>
          </a:stretch>
        </p:blipFill>
        <p:spPr>
          <a:xfrm>
            <a:off x="635522" y="1087061"/>
            <a:ext cx="8867066" cy="1396163"/>
          </a:xfrm>
          <a:prstGeom prst="rect">
            <a:avLst/>
          </a:prstGeom>
        </p:spPr>
      </p:pic>
      <p:pic>
        <p:nvPicPr>
          <p:cNvPr id="4" name="Picture 3">
            <a:extLst>
              <a:ext uri="{FF2B5EF4-FFF2-40B4-BE49-F238E27FC236}">
                <a16:creationId xmlns:a16="http://schemas.microsoft.com/office/drawing/2014/main" id="{D39E8645-8AF1-4A4E-BCA6-C3F0150C9686}"/>
              </a:ext>
            </a:extLst>
          </p:cNvPr>
          <p:cNvPicPr>
            <a:picLocks noChangeAspect="1"/>
          </p:cNvPicPr>
          <p:nvPr/>
        </p:nvPicPr>
        <p:blipFill>
          <a:blip r:embed="rId3"/>
          <a:stretch>
            <a:fillRect/>
          </a:stretch>
        </p:blipFill>
        <p:spPr>
          <a:xfrm>
            <a:off x="702961" y="2553247"/>
            <a:ext cx="7741791" cy="3892377"/>
          </a:xfrm>
          <a:prstGeom prst="rect">
            <a:avLst/>
          </a:prstGeom>
        </p:spPr>
      </p:pic>
    </p:spTree>
    <p:extLst>
      <p:ext uri="{BB962C8B-B14F-4D97-AF65-F5344CB8AC3E}">
        <p14:creationId xmlns:p14="http://schemas.microsoft.com/office/powerpoint/2010/main" val="2559701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sp>
        <p:nvSpPr>
          <p:cNvPr id="11" name="Content Placeholder 10">
            <a:extLst>
              <a:ext uri="{FF2B5EF4-FFF2-40B4-BE49-F238E27FC236}">
                <a16:creationId xmlns:a16="http://schemas.microsoft.com/office/drawing/2014/main" id="{428FCBFD-AD48-43DB-9597-8A23DA17CBE5}"/>
              </a:ext>
            </a:extLst>
          </p:cNvPr>
          <p:cNvSpPr>
            <a:spLocks noGrp="1"/>
          </p:cNvSpPr>
          <p:nvPr>
            <p:ph idx="1"/>
          </p:nvPr>
        </p:nvSpPr>
        <p:spPr>
          <a:xfrm>
            <a:off x="279917" y="914400"/>
            <a:ext cx="11653935" cy="5775648"/>
          </a:xfrm>
        </p:spPr>
        <p:txBody>
          <a:bodyPr>
            <a:normAutofit/>
          </a:bodyPr>
          <a:lstStyle/>
          <a:p>
            <a:r>
              <a:rPr lang="en-US" b="1" dirty="0"/>
              <a:t>ANOVA</a:t>
            </a:r>
          </a:p>
          <a:p>
            <a:r>
              <a:rPr lang="en-US" dirty="0"/>
              <a:t> </a:t>
            </a:r>
            <a:r>
              <a:rPr lang="en-US" sz="2400" dirty="0"/>
              <a:t>ANOVA (Analysis of Variance) is a statistical test to determine whether two or more population means are different. In other words it is used to compare two or more groups to see if they are significantly different.</a:t>
            </a:r>
          </a:p>
          <a:p>
            <a:r>
              <a:rPr lang="en-US" sz="2400" dirty="0"/>
              <a:t>In practice, however</a:t>
            </a:r>
          </a:p>
          <a:p>
            <a:pPr lvl="1"/>
            <a:r>
              <a:rPr lang="en-US" sz="2000" dirty="0"/>
              <a:t> Student t-test is used to compare 2 groups </a:t>
            </a:r>
          </a:p>
          <a:p>
            <a:pPr lvl="1"/>
            <a:r>
              <a:rPr lang="en-US" sz="2000" dirty="0"/>
              <a:t> ANOVA generalizes the t-test beyond 2 groups, so it is used to compare 3 or more groups</a:t>
            </a:r>
          </a:p>
          <a:p>
            <a:endParaRPr lang="en-US" dirty="0"/>
          </a:p>
        </p:txBody>
      </p:sp>
      <p:pic>
        <p:nvPicPr>
          <p:cNvPr id="4" name="Picture 3">
            <a:extLst>
              <a:ext uri="{FF2B5EF4-FFF2-40B4-BE49-F238E27FC236}">
                <a16:creationId xmlns:a16="http://schemas.microsoft.com/office/drawing/2014/main" id="{B24BFBF8-971D-4E6D-A5D9-D9B6C4AAD3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5976" y="3823169"/>
            <a:ext cx="7010400" cy="2866879"/>
          </a:xfrm>
          <a:prstGeom prst="rect">
            <a:avLst/>
          </a:prstGeom>
        </p:spPr>
      </p:pic>
    </p:spTree>
    <p:extLst>
      <p:ext uri="{BB962C8B-B14F-4D97-AF65-F5344CB8AC3E}">
        <p14:creationId xmlns:p14="http://schemas.microsoft.com/office/powerpoint/2010/main" val="2328640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sp>
        <p:nvSpPr>
          <p:cNvPr id="11" name="Content Placeholder 10">
            <a:extLst>
              <a:ext uri="{FF2B5EF4-FFF2-40B4-BE49-F238E27FC236}">
                <a16:creationId xmlns:a16="http://schemas.microsoft.com/office/drawing/2014/main" id="{428FCBFD-AD48-43DB-9597-8A23DA17CBE5}"/>
              </a:ext>
            </a:extLst>
          </p:cNvPr>
          <p:cNvSpPr>
            <a:spLocks noGrp="1"/>
          </p:cNvSpPr>
          <p:nvPr>
            <p:ph idx="1"/>
          </p:nvPr>
        </p:nvSpPr>
        <p:spPr>
          <a:xfrm>
            <a:off x="279917" y="914400"/>
            <a:ext cx="11653935" cy="5775648"/>
          </a:xfrm>
        </p:spPr>
        <p:txBody>
          <a:bodyPr>
            <a:normAutofit/>
          </a:bodyPr>
          <a:lstStyle/>
          <a:p>
            <a:r>
              <a:rPr lang="en-US" b="1" dirty="0"/>
              <a:t>ANOVA</a:t>
            </a:r>
          </a:p>
          <a:p>
            <a:r>
              <a:rPr lang="en-US" sz="2400" dirty="0"/>
              <a:t>Although ANOVA is used to make inference about means of different groups, the method is called “analysis of variance”. It is called like this because it compares the “between” variance (the variance between the different groups) and the variance “within” (the variance within each group). </a:t>
            </a:r>
          </a:p>
          <a:p>
            <a:endParaRPr lang="en-US" sz="2400" dirty="0"/>
          </a:p>
          <a:p>
            <a:r>
              <a:rPr lang="en-US" sz="2400" dirty="0"/>
              <a:t>If the between variance is significantly larger than the within variance, the group means are declared to be different</a:t>
            </a:r>
          </a:p>
        </p:txBody>
      </p:sp>
    </p:spTree>
    <p:extLst>
      <p:ext uri="{BB962C8B-B14F-4D97-AF65-F5344CB8AC3E}">
        <p14:creationId xmlns:p14="http://schemas.microsoft.com/office/powerpoint/2010/main" val="33072540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sp>
        <p:nvSpPr>
          <p:cNvPr id="5" name="Content Placeholder 4">
            <a:extLst>
              <a:ext uri="{FF2B5EF4-FFF2-40B4-BE49-F238E27FC236}">
                <a16:creationId xmlns:a16="http://schemas.microsoft.com/office/drawing/2014/main" id="{3E1539AB-6410-4C49-A073-E3C8878BD061}"/>
              </a:ext>
            </a:extLst>
          </p:cNvPr>
          <p:cNvSpPr>
            <a:spLocks noGrp="1"/>
          </p:cNvSpPr>
          <p:nvPr>
            <p:ph idx="1"/>
          </p:nvPr>
        </p:nvSpPr>
        <p:spPr>
          <a:xfrm>
            <a:off x="838200" y="1017038"/>
            <a:ext cx="10515600" cy="5159925"/>
          </a:xfrm>
        </p:spPr>
        <p:txBody>
          <a:bodyPr>
            <a:normAutofit lnSpcReduction="10000"/>
          </a:bodyPr>
          <a:lstStyle/>
          <a:p>
            <a:r>
              <a:rPr lang="en-US" b="1" dirty="0"/>
              <a:t>Key Concepts:</a:t>
            </a:r>
            <a:endParaRPr lang="en-US" dirty="0"/>
          </a:p>
          <a:p>
            <a:pPr lvl="1"/>
            <a:r>
              <a:rPr lang="en-US" b="1" dirty="0"/>
              <a:t>Factors:</a:t>
            </a:r>
            <a:r>
              <a:rPr lang="en-US" dirty="0"/>
              <a:t> These are the categorical independent variables that define the groups (e.g., different types of fertilizer, different teaching methods).</a:t>
            </a:r>
          </a:p>
          <a:p>
            <a:pPr marL="457200" lvl="1" indent="0">
              <a:buNone/>
            </a:pPr>
            <a:endParaRPr lang="en-US" dirty="0"/>
          </a:p>
          <a:p>
            <a:pPr lvl="1"/>
            <a:r>
              <a:rPr lang="en-US" b="1" dirty="0"/>
              <a:t>Levels:</a:t>
            </a:r>
            <a:r>
              <a:rPr lang="en-US" dirty="0"/>
              <a:t> These are the specific categories within a factor (e.g., fertilizer A, fertilizer B, fertilizer C).</a:t>
            </a:r>
          </a:p>
          <a:p>
            <a:pPr marL="457200" lvl="1" indent="0">
              <a:buNone/>
            </a:pPr>
            <a:endParaRPr lang="en-US" dirty="0"/>
          </a:p>
          <a:p>
            <a:pPr lvl="1"/>
            <a:r>
              <a:rPr lang="en-US" b="1" dirty="0"/>
              <a:t>Dependent Variable:</a:t>
            </a:r>
            <a:r>
              <a:rPr lang="en-US" dirty="0"/>
              <a:t> This is the continuous variable that you're measuring (e.g., crop yield, test scores).</a:t>
            </a:r>
          </a:p>
          <a:p>
            <a:pPr marL="457200" lvl="1" indent="0">
              <a:buNone/>
            </a:pPr>
            <a:endParaRPr lang="en-US" dirty="0"/>
          </a:p>
          <a:p>
            <a:pPr lvl="1"/>
            <a:r>
              <a:rPr lang="en-US" b="1" dirty="0"/>
              <a:t>Null Hypothesis (H0):</a:t>
            </a:r>
            <a:r>
              <a:rPr lang="en-US" dirty="0"/>
              <a:t> The means of all groups are equal.</a:t>
            </a:r>
          </a:p>
          <a:p>
            <a:pPr marL="457200" lvl="1" indent="0">
              <a:buNone/>
            </a:pPr>
            <a:endParaRPr lang="en-US" dirty="0"/>
          </a:p>
          <a:p>
            <a:pPr lvl="1"/>
            <a:r>
              <a:rPr lang="en-US" b="1" dirty="0"/>
              <a:t>Alternative Hypothesis (Ha):</a:t>
            </a:r>
            <a:r>
              <a:rPr lang="en-US" dirty="0"/>
              <a:t> At least one group mean is different from the others.</a:t>
            </a:r>
          </a:p>
          <a:p>
            <a:endParaRPr lang="en-US" dirty="0"/>
          </a:p>
        </p:txBody>
      </p:sp>
    </p:spTree>
    <p:extLst>
      <p:ext uri="{BB962C8B-B14F-4D97-AF65-F5344CB8AC3E}">
        <p14:creationId xmlns:p14="http://schemas.microsoft.com/office/powerpoint/2010/main" val="799550276"/>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sp>
        <p:nvSpPr>
          <p:cNvPr id="5" name="Content Placeholder 4">
            <a:extLst>
              <a:ext uri="{FF2B5EF4-FFF2-40B4-BE49-F238E27FC236}">
                <a16:creationId xmlns:a16="http://schemas.microsoft.com/office/drawing/2014/main" id="{3E1539AB-6410-4C49-A073-E3C8878BD061}"/>
              </a:ext>
            </a:extLst>
          </p:cNvPr>
          <p:cNvSpPr>
            <a:spLocks noGrp="1"/>
          </p:cNvSpPr>
          <p:nvPr>
            <p:ph idx="1"/>
          </p:nvPr>
        </p:nvSpPr>
        <p:spPr>
          <a:xfrm>
            <a:off x="838200" y="1017038"/>
            <a:ext cx="10515600" cy="5159925"/>
          </a:xfrm>
        </p:spPr>
        <p:txBody>
          <a:bodyPr>
            <a:normAutofit/>
          </a:bodyPr>
          <a:lstStyle/>
          <a:p>
            <a:r>
              <a:rPr lang="en-US" b="1" dirty="0"/>
              <a:t>Types of ANOVA</a:t>
            </a:r>
          </a:p>
          <a:p>
            <a:pPr marL="0" indent="0">
              <a:buNone/>
            </a:pPr>
            <a:endParaRPr lang="en-US" dirty="0"/>
          </a:p>
          <a:p>
            <a:pPr lvl="1"/>
            <a:r>
              <a:rPr lang="en-US" b="1" dirty="0"/>
              <a:t>One-Way ANOVA:</a:t>
            </a:r>
            <a:endParaRPr lang="en-US" dirty="0"/>
          </a:p>
          <a:p>
            <a:pPr lvl="2"/>
            <a:r>
              <a:rPr lang="en-US" dirty="0"/>
              <a:t>Used when you have one factor with multiple levels.</a:t>
            </a:r>
          </a:p>
          <a:p>
            <a:pPr lvl="2"/>
            <a:r>
              <a:rPr lang="en-US" dirty="0"/>
              <a:t>Example: Comparing the average crop yield of three different fertilizer types.</a:t>
            </a:r>
          </a:p>
          <a:p>
            <a:pPr marL="914400" lvl="2" indent="0">
              <a:buNone/>
            </a:pPr>
            <a:endParaRPr lang="en-US" dirty="0"/>
          </a:p>
          <a:p>
            <a:pPr lvl="1"/>
            <a:r>
              <a:rPr lang="en-US" b="1" dirty="0"/>
              <a:t>Two-Way ANOVA:</a:t>
            </a:r>
            <a:r>
              <a:rPr lang="en-US" dirty="0"/>
              <a:t> </a:t>
            </a:r>
          </a:p>
          <a:p>
            <a:pPr lvl="2"/>
            <a:r>
              <a:rPr lang="en-US" dirty="0"/>
              <a:t>Used when you have two factors.</a:t>
            </a:r>
          </a:p>
          <a:p>
            <a:pPr lvl="2"/>
            <a:r>
              <a:rPr lang="en-US" dirty="0"/>
              <a:t>It allows you to examine the main effects of each factor and the interaction effect between them.</a:t>
            </a:r>
          </a:p>
          <a:p>
            <a:pPr lvl="2"/>
            <a:r>
              <a:rPr lang="en-US" dirty="0"/>
              <a:t>Example: Comparing crop yield based on fertilizer type and planting density.</a:t>
            </a:r>
          </a:p>
          <a:p>
            <a:endParaRPr lang="en-US" dirty="0"/>
          </a:p>
        </p:txBody>
      </p:sp>
    </p:spTree>
    <p:extLst>
      <p:ext uri="{BB962C8B-B14F-4D97-AF65-F5344CB8AC3E}">
        <p14:creationId xmlns:p14="http://schemas.microsoft.com/office/powerpoint/2010/main" val="327868540"/>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sp>
        <p:nvSpPr>
          <p:cNvPr id="11" name="Content Placeholder 10">
            <a:extLst>
              <a:ext uri="{FF2B5EF4-FFF2-40B4-BE49-F238E27FC236}">
                <a16:creationId xmlns:a16="http://schemas.microsoft.com/office/drawing/2014/main" id="{428FCBFD-AD48-43DB-9597-8A23DA17CBE5}"/>
              </a:ext>
            </a:extLst>
          </p:cNvPr>
          <p:cNvSpPr>
            <a:spLocks noGrp="1"/>
          </p:cNvSpPr>
          <p:nvPr>
            <p:ph idx="1"/>
          </p:nvPr>
        </p:nvSpPr>
        <p:spPr>
          <a:xfrm>
            <a:off x="279917" y="914400"/>
            <a:ext cx="11653935" cy="5775648"/>
          </a:xfrm>
        </p:spPr>
        <p:txBody>
          <a:bodyPr>
            <a:normAutofit/>
          </a:bodyPr>
          <a:lstStyle/>
          <a:p>
            <a:r>
              <a:rPr lang="en-US" b="1" dirty="0"/>
              <a:t>Example: One way ANOVA</a:t>
            </a:r>
          </a:p>
          <a:p>
            <a:r>
              <a:rPr lang="en-US" dirty="0"/>
              <a:t> Data for the present article is the penguins dataset </a:t>
            </a:r>
          </a:p>
          <a:p>
            <a:r>
              <a:rPr lang="en-US" dirty="0"/>
              <a:t>ANOVA in R can be done using </a:t>
            </a:r>
            <a:r>
              <a:rPr lang="en-US" dirty="0" err="1"/>
              <a:t>aov</a:t>
            </a:r>
            <a:r>
              <a:rPr lang="en-US" dirty="0"/>
              <a:t>() function</a:t>
            </a:r>
          </a:p>
          <a:p>
            <a:endParaRPr lang="en-US" dirty="0"/>
          </a:p>
        </p:txBody>
      </p:sp>
      <p:pic>
        <p:nvPicPr>
          <p:cNvPr id="4" name="Picture 3">
            <a:extLst>
              <a:ext uri="{FF2B5EF4-FFF2-40B4-BE49-F238E27FC236}">
                <a16:creationId xmlns:a16="http://schemas.microsoft.com/office/drawing/2014/main" id="{AB1CFB32-ABC1-4193-A6B8-25AC998161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407299"/>
            <a:ext cx="5749212" cy="634482"/>
          </a:xfrm>
          <a:prstGeom prst="rect">
            <a:avLst/>
          </a:prstGeom>
        </p:spPr>
      </p:pic>
      <p:pic>
        <p:nvPicPr>
          <p:cNvPr id="6" name="Picture 5">
            <a:extLst>
              <a:ext uri="{FF2B5EF4-FFF2-40B4-BE49-F238E27FC236}">
                <a16:creationId xmlns:a16="http://schemas.microsoft.com/office/drawing/2014/main" id="{0DBE56E1-EE9C-43A1-BDF5-788EB1531A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041782"/>
            <a:ext cx="6225073" cy="1912774"/>
          </a:xfrm>
          <a:prstGeom prst="rect">
            <a:avLst/>
          </a:prstGeom>
        </p:spPr>
      </p:pic>
      <p:pic>
        <p:nvPicPr>
          <p:cNvPr id="8" name="Picture 7">
            <a:extLst>
              <a:ext uri="{FF2B5EF4-FFF2-40B4-BE49-F238E27FC236}">
                <a16:creationId xmlns:a16="http://schemas.microsoft.com/office/drawing/2014/main" id="{634B2434-F43C-4625-A232-5334797608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5066525"/>
            <a:ext cx="5662151" cy="1623523"/>
          </a:xfrm>
          <a:prstGeom prst="rect">
            <a:avLst/>
          </a:prstGeom>
        </p:spPr>
      </p:pic>
    </p:spTree>
    <p:extLst>
      <p:ext uri="{BB962C8B-B14F-4D97-AF65-F5344CB8AC3E}">
        <p14:creationId xmlns:p14="http://schemas.microsoft.com/office/powerpoint/2010/main" val="32144674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sp>
        <p:nvSpPr>
          <p:cNvPr id="11" name="Content Placeholder 10">
            <a:extLst>
              <a:ext uri="{FF2B5EF4-FFF2-40B4-BE49-F238E27FC236}">
                <a16:creationId xmlns:a16="http://schemas.microsoft.com/office/drawing/2014/main" id="{428FCBFD-AD48-43DB-9597-8A23DA17CBE5}"/>
              </a:ext>
            </a:extLst>
          </p:cNvPr>
          <p:cNvSpPr>
            <a:spLocks noGrp="1"/>
          </p:cNvSpPr>
          <p:nvPr>
            <p:ph idx="1"/>
          </p:nvPr>
        </p:nvSpPr>
        <p:spPr>
          <a:xfrm>
            <a:off x="279917" y="914400"/>
            <a:ext cx="11653935" cy="5775648"/>
          </a:xfrm>
        </p:spPr>
        <p:txBody>
          <a:bodyPr>
            <a:normAutofit/>
          </a:bodyPr>
          <a:lstStyle/>
          <a:p>
            <a:r>
              <a:rPr lang="en-US" dirty="0"/>
              <a:t>Given that the p-value is smaller than 0.05, we reject the null hypothesis, so we reject the hypothesis that all means are equal. </a:t>
            </a:r>
          </a:p>
          <a:p>
            <a:r>
              <a:rPr lang="en-US" dirty="0"/>
              <a:t>Therefore, we can conclude that at least one species is different than the others in terms of flippers length (p-value &lt; 2.2e-16). </a:t>
            </a:r>
          </a:p>
        </p:txBody>
      </p:sp>
    </p:spTree>
    <p:extLst>
      <p:ext uri="{BB962C8B-B14F-4D97-AF65-F5344CB8AC3E}">
        <p14:creationId xmlns:p14="http://schemas.microsoft.com/office/powerpoint/2010/main" val="37949075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847-6F2F-4AF7-BF5A-9D6B16674F87}"/>
              </a:ext>
            </a:extLst>
          </p:cNvPr>
          <p:cNvSpPr>
            <a:spLocks noGrp="1"/>
          </p:cNvSpPr>
          <p:nvPr>
            <p:ph type="title"/>
          </p:nvPr>
        </p:nvSpPr>
        <p:spPr>
          <a:xfrm>
            <a:off x="838200" y="167952"/>
            <a:ext cx="10515600" cy="849086"/>
          </a:xfrm>
        </p:spPr>
        <p:txBody>
          <a:bodyPr/>
          <a:lstStyle/>
          <a:p>
            <a:r>
              <a:rPr lang="en-US" dirty="0"/>
              <a:t>Statistical Testing</a:t>
            </a:r>
          </a:p>
        </p:txBody>
      </p:sp>
      <p:sp>
        <p:nvSpPr>
          <p:cNvPr id="5" name="Content Placeholder 4">
            <a:extLst>
              <a:ext uri="{FF2B5EF4-FFF2-40B4-BE49-F238E27FC236}">
                <a16:creationId xmlns:a16="http://schemas.microsoft.com/office/drawing/2014/main" id="{3E1539AB-6410-4C49-A073-E3C8878BD061}"/>
              </a:ext>
            </a:extLst>
          </p:cNvPr>
          <p:cNvSpPr>
            <a:spLocks noGrp="1"/>
          </p:cNvSpPr>
          <p:nvPr>
            <p:ph idx="1"/>
          </p:nvPr>
        </p:nvSpPr>
        <p:spPr>
          <a:xfrm>
            <a:off x="838200" y="1017038"/>
            <a:ext cx="10515600" cy="5159925"/>
          </a:xfrm>
        </p:spPr>
        <p:txBody>
          <a:bodyPr>
            <a:normAutofit/>
          </a:bodyPr>
          <a:lstStyle/>
          <a:p>
            <a:r>
              <a:rPr lang="en-US" dirty="0"/>
              <a:t>Example: Two way ANOVA:</a:t>
            </a:r>
          </a:p>
          <a:p>
            <a:endParaRPr lang="en-US" dirty="0"/>
          </a:p>
        </p:txBody>
      </p:sp>
      <p:pic>
        <p:nvPicPr>
          <p:cNvPr id="4" name="Content Placeholder 3">
            <a:extLst>
              <a:ext uri="{FF2B5EF4-FFF2-40B4-BE49-F238E27FC236}">
                <a16:creationId xmlns:a16="http://schemas.microsoft.com/office/drawing/2014/main" id="{FBE063EB-B7DE-4133-8751-8DB8A4EE7F85}"/>
              </a:ext>
            </a:extLst>
          </p:cNvPr>
          <p:cNvPicPr>
            <a:picLocks noChangeAspect="1"/>
          </p:cNvPicPr>
          <p:nvPr/>
        </p:nvPicPr>
        <p:blipFill>
          <a:blip r:embed="rId3"/>
          <a:stretch>
            <a:fillRect/>
          </a:stretch>
        </p:blipFill>
        <p:spPr>
          <a:xfrm>
            <a:off x="994764" y="1713908"/>
            <a:ext cx="8274741" cy="1942042"/>
          </a:xfrm>
          <a:prstGeom prst="rect">
            <a:avLst/>
          </a:prstGeom>
        </p:spPr>
      </p:pic>
      <p:pic>
        <p:nvPicPr>
          <p:cNvPr id="6" name="Picture 5">
            <a:extLst>
              <a:ext uri="{FF2B5EF4-FFF2-40B4-BE49-F238E27FC236}">
                <a16:creationId xmlns:a16="http://schemas.microsoft.com/office/drawing/2014/main" id="{007400D9-B0A5-48C1-A91B-F357EAACE6DE}"/>
              </a:ext>
            </a:extLst>
          </p:cNvPr>
          <p:cNvPicPr>
            <a:picLocks noChangeAspect="1"/>
          </p:cNvPicPr>
          <p:nvPr/>
        </p:nvPicPr>
        <p:blipFill>
          <a:blip r:embed="rId4"/>
          <a:stretch>
            <a:fillRect/>
          </a:stretch>
        </p:blipFill>
        <p:spPr>
          <a:xfrm>
            <a:off x="994764" y="3760965"/>
            <a:ext cx="9363637" cy="1488142"/>
          </a:xfrm>
          <a:prstGeom prst="rect">
            <a:avLst/>
          </a:prstGeom>
        </p:spPr>
      </p:pic>
    </p:spTree>
    <p:extLst>
      <p:ext uri="{BB962C8B-B14F-4D97-AF65-F5344CB8AC3E}">
        <p14:creationId xmlns:p14="http://schemas.microsoft.com/office/powerpoint/2010/main" val="2105109057"/>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00609-3083-4796-ABA2-A5C516278ABC}"/>
              </a:ext>
            </a:extLst>
          </p:cNvPr>
          <p:cNvSpPr>
            <a:spLocks noGrp="1"/>
          </p:cNvSpPr>
          <p:nvPr>
            <p:ph type="title"/>
          </p:nvPr>
        </p:nvSpPr>
        <p:spPr>
          <a:xfrm>
            <a:off x="838200" y="149291"/>
            <a:ext cx="10515600" cy="811762"/>
          </a:xfrm>
        </p:spPr>
        <p:txBody>
          <a:bodyPr/>
          <a:lstStyle/>
          <a:p>
            <a:r>
              <a:rPr lang="en-US" dirty="0"/>
              <a:t>Normal Distribution</a:t>
            </a:r>
          </a:p>
        </p:txBody>
      </p:sp>
      <p:sp>
        <p:nvSpPr>
          <p:cNvPr id="3" name="Content Placeholder 2">
            <a:extLst>
              <a:ext uri="{FF2B5EF4-FFF2-40B4-BE49-F238E27FC236}">
                <a16:creationId xmlns:a16="http://schemas.microsoft.com/office/drawing/2014/main" id="{AE5DD17C-D2FF-4CF7-A405-261716F6A4F2}"/>
              </a:ext>
            </a:extLst>
          </p:cNvPr>
          <p:cNvSpPr>
            <a:spLocks noGrp="1"/>
          </p:cNvSpPr>
          <p:nvPr>
            <p:ph idx="1"/>
          </p:nvPr>
        </p:nvSpPr>
        <p:spPr>
          <a:xfrm>
            <a:off x="466531" y="1138335"/>
            <a:ext cx="11392677" cy="5570374"/>
          </a:xfrm>
        </p:spPr>
        <p:txBody>
          <a:bodyPr>
            <a:normAutofit lnSpcReduction="10000"/>
          </a:bodyPr>
          <a:lstStyle/>
          <a:p>
            <a:r>
              <a:rPr lang="en-US" dirty="0"/>
              <a:t> Generally, it is observed that the collection of random data from independent sources is distributed normally </a:t>
            </a:r>
          </a:p>
          <a:p>
            <a:r>
              <a:rPr lang="en-US" dirty="0"/>
              <a:t> We get a bell shape curve on plotting a graph with the value of the variable on the horizontal axis and the count of the values in the vertical axis </a:t>
            </a:r>
          </a:p>
          <a:p>
            <a:r>
              <a:rPr lang="en-US" dirty="0"/>
              <a:t>The center of the curve represents the mean of the dataset.</a:t>
            </a:r>
          </a:p>
          <a:p>
            <a:endParaRPr lang="en-US" dirty="0"/>
          </a:p>
          <a:p>
            <a:pPr marL="0" indent="0">
              <a:buNone/>
            </a:pPr>
            <a:endParaRPr lang="en-US" dirty="0"/>
          </a:p>
          <a:p>
            <a:r>
              <a:rPr lang="en-US" dirty="0"/>
              <a:t> It has four inbuilt functions:</a:t>
            </a:r>
          </a:p>
          <a:p>
            <a:r>
              <a:rPr lang="en-US" dirty="0"/>
              <a:t>1.dnorm()</a:t>
            </a:r>
          </a:p>
          <a:p>
            <a:r>
              <a:rPr lang="en-US" dirty="0"/>
              <a:t>2.qnorm()</a:t>
            </a:r>
          </a:p>
          <a:p>
            <a:r>
              <a:rPr lang="en-US" dirty="0"/>
              <a:t>3.pnorm()</a:t>
            </a:r>
          </a:p>
          <a:p>
            <a:r>
              <a:rPr lang="en-US" dirty="0"/>
              <a:t>4.rnorm()</a:t>
            </a:r>
          </a:p>
        </p:txBody>
      </p:sp>
      <p:pic>
        <p:nvPicPr>
          <p:cNvPr id="4" name="Picture 3">
            <a:extLst>
              <a:ext uri="{FF2B5EF4-FFF2-40B4-BE49-F238E27FC236}">
                <a16:creationId xmlns:a16="http://schemas.microsoft.com/office/drawing/2014/main" id="{85A87791-89AD-4500-817B-86D277E06A6C}"/>
              </a:ext>
            </a:extLst>
          </p:cNvPr>
          <p:cNvPicPr>
            <a:picLocks noChangeAspect="1"/>
          </p:cNvPicPr>
          <p:nvPr/>
        </p:nvPicPr>
        <p:blipFill>
          <a:blip r:embed="rId2"/>
          <a:stretch>
            <a:fillRect/>
          </a:stretch>
        </p:blipFill>
        <p:spPr>
          <a:xfrm>
            <a:off x="3356875" y="3284899"/>
            <a:ext cx="1983346" cy="792051"/>
          </a:xfrm>
          <a:prstGeom prst="rect">
            <a:avLst/>
          </a:prstGeom>
        </p:spPr>
      </p:pic>
    </p:spTree>
    <p:extLst>
      <p:ext uri="{BB962C8B-B14F-4D97-AF65-F5344CB8AC3E}">
        <p14:creationId xmlns:p14="http://schemas.microsoft.com/office/powerpoint/2010/main" val="3130624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E3604-CC21-473F-AC3A-9F85E19E6E0B}"/>
              </a:ext>
            </a:extLst>
          </p:cNvPr>
          <p:cNvSpPr>
            <a:spLocks noGrp="1"/>
          </p:cNvSpPr>
          <p:nvPr>
            <p:ph type="title"/>
          </p:nvPr>
        </p:nvSpPr>
        <p:spPr>
          <a:xfrm>
            <a:off x="838200" y="139960"/>
            <a:ext cx="10515600" cy="541077"/>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B140B034-F8BE-4F5D-8DD5-8CD712045DAE}"/>
              </a:ext>
            </a:extLst>
          </p:cNvPr>
          <p:cNvSpPr>
            <a:spLocks noGrp="1"/>
          </p:cNvSpPr>
          <p:nvPr>
            <p:ph idx="1"/>
          </p:nvPr>
        </p:nvSpPr>
        <p:spPr>
          <a:xfrm>
            <a:off x="838200" y="895738"/>
            <a:ext cx="10515600" cy="5822301"/>
          </a:xfrm>
        </p:spPr>
        <p:txBody>
          <a:bodyPr/>
          <a:lstStyle/>
          <a:p>
            <a:r>
              <a:rPr lang="en-US" dirty="0"/>
              <a:t> We use the following functions in the given parameters</a:t>
            </a:r>
          </a:p>
          <a:p>
            <a:pPr lvl="1"/>
            <a:r>
              <a:rPr lang="en-US" dirty="0"/>
              <a:t>x is a vector of numbers.</a:t>
            </a:r>
          </a:p>
          <a:p>
            <a:pPr lvl="1"/>
            <a:r>
              <a:rPr lang="en-US" dirty="0"/>
              <a:t>p is a vector of probabilities</a:t>
            </a:r>
          </a:p>
          <a:p>
            <a:pPr lvl="1"/>
            <a:r>
              <a:rPr lang="en-US" dirty="0"/>
              <a:t>n is the </a:t>
            </a:r>
            <a:r>
              <a:rPr lang="en-US" dirty="0" err="1"/>
              <a:t>no.of</a:t>
            </a:r>
            <a:r>
              <a:rPr lang="en-US" dirty="0"/>
              <a:t> observations (sample size)</a:t>
            </a:r>
          </a:p>
          <a:p>
            <a:pPr lvl="1"/>
            <a:r>
              <a:rPr lang="en-US" dirty="0"/>
              <a:t>Here, mean is the mean value of the sample data with a default value of zero</a:t>
            </a:r>
          </a:p>
          <a:p>
            <a:pPr lvl="1"/>
            <a:r>
              <a:rPr lang="en-US" dirty="0"/>
              <a:t>Sd is the standard deviation with the default value of 1</a:t>
            </a:r>
          </a:p>
          <a:p>
            <a:r>
              <a:rPr lang="en-US" b="1" dirty="0" err="1"/>
              <a:t>dnorm</a:t>
            </a:r>
            <a:r>
              <a:rPr lang="en-US" b="1" dirty="0"/>
              <a:t>()</a:t>
            </a:r>
            <a:endParaRPr lang="en-US" dirty="0"/>
          </a:p>
          <a:p>
            <a:r>
              <a:rPr lang="en-US" sz="2000" dirty="0"/>
              <a:t> </a:t>
            </a:r>
            <a:r>
              <a:rPr lang="en-US" dirty="0"/>
              <a:t>The </a:t>
            </a:r>
            <a:r>
              <a:rPr lang="en-US" dirty="0" err="1"/>
              <a:t>dnorm</a:t>
            </a:r>
            <a:r>
              <a:rPr lang="en-US" dirty="0"/>
              <a:t>() function of R calculates the height of the probability distribution at each point for a given mean and standard deviation. The probability density of the normal distribution is:</a:t>
            </a:r>
          </a:p>
          <a:p>
            <a:pPr lvl="1"/>
            <a:r>
              <a:rPr lang="en-US" b="1" dirty="0" err="1"/>
              <a:t>dnorm</a:t>
            </a:r>
            <a:r>
              <a:rPr lang="en-US" b="1" dirty="0"/>
              <a:t>(x, mean, </a:t>
            </a:r>
            <a:r>
              <a:rPr lang="en-US" b="1" dirty="0" err="1"/>
              <a:t>sd</a:t>
            </a:r>
            <a:r>
              <a:rPr lang="en-US" b="1" dirty="0"/>
              <a:t>)</a:t>
            </a:r>
            <a:endParaRPr lang="en-US" dirty="0"/>
          </a:p>
        </p:txBody>
      </p:sp>
      <p:pic>
        <p:nvPicPr>
          <p:cNvPr id="4" name="Picture 3">
            <a:extLst>
              <a:ext uri="{FF2B5EF4-FFF2-40B4-BE49-F238E27FC236}">
                <a16:creationId xmlns:a16="http://schemas.microsoft.com/office/drawing/2014/main" id="{B4E7EC00-D916-4941-9C41-B00B425C4F28}"/>
              </a:ext>
            </a:extLst>
          </p:cNvPr>
          <p:cNvPicPr>
            <a:picLocks noChangeAspect="1"/>
          </p:cNvPicPr>
          <p:nvPr/>
        </p:nvPicPr>
        <p:blipFill>
          <a:blip r:embed="rId2"/>
          <a:stretch>
            <a:fillRect/>
          </a:stretch>
        </p:blipFill>
        <p:spPr>
          <a:xfrm>
            <a:off x="1339096" y="5738589"/>
            <a:ext cx="5203065" cy="904807"/>
          </a:xfrm>
          <a:prstGeom prst="rect">
            <a:avLst/>
          </a:prstGeom>
        </p:spPr>
      </p:pic>
      <p:pic>
        <p:nvPicPr>
          <p:cNvPr id="5" name="Picture 4">
            <a:extLst>
              <a:ext uri="{FF2B5EF4-FFF2-40B4-BE49-F238E27FC236}">
                <a16:creationId xmlns:a16="http://schemas.microsoft.com/office/drawing/2014/main" id="{9D666302-AA6D-4D19-955E-7AB8B2B1FA61}"/>
              </a:ext>
            </a:extLst>
          </p:cNvPr>
          <p:cNvPicPr>
            <a:picLocks noChangeAspect="1"/>
          </p:cNvPicPr>
          <p:nvPr/>
        </p:nvPicPr>
        <p:blipFill>
          <a:blip r:embed="rId3"/>
          <a:stretch>
            <a:fillRect/>
          </a:stretch>
        </p:blipFill>
        <p:spPr>
          <a:xfrm>
            <a:off x="8904119" y="4702628"/>
            <a:ext cx="2301945" cy="1791478"/>
          </a:xfrm>
          <a:prstGeom prst="rect">
            <a:avLst/>
          </a:prstGeom>
        </p:spPr>
      </p:pic>
    </p:spTree>
    <p:extLst>
      <p:ext uri="{BB962C8B-B14F-4D97-AF65-F5344CB8AC3E}">
        <p14:creationId xmlns:p14="http://schemas.microsoft.com/office/powerpoint/2010/main" val="27612620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C8931-43EA-4E63-9BEA-AD7DBA4295A6}"/>
              </a:ext>
            </a:extLst>
          </p:cNvPr>
          <p:cNvSpPr>
            <a:spLocks noGrp="1"/>
          </p:cNvSpPr>
          <p:nvPr>
            <p:ph type="title"/>
          </p:nvPr>
        </p:nvSpPr>
        <p:spPr>
          <a:xfrm>
            <a:off x="838200" y="186612"/>
            <a:ext cx="10515600" cy="494425"/>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1E570F48-9404-4062-842A-88A3511545D8}"/>
              </a:ext>
            </a:extLst>
          </p:cNvPr>
          <p:cNvSpPr>
            <a:spLocks noGrp="1"/>
          </p:cNvSpPr>
          <p:nvPr>
            <p:ph idx="1"/>
          </p:nvPr>
        </p:nvSpPr>
        <p:spPr>
          <a:xfrm>
            <a:off x="363894" y="886408"/>
            <a:ext cx="11560628" cy="5673012"/>
          </a:xfrm>
        </p:spPr>
        <p:txBody>
          <a:bodyPr/>
          <a:lstStyle/>
          <a:p>
            <a:r>
              <a:rPr lang="en-US" b="1" dirty="0" err="1"/>
              <a:t>qnorm</a:t>
            </a:r>
            <a:r>
              <a:rPr lang="en-US" b="1" dirty="0"/>
              <a:t>():</a:t>
            </a:r>
          </a:p>
          <a:p>
            <a:pPr lvl="1"/>
            <a:r>
              <a:rPr lang="en-US" dirty="0" err="1"/>
              <a:t>qnorm</a:t>
            </a:r>
            <a:r>
              <a:rPr lang="en-US" dirty="0"/>
              <a:t>() function is the inverse of </a:t>
            </a:r>
            <a:r>
              <a:rPr lang="en-US" dirty="0" err="1"/>
              <a:t>pnorm</a:t>
            </a:r>
            <a:r>
              <a:rPr lang="en-US" dirty="0"/>
              <a:t>() function. It takes the probability value and gives output which corresponds to the probability value. It is useful in finding the percentiles of a normal distribution.</a:t>
            </a:r>
          </a:p>
          <a:p>
            <a:pPr lvl="2"/>
            <a:r>
              <a:rPr lang="en-US" b="1" dirty="0" err="1"/>
              <a:t>qnorm</a:t>
            </a:r>
            <a:r>
              <a:rPr lang="en-US" b="1" dirty="0"/>
              <a:t>(p, mean, </a:t>
            </a:r>
            <a:r>
              <a:rPr lang="en-US" b="1" dirty="0" err="1"/>
              <a:t>sd</a:t>
            </a:r>
            <a:r>
              <a:rPr lang="en-US" b="1" dirty="0"/>
              <a:t>)</a:t>
            </a:r>
          </a:p>
          <a:p>
            <a:pPr lvl="2"/>
            <a:endParaRPr lang="en-US" b="1" dirty="0"/>
          </a:p>
        </p:txBody>
      </p:sp>
      <p:pic>
        <p:nvPicPr>
          <p:cNvPr id="4" name="Picture 3">
            <a:extLst>
              <a:ext uri="{FF2B5EF4-FFF2-40B4-BE49-F238E27FC236}">
                <a16:creationId xmlns:a16="http://schemas.microsoft.com/office/drawing/2014/main" id="{9DB15CE4-3C83-4686-A49D-B6242F0D250E}"/>
              </a:ext>
            </a:extLst>
          </p:cNvPr>
          <p:cNvPicPr>
            <a:picLocks noChangeAspect="1"/>
          </p:cNvPicPr>
          <p:nvPr/>
        </p:nvPicPr>
        <p:blipFill>
          <a:blip r:embed="rId2"/>
          <a:stretch>
            <a:fillRect/>
          </a:stretch>
        </p:blipFill>
        <p:spPr>
          <a:xfrm>
            <a:off x="1545946" y="2946568"/>
            <a:ext cx="3221997" cy="2623808"/>
          </a:xfrm>
          <a:prstGeom prst="rect">
            <a:avLst/>
          </a:prstGeom>
        </p:spPr>
      </p:pic>
    </p:spTree>
    <p:extLst>
      <p:ext uri="{BB962C8B-B14F-4D97-AF65-F5344CB8AC3E}">
        <p14:creationId xmlns:p14="http://schemas.microsoft.com/office/powerpoint/2010/main" val="16514033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74C83-57A0-437A-9F53-74B20A08BEC4}"/>
              </a:ext>
            </a:extLst>
          </p:cNvPr>
          <p:cNvSpPr>
            <a:spLocks noGrp="1"/>
          </p:cNvSpPr>
          <p:nvPr>
            <p:ph type="title"/>
          </p:nvPr>
        </p:nvSpPr>
        <p:spPr>
          <a:xfrm>
            <a:off x="838200" y="346464"/>
            <a:ext cx="10515600" cy="455969"/>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EED6B41D-EAB0-4FB7-99D8-A6E158D2530F}"/>
              </a:ext>
            </a:extLst>
          </p:cNvPr>
          <p:cNvSpPr>
            <a:spLocks noGrp="1"/>
          </p:cNvSpPr>
          <p:nvPr>
            <p:ph idx="1"/>
          </p:nvPr>
        </p:nvSpPr>
        <p:spPr>
          <a:xfrm>
            <a:off x="838200" y="1054359"/>
            <a:ext cx="10515600" cy="5691674"/>
          </a:xfrm>
        </p:spPr>
        <p:txBody>
          <a:bodyPr/>
          <a:lstStyle/>
          <a:p>
            <a:r>
              <a:rPr lang="en-US" b="1" dirty="0" err="1"/>
              <a:t>pnorm</a:t>
            </a:r>
            <a:r>
              <a:rPr lang="en-US" b="1" dirty="0"/>
              <a:t>():</a:t>
            </a:r>
          </a:p>
          <a:p>
            <a:r>
              <a:rPr lang="en-US" dirty="0" err="1"/>
              <a:t>pnorm</a:t>
            </a:r>
            <a:r>
              <a:rPr lang="en-US" dirty="0"/>
              <a:t>() function is the cumulative distribution function which measures the probability that a random number X takes a value less than or equal to x </a:t>
            </a:r>
          </a:p>
          <a:p>
            <a:pPr lvl="1"/>
            <a:r>
              <a:rPr lang="en-US" b="1" dirty="0" err="1"/>
              <a:t>pnorm</a:t>
            </a:r>
            <a:r>
              <a:rPr lang="en-US" b="1" dirty="0"/>
              <a:t>(x, mean, </a:t>
            </a:r>
            <a:r>
              <a:rPr lang="en-US" b="1" dirty="0" err="1"/>
              <a:t>sd</a:t>
            </a:r>
            <a:r>
              <a:rPr lang="en-US" b="1" dirty="0"/>
              <a:t>) </a:t>
            </a:r>
          </a:p>
          <a:p>
            <a:pPr lvl="1"/>
            <a:endParaRPr lang="en-US" b="1" dirty="0"/>
          </a:p>
        </p:txBody>
      </p:sp>
      <p:pic>
        <p:nvPicPr>
          <p:cNvPr id="4" name="Picture 3">
            <a:extLst>
              <a:ext uri="{FF2B5EF4-FFF2-40B4-BE49-F238E27FC236}">
                <a16:creationId xmlns:a16="http://schemas.microsoft.com/office/drawing/2014/main" id="{D5CC21EC-67D8-454E-BA11-336FD674F4F9}"/>
              </a:ext>
            </a:extLst>
          </p:cNvPr>
          <p:cNvPicPr>
            <a:picLocks noChangeAspect="1"/>
          </p:cNvPicPr>
          <p:nvPr/>
        </p:nvPicPr>
        <p:blipFill>
          <a:blip r:embed="rId2"/>
          <a:stretch>
            <a:fillRect/>
          </a:stretch>
        </p:blipFill>
        <p:spPr>
          <a:xfrm>
            <a:off x="1841371" y="3429000"/>
            <a:ext cx="2369713" cy="2060620"/>
          </a:xfrm>
          <a:prstGeom prst="rect">
            <a:avLst/>
          </a:prstGeom>
        </p:spPr>
      </p:pic>
    </p:spTree>
    <p:extLst>
      <p:ext uri="{BB962C8B-B14F-4D97-AF65-F5344CB8AC3E}">
        <p14:creationId xmlns:p14="http://schemas.microsoft.com/office/powerpoint/2010/main" val="5636775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949F3-6AE5-4475-8C6F-7E7F101E9F2C}"/>
              </a:ext>
            </a:extLst>
          </p:cNvPr>
          <p:cNvSpPr>
            <a:spLocks noGrp="1"/>
          </p:cNvSpPr>
          <p:nvPr>
            <p:ph type="title"/>
          </p:nvPr>
        </p:nvSpPr>
        <p:spPr>
          <a:xfrm>
            <a:off x="838200" y="346464"/>
            <a:ext cx="10515600" cy="334573"/>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5C67776D-DC57-47A3-A77A-F82B57C257A5}"/>
              </a:ext>
            </a:extLst>
          </p:cNvPr>
          <p:cNvSpPr>
            <a:spLocks noGrp="1"/>
          </p:cNvSpPr>
          <p:nvPr>
            <p:ph idx="1"/>
          </p:nvPr>
        </p:nvSpPr>
        <p:spPr>
          <a:xfrm>
            <a:off x="838200" y="979713"/>
            <a:ext cx="10515600" cy="5654351"/>
          </a:xfrm>
        </p:spPr>
        <p:txBody>
          <a:bodyPr>
            <a:normAutofit lnSpcReduction="10000"/>
          </a:bodyPr>
          <a:lstStyle/>
          <a:p>
            <a:r>
              <a:rPr lang="en-US" dirty="0"/>
              <a:t>Problem</a:t>
            </a:r>
          </a:p>
          <a:p>
            <a:pPr lvl="1"/>
            <a:r>
              <a:rPr lang="en-US" dirty="0"/>
              <a:t>Assume that the test scores of a college entrance exam fits a normal distribution. Furthermore, the mean test score is 72, and the standard deviation is 15.2. What is the percentage of students scoring 84 or more in the exam?</a:t>
            </a:r>
          </a:p>
          <a:p>
            <a:r>
              <a:rPr lang="en-US" dirty="0"/>
              <a:t>Solution</a:t>
            </a:r>
          </a:p>
          <a:p>
            <a:pPr lvl="1"/>
            <a:r>
              <a:rPr lang="en-US" dirty="0"/>
              <a:t>We apply the function </a:t>
            </a:r>
            <a:r>
              <a:rPr lang="en-US" dirty="0" err="1"/>
              <a:t>pnorm</a:t>
            </a:r>
            <a:r>
              <a:rPr lang="en-US" dirty="0"/>
              <a:t> of the normal distribution with mean 72 and standard deviation 15.2. Since we are looking for the percentage of students scoring higher than 84, we are interested in the upper tail of the normal distribution.</a:t>
            </a:r>
          </a:p>
          <a:p>
            <a:r>
              <a:rPr lang="en-US" dirty="0"/>
              <a:t>&gt; </a:t>
            </a:r>
            <a:r>
              <a:rPr lang="en-US" dirty="0" err="1"/>
              <a:t>pnorm</a:t>
            </a:r>
            <a:r>
              <a:rPr lang="en-US" dirty="0"/>
              <a:t>(84, mean=72, </a:t>
            </a:r>
            <a:r>
              <a:rPr lang="en-US" dirty="0" err="1"/>
              <a:t>sd</a:t>
            </a:r>
            <a:r>
              <a:rPr lang="en-US" dirty="0"/>
              <a:t>=15.2, </a:t>
            </a:r>
            <a:r>
              <a:rPr lang="en-US" dirty="0" err="1"/>
              <a:t>lower.tail</a:t>
            </a:r>
            <a:r>
              <a:rPr lang="en-US" dirty="0"/>
              <a:t>=FALSE) </a:t>
            </a:r>
          </a:p>
          <a:p>
            <a:r>
              <a:rPr lang="en-US" dirty="0"/>
              <a:t>[1] 0.21492</a:t>
            </a:r>
          </a:p>
          <a:p>
            <a:r>
              <a:rPr lang="en-US" dirty="0"/>
              <a:t>Answer : The percentage of students scoring 84 or more in the college entrance exam is 21.5%.</a:t>
            </a:r>
          </a:p>
        </p:txBody>
      </p:sp>
    </p:spTree>
    <p:extLst>
      <p:ext uri="{BB962C8B-B14F-4D97-AF65-F5344CB8AC3E}">
        <p14:creationId xmlns:p14="http://schemas.microsoft.com/office/powerpoint/2010/main" val="13058280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27393-B150-4914-84DB-1EAFA4A42A1C}"/>
              </a:ext>
            </a:extLst>
          </p:cNvPr>
          <p:cNvSpPr>
            <a:spLocks noGrp="1"/>
          </p:cNvSpPr>
          <p:nvPr>
            <p:ph type="title"/>
          </p:nvPr>
        </p:nvSpPr>
        <p:spPr>
          <a:xfrm>
            <a:off x="838200" y="346464"/>
            <a:ext cx="10515600" cy="549275"/>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C0864118-A6C5-4A8F-909E-5065A1ABE587}"/>
              </a:ext>
            </a:extLst>
          </p:cNvPr>
          <p:cNvSpPr>
            <a:spLocks noGrp="1"/>
          </p:cNvSpPr>
          <p:nvPr>
            <p:ph idx="1"/>
          </p:nvPr>
        </p:nvSpPr>
        <p:spPr>
          <a:xfrm>
            <a:off x="838200" y="1110343"/>
            <a:ext cx="10515600" cy="5085281"/>
          </a:xfrm>
        </p:spPr>
        <p:txBody>
          <a:bodyPr/>
          <a:lstStyle/>
          <a:p>
            <a:r>
              <a:rPr lang="en-US" b="1" dirty="0" err="1"/>
              <a:t>rnorm</a:t>
            </a:r>
            <a:r>
              <a:rPr lang="en-US" b="1" dirty="0"/>
              <a:t>():</a:t>
            </a:r>
          </a:p>
          <a:p>
            <a:pPr lvl="1"/>
            <a:r>
              <a:rPr lang="en-US" dirty="0" err="1"/>
              <a:t>rnorm</a:t>
            </a:r>
            <a:r>
              <a:rPr lang="en-US" dirty="0"/>
              <a:t>() function in R programming is used to generate a vector of random numbers which are normally distributed.</a:t>
            </a:r>
          </a:p>
          <a:p>
            <a:pPr lvl="1"/>
            <a:r>
              <a:rPr lang="en-US" b="1" dirty="0" err="1"/>
              <a:t>rnorm</a:t>
            </a:r>
            <a:r>
              <a:rPr lang="en-US" b="1" dirty="0"/>
              <a:t>(n, mean, </a:t>
            </a:r>
            <a:r>
              <a:rPr lang="en-US" b="1" dirty="0" err="1"/>
              <a:t>sd</a:t>
            </a:r>
            <a:r>
              <a:rPr lang="en-US" b="1" dirty="0"/>
              <a:t>) </a:t>
            </a:r>
          </a:p>
          <a:p>
            <a:pPr lvl="1"/>
            <a:endParaRPr lang="en-US" b="1" dirty="0"/>
          </a:p>
        </p:txBody>
      </p:sp>
      <p:pic>
        <p:nvPicPr>
          <p:cNvPr id="4" name="Picture 3">
            <a:extLst>
              <a:ext uri="{FF2B5EF4-FFF2-40B4-BE49-F238E27FC236}">
                <a16:creationId xmlns:a16="http://schemas.microsoft.com/office/drawing/2014/main" id="{2138159E-543E-4C2C-913B-B69CBDA24C7D}"/>
              </a:ext>
            </a:extLst>
          </p:cNvPr>
          <p:cNvPicPr>
            <a:picLocks noChangeAspect="1"/>
          </p:cNvPicPr>
          <p:nvPr/>
        </p:nvPicPr>
        <p:blipFill>
          <a:blip r:embed="rId2"/>
          <a:stretch>
            <a:fillRect/>
          </a:stretch>
        </p:blipFill>
        <p:spPr>
          <a:xfrm>
            <a:off x="2376897" y="3101312"/>
            <a:ext cx="2884868" cy="2260242"/>
          </a:xfrm>
          <a:prstGeom prst="rect">
            <a:avLst/>
          </a:prstGeom>
        </p:spPr>
      </p:pic>
    </p:spTree>
    <p:extLst>
      <p:ext uri="{BB962C8B-B14F-4D97-AF65-F5344CB8AC3E}">
        <p14:creationId xmlns:p14="http://schemas.microsoft.com/office/powerpoint/2010/main" val="29498636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38CF3-DCA9-4BD6-805A-C66E4640D25A}"/>
              </a:ext>
            </a:extLst>
          </p:cNvPr>
          <p:cNvSpPr>
            <a:spLocks noGrp="1"/>
          </p:cNvSpPr>
          <p:nvPr>
            <p:ph type="title"/>
          </p:nvPr>
        </p:nvSpPr>
        <p:spPr>
          <a:xfrm>
            <a:off x="838200" y="365126"/>
            <a:ext cx="10515600" cy="437308"/>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D283530C-4B69-4CFE-A1E6-039EBBA98E0E}"/>
              </a:ext>
            </a:extLst>
          </p:cNvPr>
          <p:cNvPicPr>
            <a:picLocks noGrp="1" noChangeAspect="1"/>
          </p:cNvPicPr>
          <p:nvPr>
            <p:ph idx="1"/>
          </p:nvPr>
        </p:nvPicPr>
        <p:blipFill>
          <a:blip r:embed="rId2"/>
          <a:stretch>
            <a:fillRect/>
          </a:stretch>
        </p:blipFill>
        <p:spPr>
          <a:xfrm>
            <a:off x="1707502" y="866774"/>
            <a:ext cx="7455159" cy="5626100"/>
          </a:xfrm>
          <a:prstGeom prst="rect">
            <a:avLst/>
          </a:prstGeom>
        </p:spPr>
      </p:pic>
    </p:spTree>
    <p:extLst>
      <p:ext uri="{BB962C8B-B14F-4D97-AF65-F5344CB8AC3E}">
        <p14:creationId xmlns:p14="http://schemas.microsoft.com/office/powerpoint/2010/main" val="10152864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416C1-DC73-415B-B886-B75FA53463BA}"/>
              </a:ext>
            </a:extLst>
          </p:cNvPr>
          <p:cNvSpPr>
            <a:spLocks noGrp="1"/>
          </p:cNvSpPr>
          <p:nvPr>
            <p:ph type="title"/>
          </p:nvPr>
        </p:nvSpPr>
        <p:spPr>
          <a:xfrm>
            <a:off x="421341" y="286871"/>
            <a:ext cx="11465859" cy="600635"/>
          </a:xfrm>
        </p:spPr>
        <p:txBody>
          <a:bodyPr>
            <a:normAutofit fontScale="90000"/>
          </a:bodyPr>
          <a:lstStyle/>
          <a:p>
            <a:r>
              <a:rPr lang="en-US" dirty="0"/>
              <a:t>Power Tests</a:t>
            </a:r>
          </a:p>
        </p:txBody>
      </p:sp>
      <p:sp>
        <p:nvSpPr>
          <p:cNvPr id="6" name="Content Placeholder 5">
            <a:extLst>
              <a:ext uri="{FF2B5EF4-FFF2-40B4-BE49-F238E27FC236}">
                <a16:creationId xmlns:a16="http://schemas.microsoft.com/office/drawing/2014/main" id="{2AD9FEED-4438-42B6-8BDD-9E6218543023}"/>
              </a:ext>
            </a:extLst>
          </p:cNvPr>
          <p:cNvSpPr>
            <a:spLocks noGrp="1"/>
          </p:cNvSpPr>
          <p:nvPr>
            <p:ph idx="1"/>
          </p:nvPr>
        </p:nvSpPr>
        <p:spPr>
          <a:xfrm>
            <a:off x="421341" y="1120587"/>
            <a:ext cx="11286565" cy="5450541"/>
          </a:xfrm>
        </p:spPr>
        <p:txBody>
          <a:bodyPr/>
          <a:lstStyle/>
          <a:p>
            <a:r>
              <a:rPr lang="en-US" dirty="0"/>
              <a:t>In statistics, a power test is crucial for determining the probability that a statistical test will detect an effect when there is a true effect to be detected</a:t>
            </a:r>
          </a:p>
          <a:p>
            <a:r>
              <a:rPr lang="en-US" dirty="0"/>
              <a:t>It helps us understand the likelihood of avoiding a Type II error (a false negative)</a:t>
            </a:r>
          </a:p>
          <a:p>
            <a:r>
              <a:rPr lang="en-US" dirty="0"/>
              <a:t>When designing an experiment, it’s often helpful to know how much data you need to collect to get a statistically significant sample (or, alternatively, the maximum significance of results that can be calculated from a given amount of data). </a:t>
            </a:r>
          </a:p>
          <a:p>
            <a:r>
              <a:rPr lang="en-US" dirty="0"/>
              <a:t>R provides a set of functions to help you calculate these amounts.</a:t>
            </a:r>
          </a:p>
          <a:p>
            <a:endParaRPr lang="en-US" dirty="0"/>
          </a:p>
        </p:txBody>
      </p:sp>
    </p:spTree>
    <p:extLst>
      <p:ext uri="{BB962C8B-B14F-4D97-AF65-F5344CB8AC3E}">
        <p14:creationId xmlns:p14="http://schemas.microsoft.com/office/powerpoint/2010/main" val="13559122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416C1-DC73-415B-B886-B75FA53463BA}"/>
              </a:ext>
            </a:extLst>
          </p:cNvPr>
          <p:cNvSpPr>
            <a:spLocks noGrp="1"/>
          </p:cNvSpPr>
          <p:nvPr>
            <p:ph type="title"/>
          </p:nvPr>
        </p:nvSpPr>
        <p:spPr>
          <a:xfrm>
            <a:off x="421341" y="286871"/>
            <a:ext cx="11465859" cy="600635"/>
          </a:xfrm>
        </p:spPr>
        <p:txBody>
          <a:bodyPr>
            <a:normAutofit fontScale="90000"/>
          </a:bodyPr>
          <a:lstStyle/>
          <a:p>
            <a:r>
              <a:rPr lang="en-US" b="1" dirty="0"/>
              <a:t>Power Tests</a:t>
            </a:r>
          </a:p>
        </p:txBody>
      </p:sp>
      <p:sp>
        <p:nvSpPr>
          <p:cNvPr id="6" name="Content Placeholder 5">
            <a:extLst>
              <a:ext uri="{FF2B5EF4-FFF2-40B4-BE49-F238E27FC236}">
                <a16:creationId xmlns:a16="http://schemas.microsoft.com/office/drawing/2014/main" id="{2AD9FEED-4438-42B6-8BDD-9E6218543023}"/>
              </a:ext>
            </a:extLst>
          </p:cNvPr>
          <p:cNvSpPr>
            <a:spLocks noGrp="1"/>
          </p:cNvSpPr>
          <p:nvPr>
            <p:ph idx="1"/>
          </p:nvPr>
        </p:nvSpPr>
        <p:spPr>
          <a:xfrm>
            <a:off x="421341" y="1120587"/>
            <a:ext cx="11286565" cy="5450541"/>
          </a:xfrm>
        </p:spPr>
        <p:txBody>
          <a:bodyPr/>
          <a:lstStyle/>
          <a:p>
            <a:r>
              <a:rPr lang="en-US" sz="2400" dirty="0"/>
              <a:t>Need for Power Test:</a:t>
            </a:r>
          </a:p>
          <a:p>
            <a:pPr lvl="1"/>
            <a:r>
              <a:rPr lang="en-US" sz="2000" dirty="0"/>
              <a:t>Avoiding Type II errors</a:t>
            </a:r>
          </a:p>
          <a:p>
            <a:pPr lvl="1"/>
            <a:r>
              <a:rPr lang="en-US" sz="2000" dirty="0"/>
              <a:t>Study planning and Design</a:t>
            </a:r>
          </a:p>
          <a:p>
            <a:pPr lvl="1"/>
            <a:r>
              <a:rPr lang="en-US" sz="2000" dirty="0"/>
              <a:t>Resource Optimization</a:t>
            </a:r>
          </a:p>
          <a:p>
            <a:pPr lvl="1"/>
            <a:r>
              <a:rPr lang="en-US" sz="2000" dirty="0"/>
              <a:t>Interpreting non-significant results</a:t>
            </a:r>
            <a:endParaRPr lang="en-US" dirty="0"/>
          </a:p>
          <a:p>
            <a:r>
              <a:rPr lang="en-US" sz="2400" dirty="0"/>
              <a:t>Use of Power tests:</a:t>
            </a:r>
          </a:p>
          <a:p>
            <a:pPr lvl="1"/>
            <a:r>
              <a:rPr lang="en-US" sz="2000" dirty="0"/>
              <a:t>Power</a:t>
            </a:r>
          </a:p>
          <a:p>
            <a:pPr lvl="1"/>
            <a:r>
              <a:rPr lang="en-US" sz="2000" dirty="0"/>
              <a:t>Effect Size:</a:t>
            </a:r>
          </a:p>
          <a:p>
            <a:pPr lvl="1"/>
            <a:r>
              <a:rPr lang="en-US" sz="2000" dirty="0"/>
              <a:t>Significance level</a:t>
            </a:r>
          </a:p>
          <a:p>
            <a:pPr lvl="1"/>
            <a:r>
              <a:rPr lang="en-US" sz="2000" dirty="0"/>
              <a:t>Sample size</a:t>
            </a:r>
          </a:p>
        </p:txBody>
      </p:sp>
      <p:pic>
        <p:nvPicPr>
          <p:cNvPr id="3" name="Picture 2">
            <a:extLst>
              <a:ext uri="{FF2B5EF4-FFF2-40B4-BE49-F238E27FC236}">
                <a16:creationId xmlns:a16="http://schemas.microsoft.com/office/drawing/2014/main" id="{C11EFC36-FBAA-4EF8-BD03-495D2D5C6EB6}"/>
              </a:ext>
            </a:extLst>
          </p:cNvPr>
          <p:cNvPicPr>
            <a:picLocks noChangeAspect="1"/>
          </p:cNvPicPr>
          <p:nvPr/>
        </p:nvPicPr>
        <p:blipFill>
          <a:blip r:embed="rId2"/>
          <a:stretch>
            <a:fillRect/>
          </a:stretch>
        </p:blipFill>
        <p:spPr>
          <a:xfrm>
            <a:off x="5284267" y="1120587"/>
            <a:ext cx="6486392" cy="2680446"/>
          </a:xfrm>
          <a:prstGeom prst="rect">
            <a:avLst/>
          </a:prstGeom>
        </p:spPr>
      </p:pic>
      <p:pic>
        <p:nvPicPr>
          <p:cNvPr id="4" name="Picture 3">
            <a:extLst>
              <a:ext uri="{FF2B5EF4-FFF2-40B4-BE49-F238E27FC236}">
                <a16:creationId xmlns:a16="http://schemas.microsoft.com/office/drawing/2014/main" id="{3B92410D-C76C-4A93-BB8B-D451F8396C16}"/>
              </a:ext>
            </a:extLst>
          </p:cNvPr>
          <p:cNvPicPr>
            <a:picLocks noChangeAspect="1"/>
          </p:cNvPicPr>
          <p:nvPr/>
        </p:nvPicPr>
        <p:blipFill>
          <a:blip r:embed="rId3"/>
          <a:stretch>
            <a:fillRect/>
          </a:stretch>
        </p:blipFill>
        <p:spPr>
          <a:xfrm>
            <a:off x="4984376" y="4047563"/>
            <a:ext cx="6606988" cy="2680446"/>
          </a:xfrm>
          <a:prstGeom prst="rect">
            <a:avLst/>
          </a:prstGeom>
        </p:spPr>
      </p:pic>
    </p:spTree>
    <p:extLst>
      <p:ext uri="{BB962C8B-B14F-4D97-AF65-F5344CB8AC3E}">
        <p14:creationId xmlns:p14="http://schemas.microsoft.com/office/powerpoint/2010/main" val="34922729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05AB-9AD8-4F33-96F0-209DC4B336E7}"/>
              </a:ext>
            </a:extLst>
          </p:cNvPr>
          <p:cNvSpPr>
            <a:spLocks noGrp="1"/>
          </p:cNvSpPr>
          <p:nvPr>
            <p:ph type="title"/>
          </p:nvPr>
        </p:nvSpPr>
        <p:spPr>
          <a:xfrm>
            <a:off x="838200" y="242047"/>
            <a:ext cx="10515600" cy="833719"/>
          </a:xfrm>
        </p:spPr>
        <p:txBody>
          <a:bodyPr/>
          <a:lstStyle/>
          <a:p>
            <a:r>
              <a:rPr lang="en-US" b="1" dirty="0"/>
              <a:t>Power Tests</a:t>
            </a:r>
          </a:p>
        </p:txBody>
      </p:sp>
      <p:sp>
        <p:nvSpPr>
          <p:cNvPr id="3" name="Content Placeholder 2">
            <a:extLst>
              <a:ext uri="{FF2B5EF4-FFF2-40B4-BE49-F238E27FC236}">
                <a16:creationId xmlns:a16="http://schemas.microsoft.com/office/drawing/2014/main" id="{A8EC334D-8A10-40C0-A556-1CA6EAB557DA}"/>
              </a:ext>
            </a:extLst>
          </p:cNvPr>
          <p:cNvSpPr>
            <a:spLocks noGrp="1"/>
          </p:cNvSpPr>
          <p:nvPr>
            <p:ph idx="1"/>
          </p:nvPr>
        </p:nvSpPr>
        <p:spPr>
          <a:xfrm>
            <a:off x="466165" y="1174375"/>
            <a:ext cx="11277600" cy="5441577"/>
          </a:xfrm>
        </p:spPr>
        <p:txBody>
          <a:bodyPr/>
          <a:lstStyle/>
          <a:p>
            <a:r>
              <a:rPr lang="en-US" b="1" dirty="0"/>
              <a:t>t-Test Design:</a:t>
            </a:r>
          </a:p>
          <a:p>
            <a:r>
              <a:rPr lang="en-US" dirty="0"/>
              <a:t>If you are designing an experiment where you will use a </a:t>
            </a:r>
            <a:r>
              <a:rPr lang="en-US" i="1" dirty="0"/>
              <a:t>t</a:t>
            </a:r>
            <a:r>
              <a:rPr lang="en-US" dirty="0"/>
              <a:t>-test to check the significance of the results, then you can use the </a:t>
            </a:r>
            <a:r>
              <a:rPr lang="en-US" sz="2400" dirty="0" err="1"/>
              <a:t>power.t.test</a:t>
            </a:r>
            <a:r>
              <a:rPr lang="en-US" sz="2400" dirty="0"/>
              <a:t> </a:t>
            </a:r>
            <a:r>
              <a:rPr lang="en-US" dirty="0"/>
              <a:t>function to help design the experiment:</a:t>
            </a:r>
          </a:p>
          <a:p>
            <a:r>
              <a:rPr lang="en-US" dirty="0"/>
              <a:t>This function will calculate either n, delta, </a:t>
            </a:r>
            <a:r>
              <a:rPr lang="en-US" dirty="0" err="1"/>
              <a:t>sig.level</a:t>
            </a:r>
            <a:r>
              <a:rPr lang="en-US" dirty="0"/>
              <a:t>, </a:t>
            </a:r>
            <a:r>
              <a:rPr lang="en-US" dirty="0" err="1"/>
              <a:t>sd</a:t>
            </a:r>
            <a:r>
              <a:rPr lang="en-US" dirty="0"/>
              <a:t>, or power</a:t>
            </a:r>
          </a:p>
          <a:p>
            <a:endParaRPr lang="en-US" b="1" dirty="0"/>
          </a:p>
          <a:p>
            <a:pPr lvl="1"/>
            <a:endParaRPr lang="en-US" b="1" dirty="0"/>
          </a:p>
        </p:txBody>
      </p:sp>
      <p:pic>
        <p:nvPicPr>
          <p:cNvPr id="4" name="Picture 3">
            <a:extLst>
              <a:ext uri="{FF2B5EF4-FFF2-40B4-BE49-F238E27FC236}">
                <a16:creationId xmlns:a16="http://schemas.microsoft.com/office/drawing/2014/main" id="{0896DF65-2D40-46F6-9075-E615C0046302}"/>
              </a:ext>
            </a:extLst>
          </p:cNvPr>
          <p:cNvPicPr>
            <a:picLocks noChangeAspect="1"/>
          </p:cNvPicPr>
          <p:nvPr/>
        </p:nvPicPr>
        <p:blipFill>
          <a:blip r:embed="rId2"/>
          <a:stretch>
            <a:fillRect/>
          </a:stretch>
        </p:blipFill>
        <p:spPr>
          <a:xfrm>
            <a:off x="724237" y="3895163"/>
            <a:ext cx="4898349" cy="1788462"/>
          </a:xfrm>
          <a:prstGeom prst="rect">
            <a:avLst/>
          </a:prstGeom>
        </p:spPr>
      </p:pic>
      <p:pic>
        <p:nvPicPr>
          <p:cNvPr id="5" name="Picture 4">
            <a:extLst>
              <a:ext uri="{FF2B5EF4-FFF2-40B4-BE49-F238E27FC236}">
                <a16:creationId xmlns:a16="http://schemas.microsoft.com/office/drawing/2014/main" id="{306091C0-C8C1-4848-B41C-F4DE9CD628F9}"/>
              </a:ext>
            </a:extLst>
          </p:cNvPr>
          <p:cNvPicPr>
            <a:picLocks noChangeAspect="1"/>
          </p:cNvPicPr>
          <p:nvPr/>
        </p:nvPicPr>
        <p:blipFill>
          <a:blip r:embed="rId3"/>
          <a:stretch>
            <a:fillRect/>
          </a:stretch>
        </p:blipFill>
        <p:spPr>
          <a:xfrm>
            <a:off x="5369668" y="3501956"/>
            <a:ext cx="6650099" cy="3113995"/>
          </a:xfrm>
          <a:prstGeom prst="rect">
            <a:avLst/>
          </a:prstGeom>
        </p:spPr>
      </p:pic>
    </p:spTree>
    <p:extLst>
      <p:ext uri="{BB962C8B-B14F-4D97-AF65-F5344CB8AC3E}">
        <p14:creationId xmlns:p14="http://schemas.microsoft.com/office/powerpoint/2010/main" val="454696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05AB-9AD8-4F33-96F0-209DC4B336E7}"/>
              </a:ext>
            </a:extLst>
          </p:cNvPr>
          <p:cNvSpPr>
            <a:spLocks noGrp="1"/>
          </p:cNvSpPr>
          <p:nvPr>
            <p:ph type="title"/>
          </p:nvPr>
        </p:nvSpPr>
        <p:spPr>
          <a:xfrm>
            <a:off x="838200" y="242047"/>
            <a:ext cx="10515600" cy="565349"/>
          </a:xfrm>
        </p:spPr>
        <p:txBody>
          <a:bodyPr>
            <a:normAutofit fontScale="90000"/>
          </a:bodyPr>
          <a:lstStyle/>
          <a:p>
            <a:r>
              <a:rPr lang="en-US" b="1" dirty="0"/>
              <a:t>Power Tests</a:t>
            </a:r>
          </a:p>
        </p:txBody>
      </p:sp>
      <p:sp>
        <p:nvSpPr>
          <p:cNvPr id="3" name="Content Placeholder 2">
            <a:extLst>
              <a:ext uri="{FF2B5EF4-FFF2-40B4-BE49-F238E27FC236}">
                <a16:creationId xmlns:a16="http://schemas.microsoft.com/office/drawing/2014/main" id="{A8EC334D-8A10-40C0-A556-1CA6EAB557DA}"/>
              </a:ext>
            </a:extLst>
          </p:cNvPr>
          <p:cNvSpPr>
            <a:spLocks noGrp="1"/>
          </p:cNvSpPr>
          <p:nvPr>
            <p:ph idx="1"/>
          </p:nvPr>
        </p:nvSpPr>
        <p:spPr>
          <a:xfrm>
            <a:off x="311284" y="807397"/>
            <a:ext cx="11624553" cy="5808556"/>
          </a:xfrm>
        </p:spPr>
        <p:txBody>
          <a:bodyPr/>
          <a:lstStyle/>
          <a:p>
            <a:r>
              <a:rPr lang="en-US" b="1" dirty="0"/>
              <a:t>Proportion Test Design:</a:t>
            </a:r>
          </a:p>
          <a:p>
            <a:r>
              <a:rPr lang="en-US" dirty="0"/>
              <a:t>If you are designing an experiment where you will be measuring a proportion (using </a:t>
            </a:r>
            <a:r>
              <a:rPr lang="en-US" dirty="0" err="1"/>
              <a:t>prop.test</a:t>
            </a:r>
            <a:r>
              <a:rPr lang="en-US" dirty="0"/>
              <a:t>), you can use the </a:t>
            </a:r>
            <a:r>
              <a:rPr lang="en-US" dirty="0" err="1"/>
              <a:t>power.prop.test</a:t>
            </a:r>
            <a:r>
              <a:rPr lang="en-US" dirty="0"/>
              <a:t> function:</a:t>
            </a:r>
          </a:p>
          <a:p>
            <a:r>
              <a:rPr lang="en-US" dirty="0"/>
              <a:t>This function will calculate either n, p1, p2, </a:t>
            </a:r>
            <a:r>
              <a:rPr lang="en-US" dirty="0" err="1"/>
              <a:t>sig.level</a:t>
            </a:r>
            <a:r>
              <a:rPr lang="en-US" dirty="0"/>
              <a:t>, or power, depending on the input. You must specify at least four of these parameters: n, p1, p2,sig.level, power. The remaining argument must be null; this is the value that the function calculates.</a:t>
            </a:r>
          </a:p>
          <a:p>
            <a:endParaRPr lang="en-US" b="1" dirty="0"/>
          </a:p>
          <a:p>
            <a:pPr lvl="1"/>
            <a:endParaRPr lang="en-US" b="1" dirty="0"/>
          </a:p>
        </p:txBody>
      </p:sp>
      <p:pic>
        <p:nvPicPr>
          <p:cNvPr id="6" name="Picture 5">
            <a:extLst>
              <a:ext uri="{FF2B5EF4-FFF2-40B4-BE49-F238E27FC236}">
                <a16:creationId xmlns:a16="http://schemas.microsoft.com/office/drawing/2014/main" id="{96FA243D-FFF0-43DB-BB3C-B9D5FACC8081}"/>
              </a:ext>
            </a:extLst>
          </p:cNvPr>
          <p:cNvPicPr>
            <a:picLocks noChangeAspect="1"/>
          </p:cNvPicPr>
          <p:nvPr/>
        </p:nvPicPr>
        <p:blipFill>
          <a:blip r:embed="rId2"/>
          <a:stretch>
            <a:fillRect/>
          </a:stretch>
        </p:blipFill>
        <p:spPr>
          <a:xfrm>
            <a:off x="711740" y="3823085"/>
            <a:ext cx="9480369" cy="849436"/>
          </a:xfrm>
          <a:prstGeom prst="rect">
            <a:avLst/>
          </a:prstGeom>
        </p:spPr>
      </p:pic>
      <p:pic>
        <p:nvPicPr>
          <p:cNvPr id="7" name="Picture 6">
            <a:extLst>
              <a:ext uri="{FF2B5EF4-FFF2-40B4-BE49-F238E27FC236}">
                <a16:creationId xmlns:a16="http://schemas.microsoft.com/office/drawing/2014/main" id="{71DFB82F-60FE-443C-9606-3A5223AF0962}"/>
              </a:ext>
            </a:extLst>
          </p:cNvPr>
          <p:cNvPicPr>
            <a:picLocks noChangeAspect="1"/>
          </p:cNvPicPr>
          <p:nvPr/>
        </p:nvPicPr>
        <p:blipFill>
          <a:blip r:embed="rId3"/>
          <a:stretch>
            <a:fillRect/>
          </a:stretch>
        </p:blipFill>
        <p:spPr>
          <a:xfrm>
            <a:off x="838200" y="4854101"/>
            <a:ext cx="9883588" cy="1916350"/>
          </a:xfrm>
          <a:prstGeom prst="rect">
            <a:avLst/>
          </a:prstGeom>
        </p:spPr>
      </p:pic>
    </p:spTree>
    <p:extLst>
      <p:ext uri="{BB962C8B-B14F-4D97-AF65-F5344CB8AC3E}">
        <p14:creationId xmlns:p14="http://schemas.microsoft.com/office/powerpoint/2010/main" val="10548486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05AB-9AD8-4F33-96F0-209DC4B336E7}"/>
              </a:ext>
            </a:extLst>
          </p:cNvPr>
          <p:cNvSpPr>
            <a:spLocks noGrp="1"/>
          </p:cNvSpPr>
          <p:nvPr>
            <p:ph type="title"/>
          </p:nvPr>
        </p:nvSpPr>
        <p:spPr>
          <a:xfrm>
            <a:off x="838200" y="242047"/>
            <a:ext cx="10515600" cy="674545"/>
          </a:xfrm>
        </p:spPr>
        <p:txBody>
          <a:bodyPr>
            <a:normAutofit fontScale="90000"/>
          </a:bodyPr>
          <a:lstStyle/>
          <a:p>
            <a:r>
              <a:rPr lang="en-US" b="1" dirty="0"/>
              <a:t>Power Tests</a:t>
            </a:r>
          </a:p>
        </p:txBody>
      </p:sp>
      <p:sp>
        <p:nvSpPr>
          <p:cNvPr id="3" name="Content Placeholder 2">
            <a:extLst>
              <a:ext uri="{FF2B5EF4-FFF2-40B4-BE49-F238E27FC236}">
                <a16:creationId xmlns:a16="http://schemas.microsoft.com/office/drawing/2014/main" id="{A8EC334D-8A10-40C0-A556-1CA6EAB557DA}"/>
              </a:ext>
            </a:extLst>
          </p:cNvPr>
          <p:cNvSpPr>
            <a:spLocks noGrp="1"/>
          </p:cNvSpPr>
          <p:nvPr>
            <p:ph idx="1"/>
          </p:nvPr>
        </p:nvSpPr>
        <p:spPr>
          <a:xfrm>
            <a:off x="466165" y="916593"/>
            <a:ext cx="11277600" cy="5863586"/>
          </a:xfrm>
        </p:spPr>
        <p:txBody>
          <a:bodyPr/>
          <a:lstStyle/>
          <a:p>
            <a:r>
              <a:rPr lang="en-US" b="1" dirty="0"/>
              <a:t>ANOVA Test Design:</a:t>
            </a:r>
          </a:p>
          <a:p>
            <a:r>
              <a:rPr lang="en-US" dirty="0"/>
              <a:t>If you are designing an experiment where you will be using ANOVA, you can use the </a:t>
            </a:r>
            <a:r>
              <a:rPr lang="en-US" dirty="0" err="1"/>
              <a:t>power.anova.test</a:t>
            </a:r>
            <a:r>
              <a:rPr lang="en-US" dirty="0"/>
              <a:t> function:</a:t>
            </a:r>
          </a:p>
          <a:p>
            <a:r>
              <a:rPr lang="en-US" dirty="0"/>
              <a:t>This function will calculate either groups, n, </a:t>
            </a:r>
            <a:r>
              <a:rPr lang="en-US" dirty="0" err="1"/>
              <a:t>sig.level</a:t>
            </a:r>
            <a:r>
              <a:rPr lang="en-US" dirty="0"/>
              <a:t>, </a:t>
            </a:r>
            <a:r>
              <a:rPr lang="en-US" dirty="0" err="1"/>
              <a:t>between.var</a:t>
            </a:r>
            <a:r>
              <a:rPr lang="en-US" dirty="0"/>
              <a:t>, power, </a:t>
            </a:r>
            <a:r>
              <a:rPr lang="en-US" dirty="0" err="1"/>
              <a:t>within.var</a:t>
            </a:r>
            <a:r>
              <a:rPr lang="en-US" dirty="0"/>
              <a:t>, or </a:t>
            </a:r>
            <a:r>
              <a:rPr lang="en-US" dirty="0" err="1"/>
              <a:t>sig.level</a:t>
            </a:r>
            <a:r>
              <a:rPr lang="en-US" dirty="0"/>
              <a:t>, depending on the input. You must specify exactly six of these parameters, and the remaining argument must be null; this is the value that the function calculates.</a:t>
            </a:r>
          </a:p>
          <a:p>
            <a:endParaRPr lang="en-US" b="1" dirty="0"/>
          </a:p>
          <a:p>
            <a:pPr lvl="1"/>
            <a:endParaRPr lang="en-US" b="1" dirty="0"/>
          </a:p>
          <a:p>
            <a:pPr marL="457200" lvl="1" indent="0">
              <a:buNone/>
            </a:pPr>
            <a:endParaRPr lang="en-US" b="1" dirty="0"/>
          </a:p>
        </p:txBody>
      </p:sp>
      <p:pic>
        <p:nvPicPr>
          <p:cNvPr id="4" name="Picture 3">
            <a:extLst>
              <a:ext uri="{FF2B5EF4-FFF2-40B4-BE49-F238E27FC236}">
                <a16:creationId xmlns:a16="http://schemas.microsoft.com/office/drawing/2014/main" id="{70E69606-DF55-4013-9DCF-6B87F54F9F4D}"/>
              </a:ext>
            </a:extLst>
          </p:cNvPr>
          <p:cNvPicPr>
            <a:picLocks noChangeAspect="1"/>
          </p:cNvPicPr>
          <p:nvPr/>
        </p:nvPicPr>
        <p:blipFill>
          <a:blip r:embed="rId2"/>
          <a:stretch>
            <a:fillRect/>
          </a:stretch>
        </p:blipFill>
        <p:spPr>
          <a:xfrm>
            <a:off x="749890" y="4095345"/>
            <a:ext cx="4610050" cy="1225685"/>
          </a:xfrm>
          <a:prstGeom prst="rect">
            <a:avLst/>
          </a:prstGeom>
        </p:spPr>
      </p:pic>
      <p:pic>
        <p:nvPicPr>
          <p:cNvPr id="5" name="Picture 4">
            <a:extLst>
              <a:ext uri="{FF2B5EF4-FFF2-40B4-BE49-F238E27FC236}">
                <a16:creationId xmlns:a16="http://schemas.microsoft.com/office/drawing/2014/main" id="{9D4048C6-517C-4140-B417-A38C702DFF45}"/>
              </a:ext>
            </a:extLst>
          </p:cNvPr>
          <p:cNvPicPr>
            <a:picLocks noChangeAspect="1"/>
          </p:cNvPicPr>
          <p:nvPr/>
        </p:nvPicPr>
        <p:blipFill>
          <a:blip r:embed="rId3"/>
          <a:stretch>
            <a:fillRect/>
          </a:stretch>
        </p:blipFill>
        <p:spPr>
          <a:xfrm>
            <a:off x="5758774" y="3803515"/>
            <a:ext cx="6352162" cy="2787900"/>
          </a:xfrm>
          <a:prstGeom prst="rect">
            <a:avLst/>
          </a:prstGeom>
        </p:spPr>
      </p:pic>
    </p:spTree>
    <p:extLst>
      <p:ext uri="{BB962C8B-B14F-4D97-AF65-F5344CB8AC3E}">
        <p14:creationId xmlns:p14="http://schemas.microsoft.com/office/powerpoint/2010/main" val="9741594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D76200-CBAE-4E34-B462-6CCB24E377D5}"/>
              </a:ext>
            </a:extLst>
          </p:cNvPr>
          <p:cNvSpPr>
            <a:spLocks noGrp="1"/>
          </p:cNvSpPr>
          <p:nvPr>
            <p:ph type="title"/>
          </p:nvPr>
        </p:nvSpPr>
        <p:spPr>
          <a:xfrm>
            <a:off x="242595" y="139960"/>
            <a:ext cx="11756571" cy="886408"/>
          </a:xfrm>
        </p:spPr>
        <p:txBody>
          <a:bodyPr/>
          <a:lstStyle/>
          <a:p>
            <a:r>
              <a:rPr lang="en-US" dirty="0"/>
              <a:t>Probability Distributions</a:t>
            </a:r>
          </a:p>
        </p:txBody>
      </p:sp>
      <p:sp>
        <p:nvSpPr>
          <p:cNvPr id="6" name="Content Placeholder 5">
            <a:extLst>
              <a:ext uri="{FF2B5EF4-FFF2-40B4-BE49-F238E27FC236}">
                <a16:creationId xmlns:a16="http://schemas.microsoft.com/office/drawing/2014/main" id="{5AB953DB-6A9E-424B-801C-FDD630F2B142}"/>
              </a:ext>
            </a:extLst>
          </p:cNvPr>
          <p:cNvSpPr>
            <a:spLocks noGrp="1"/>
          </p:cNvSpPr>
          <p:nvPr>
            <p:ph idx="1"/>
          </p:nvPr>
        </p:nvSpPr>
        <p:spPr>
          <a:xfrm>
            <a:off x="242595" y="1240971"/>
            <a:ext cx="11756571" cy="5365102"/>
          </a:xfrm>
        </p:spPr>
        <p:txBody>
          <a:bodyPr/>
          <a:lstStyle/>
          <a:p>
            <a:r>
              <a:rPr lang="en-US" dirty="0"/>
              <a:t>Distribution:</a:t>
            </a:r>
          </a:p>
          <a:p>
            <a:pPr lvl="1"/>
            <a:r>
              <a:rPr lang="en-US" dirty="0"/>
              <a:t>The possible values a variable can take and how frequently they occur</a:t>
            </a:r>
          </a:p>
          <a:p>
            <a:r>
              <a:rPr lang="en-US" dirty="0"/>
              <a:t>Notation:</a:t>
            </a:r>
          </a:p>
          <a:p>
            <a:pPr lvl="1"/>
            <a:r>
              <a:rPr lang="en-US" dirty="0"/>
              <a:t>Y : represents the actual outcome of an event</a:t>
            </a:r>
          </a:p>
          <a:p>
            <a:pPr lvl="1"/>
            <a:r>
              <a:rPr lang="en-US" dirty="0"/>
              <a:t>y: represents one of  the possible outcomes</a:t>
            </a:r>
          </a:p>
          <a:p>
            <a:pPr lvl="1"/>
            <a:r>
              <a:rPr lang="en-US" dirty="0"/>
              <a:t>P(Y=y)</a:t>
            </a:r>
          </a:p>
          <a:p>
            <a:pPr lvl="1"/>
            <a:r>
              <a:rPr lang="en-US" dirty="0" err="1"/>
              <a:t>Eg</a:t>
            </a:r>
            <a:r>
              <a:rPr lang="en-US" dirty="0"/>
              <a:t>: Y – the </a:t>
            </a:r>
            <a:r>
              <a:rPr lang="en-US" dirty="0" err="1"/>
              <a:t>no.of</a:t>
            </a:r>
            <a:r>
              <a:rPr lang="en-US" dirty="0"/>
              <a:t> marbles we draw from a jar , y=5, then P(Y=5)</a:t>
            </a:r>
          </a:p>
          <a:p>
            <a:pPr lvl="1"/>
            <a:r>
              <a:rPr lang="en-US" dirty="0"/>
              <a:t>Since p(y) represents the probability of the possible outcome, it is called the probability function</a:t>
            </a:r>
          </a:p>
          <a:p>
            <a:r>
              <a:rPr lang="en-US" dirty="0"/>
              <a:t>Probability distributions (or probabilities) measures the likelihood of an outcome depending on how often it features in the sample space </a:t>
            </a:r>
          </a:p>
          <a:p>
            <a:endParaRPr lang="en-US" dirty="0"/>
          </a:p>
        </p:txBody>
      </p:sp>
    </p:spTree>
    <p:extLst>
      <p:ext uri="{BB962C8B-B14F-4D97-AF65-F5344CB8AC3E}">
        <p14:creationId xmlns:p14="http://schemas.microsoft.com/office/powerpoint/2010/main" val="10426377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22F9F-2FA8-4A43-98B4-34F766DCBAB4}"/>
              </a:ext>
            </a:extLst>
          </p:cNvPr>
          <p:cNvSpPr>
            <a:spLocks noGrp="1"/>
          </p:cNvSpPr>
          <p:nvPr>
            <p:ph type="title"/>
          </p:nvPr>
        </p:nvSpPr>
        <p:spPr>
          <a:xfrm>
            <a:off x="838200" y="186613"/>
            <a:ext cx="10515600" cy="821094"/>
          </a:xfrm>
        </p:spPr>
        <p:txBody>
          <a:bodyPr/>
          <a:lstStyle/>
          <a:p>
            <a:r>
              <a:rPr lang="en-US" dirty="0"/>
              <a:t>Types of Probability Distributions</a:t>
            </a:r>
          </a:p>
        </p:txBody>
      </p:sp>
      <p:sp>
        <p:nvSpPr>
          <p:cNvPr id="3" name="Content Placeholder 2">
            <a:extLst>
              <a:ext uri="{FF2B5EF4-FFF2-40B4-BE49-F238E27FC236}">
                <a16:creationId xmlns:a16="http://schemas.microsoft.com/office/drawing/2014/main" id="{58290FA0-9020-4750-8C55-A272140D1E3E}"/>
              </a:ext>
            </a:extLst>
          </p:cNvPr>
          <p:cNvSpPr>
            <a:spLocks noGrp="1"/>
          </p:cNvSpPr>
          <p:nvPr>
            <p:ph idx="1"/>
          </p:nvPr>
        </p:nvSpPr>
        <p:spPr>
          <a:xfrm>
            <a:off x="838200" y="1278294"/>
            <a:ext cx="10515600" cy="4917330"/>
          </a:xfrm>
        </p:spPr>
        <p:txBody>
          <a:bodyPr/>
          <a:lstStyle/>
          <a:p>
            <a:r>
              <a:rPr lang="en-US" dirty="0"/>
              <a:t>Discrete Distributions:</a:t>
            </a:r>
          </a:p>
          <a:p>
            <a:pPr lvl="1"/>
            <a:r>
              <a:rPr lang="en-US" dirty="0"/>
              <a:t>The distributions having a finite number of outcomes such as rolling a die or picking a card is called discrete distribution</a:t>
            </a:r>
          </a:p>
          <a:p>
            <a:r>
              <a:rPr lang="en-US" dirty="0"/>
              <a:t>Continuous Distribution:</a:t>
            </a:r>
          </a:p>
          <a:p>
            <a:pPr lvl="1"/>
            <a:r>
              <a:rPr lang="en-US" dirty="0"/>
              <a:t>The distribution which has infinitely many outcomes like recording time and distance in track and field</a:t>
            </a:r>
          </a:p>
        </p:txBody>
      </p:sp>
    </p:spTree>
    <p:extLst>
      <p:ext uri="{BB962C8B-B14F-4D97-AF65-F5344CB8AC3E}">
        <p14:creationId xmlns:p14="http://schemas.microsoft.com/office/powerpoint/2010/main" val="28254672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BE1C1-10DB-44EC-96F7-FE5BD6EF628D}"/>
              </a:ext>
            </a:extLst>
          </p:cNvPr>
          <p:cNvSpPr>
            <a:spLocks noGrp="1"/>
          </p:cNvSpPr>
          <p:nvPr>
            <p:ph type="title"/>
          </p:nvPr>
        </p:nvSpPr>
        <p:spPr>
          <a:xfrm>
            <a:off x="838200" y="139959"/>
            <a:ext cx="10515600" cy="802433"/>
          </a:xfrm>
        </p:spPr>
        <p:txBody>
          <a:bodyPr/>
          <a:lstStyle/>
          <a:p>
            <a:endParaRPr lang="en-US" dirty="0"/>
          </a:p>
        </p:txBody>
      </p:sp>
      <p:sp>
        <p:nvSpPr>
          <p:cNvPr id="3" name="Content Placeholder 2">
            <a:extLst>
              <a:ext uri="{FF2B5EF4-FFF2-40B4-BE49-F238E27FC236}">
                <a16:creationId xmlns:a16="http://schemas.microsoft.com/office/drawing/2014/main" id="{1451ED1E-D9E6-4314-915D-7AF62EF8C313}"/>
              </a:ext>
            </a:extLst>
          </p:cNvPr>
          <p:cNvSpPr>
            <a:spLocks noGrp="1"/>
          </p:cNvSpPr>
          <p:nvPr>
            <p:ph idx="1"/>
          </p:nvPr>
        </p:nvSpPr>
        <p:spPr>
          <a:xfrm>
            <a:off x="838200" y="1138335"/>
            <a:ext cx="10515600" cy="5057289"/>
          </a:xfrm>
        </p:spPr>
        <p:txBody>
          <a:bodyPr/>
          <a:lstStyle/>
          <a:p>
            <a:r>
              <a:rPr lang="en-US" dirty="0"/>
              <a:t>Discrete Distributions:</a:t>
            </a:r>
          </a:p>
          <a:p>
            <a:pPr lvl="1"/>
            <a:r>
              <a:rPr lang="en-US" dirty="0"/>
              <a:t>1. Uniform Distribution: All outcomes are equiprobable such as tossing a coin or picking a card</a:t>
            </a:r>
          </a:p>
          <a:p>
            <a:pPr lvl="1"/>
            <a:r>
              <a:rPr lang="en-US" dirty="0"/>
              <a:t>2. Bernoulli Distribution: Events with only two possible outcomes – Like the Yes or No outcomes</a:t>
            </a:r>
          </a:p>
          <a:p>
            <a:pPr lvl="1"/>
            <a:r>
              <a:rPr lang="en-US" dirty="0"/>
              <a:t>3. Binomial Distribution: The events with only two possible outcomes but conducted in many iterations</a:t>
            </a:r>
          </a:p>
          <a:p>
            <a:pPr lvl="2"/>
            <a:r>
              <a:rPr lang="en-US" dirty="0" err="1"/>
              <a:t>Eg</a:t>
            </a:r>
            <a:r>
              <a:rPr lang="en-US" dirty="0"/>
              <a:t>: Flipping a coin has only two possible outcome, but if we do it 10 times, we get different result at each iteration</a:t>
            </a:r>
          </a:p>
          <a:p>
            <a:pPr lvl="1"/>
            <a:r>
              <a:rPr lang="en-US" dirty="0"/>
              <a:t>4. Poisson Distribution: We use it when we want to test how unusual an event frequency is for a given interval</a:t>
            </a:r>
          </a:p>
          <a:p>
            <a:pPr marL="914400" lvl="2" indent="0">
              <a:buNone/>
            </a:pPr>
            <a:endParaRPr lang="en-US" dirty="0"/>
          </a:p>
          <a:p>
            <a:pPr lvl="2"/>
            <a:endParaRPr lang="en-US" dirty="0"/>
          </a:p>
        </p:txBody>
      </p:sp>
    </p:spTree>
    <p:extLst>
      <p:ext uri="{BB962C8B-B14F-4D97-AF65-F5344CB8AC3E}">
        <p14:creationId xmlns:p14="http://schemas.microsoft.com/office/powerpoint/2010/main" val="22433668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CBE4C-93AB-4867-A819-DA22C4FD701A}"/>
              </a:ext>
            </a:extLst>
          </p:cNvPr>
          <p:cNvSpPr>
            <a:spLocks noGrp="1"/>
          </p:cNvSpPr>
          <p:nvPr>
            <p:ph type="title"/>
          </p:nvPr>
        </p:nvSpPr>
        <p:spPr>
          <a:xfrm>
            <a:off x="838200" y="279919"/>
            <a:ext cx="10515600" cy="61582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692274F-0407-4EDD-8FAB-6C16F5EC1F9D}"/>
              </a:ext>
            </a:extLst>
          </p:cNvPr>
          <p:cNvSpPr>
            <a:spLocks noGrp="1"/>
          </p:cNvSpPr>
          <p:nvPr>
            <p:ph idx="1"/>
          </p:nvPr>
        </p:nvSpPr>
        <p:spPr>
          <a:xfrm>
            <a:off x="838200" y="1175657"/>
            <a:ext cx="10515600" cy="5019967"/>
          </a:xfrm>
        </p:spPr>
        <p:txBody>
          <a:bodyPr/>
          <a:lstStyle/>
          <a:p>
            <a:r>
              <a:rPr lang="en-US" dirty="0"/>
              <a:t>Continuous Distribution:</a:t>
            </a:r>
          </a:p>
          <a:p>
            <a:r>
              <a:rPr lang="en-US" dirty="0"/>
              <a:t>1. Normal Distribution: The means of sufficiently large samples of a data population are known to resemble the normal distribution.</a:t>
            </a:r>
          </a:p>
          <a:p>
            <a:r>
              <a:rPr lang="en-US" dirty="0"/>
              <a:t>2. Student’s T- distribution: when we have a limited number of  samples to observe the normal distribution</a:t>
            </a:r>
          </a:p>
          <a:p>
            <a:r>
              <a:rPr lang="en-US" dirty="0"/>
              <a:t>3.Chi-squared Distribution: Asymmetric and only contains non-negative values</a:t>
            </a:r>
          </a:p>
          <a:p>
            <a:endParaRPr lang="en-US" dirty="0"/>
          </a:p>
          <a:p>
            <a:pPr lvl="1"/>
            <a:endParaRPr lang="en-US" dirty="0"/>
          </a:p>
        </p:txBody>
      </p:sp>
    </p:spTree>
    <p:extLst>
      <p:ext uri="{BB962C8B-B14F-4D97-AF65-F5344CB8AC3E}">
        <p14:creationId xmlns:p14="http://schemas.microsoft.com/office/powerpoint/2010/main" val="21965685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38EDB-8FD7-4CB2-8787-FC883D4C7E5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B0BAD8E-5F65-4E03-9AD3-224458877A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28596" y="927707"/>
            <a:ext cx="4077478" cy="2627255"/>
          </a:xfrm>
        </p:spPr>
      </p:pic>
      <p:pic>
        <p:nvPicPr>
          <p:cNvPr id="7" name="Picture 6">
            <a:extLst>
              <a:ext uri="{FF2B5EF4-FFF2-40B4-BE49-F238E27FC236}">
                <a16:creationId xmlns:a16="http://schemas.microsoft.com/office/drawing/2014/main" id="{50C1229D-58F9-423C-8260-BB21C7189E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8254" y="927708"/>
            <a:ext cx="4217729" cy="2501292"/>
          </a:xfrm>
          <a:prstGeom prst="rect">
            <a:avLst/>
          </a:prstGeom>
        </p:spPr>
      </p:pic>
      <p:pic>
        <p:nvPicPr>
          <p:cNvPr id="9" name="Picture 8">
            <a:extLst>
              <a:ext uri="{FF2B5EF4-FFF2-40B4-BE49-F238E27FC236}">
                <a16:creationId xmlns:a16="http://schemas.microsoft.com/office/drawing/2014/main" id="{D8CE6D65-600A-45E5-8FED-A899C137E6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29609" y="3837626"/>
            <a:ext cx="4357396" cy="1746649"/>
          </a:xfrm>
          <a:prstGeom prst="rect">
            <a:avLst/>
          </a:prstGeom>
        </p:spPr>
      </p:pic>
    </p:spTree>
    <p:extLst>
      <p:ext uri="{BB962C8B-B14F-4D97-AF65-F5344CB8AC3E}">
        <p14:creationId xmlns:p14="http://schemas.microsoft.com/office/powerpoint/2010/main" val="35421750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E2565-B068-4E4B-A287-62E0980CDF15}"/>
              </a:ext>
            </a:extLst>
          </p:cNvPr>
          <p:cNvSpPr>
            <a:spLocks noGrp="1"/>
          </p:cNvSpPr>
          <p:nvPr>
            <p:ph type="title"/>
          </p:nvPr>
        </p:nvSpPr>
        <p:spPr>
          <a:xfrm>
            <a:off x="838200" y="93307"/>
            <a:ext cx="10515600" cy="755779"/>
          </a:xfrm>
        </p:spPr>
        <p:txBody>
          <a:bodyPr/>
          <a:lstStyle/>
          <a:p>
            <a:r>
              <a:rPr lang="en-US" dirty="0"/>
              <a:t>Binomial Distribution</a:t>
            </a:r>
          </a:p>
        </p:txBody>
      </p:sp>
      <p:sp>
        <p:nvSpPr>
          <p:cNvPr id="3" name="Content Placeholder 2">
            <a:extLst>
              <a:ext uri="{FF2B5EF4-FFF2-40B4-BE49-F238E27FC236}">
                <a16:creationId xmlns:a16="http://schemas.microsoft.com/office/drawing/2014/main" id="{5804A9C9-15B2-4637-8A45-9D4CF029569D}"/>
              </a:ext>
            </a:extLst>
          </p:cNvPr>
          <p:cNvSpPr>
            <a:spLocks noGrp="1"/>
          </p:cNvSpPr>
          <p:nvPr>
            <p:ph idx="1"/>
          </p:nvPr>
        </p:nvSpPr>
        <p:spPr>
          <a:xfrm>
            <a:off x="838200" y="998376"/>
            <a:ext cx="10515600" cy="5178587"/>
          </a:xfrm>
        </p:spPr>
        <p:txBody>
          <a:bodyPr/>
          <a:lstStyle/>
          <a:p>
            <a:r>
              <a:rPr lang="en-US" dirty="0"/>
              <a:t>The binomial distribution is a discrete probability distribution. It describes the outcome of n independent trials in an experiment. </a:t>
            </a:r>
          </a:p>
          <a:p>
            <a:r>
              <a:rPr lang="en-US" dirty="0"/>
              <a:t> Each trial is assumed to have only two outcomes, either success or failure</a:t>
            </a:r>
          </a:p>
          <a:p>
            <a:r>
              <a:rPr lang="en-US" dirty="0"/>
              <a:t> If the probability of a successful trial is p, then the probability of having x successful outcomes in an experiment of n independent trials is as follows.</a:t>
            </a:r>
          </a:p>
          <a:p>
            <a:endParaRPr lang="en-US" dirty="0"/>
          </a:p>
        </p:txBody>
      </p:sp>
      <p:pic>
        <p:nvPicPr>
          <p:cNvPr id="5" name="Picture 4">
            <a:extLst>
              <a:ext uri="{FF2B5EF4-FFF2-40B4-BE49-F238E27FC236}">
                <a16:creationId xmlns:a16="http://schemas.microsoft.com/office/drawing/2014/main" id="{F60305C2-7C52-4F37-87CC-8ED0C2DCA52B}"/>
              </a:ext>
            </a:extLst>
          </p:cNvPr>
          <p:cNvPicPr>
            <a:picLocks noChangeAspect="1"/>
          </p:cNvPicPr>
          <p:nvPr/>
        </p:nvPicPr>
        <p:blipFill>
          <a:blip r:embed="rId2"/>
          <a:stretch>
            <a:fillRect/>
          </a:stretch>
        </p:blipFill>
        <p:spPr>
          <a:xfrm>
            <a:off x="2883160" y="4086808"/>
            <a:ext cx="4833256" cy="933061"/>
          </a:xfrm>
          <a:prstGeom prst="rect">
            <a:avLst/>
          </a:prstGeom>
        </p:spPr>
      </p:pic>
    </p:spTree>
    <p:extLst>
      <p:ext uri="{BB962C8B-B14F-4D97-AF65-F5344CB8AC3E}">
        <p14:creationId xmlns:p14="http://schemas.microsoft.com/office/powerpoint/2010/main" val="40691945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E066D-FECA-4E35-B595-A3E3578B65F5}"/>
              </a:ext>
            </a:extLst>
          </p:cNvPr>
          <p:cNvSpPr>
            <a:spLocks noGrp="1"/>
          </p:cNvSpPr>
          <p:nvPr>
            <p:ph type="title"/>
          </p:nvPr>
        </p:nvSpPr>
        <p:spPr>
          <a:xfrm>
            <a:off x="838200" y="93302"/>
            <a:ext cx="10515600" cy="737113"/>
          </a:xfrm>
        </p:spPr>
        <p:txBody>
          <a:bodyPr/>
          <a:lstStyle/>
          <a:p>
            <a:r>
              <a:rPr lang="en-US" dirty="0"/>
              <a:t>Binomial Distribution</a:t>
            </a:r>
          </a:p>
        </p:txBody>
      </p:sp>
      <p:sp>
        <p:nvSpPr>
          <p:cNvPr id="3" name="Content Placeholder 2">
            <a:extLst>
              <a:ext uri="{FF2B5EF4-FFF2-40B4-BE49-F238E27FC236}">
                <a16:creationId xmlns:a16="http://schemas.microsoft.com/office/drawing/2014/main" id="{8193B058-410C-4D75-AC5C-E5EF136F0FF6}"/>
              </a:ext>
            </a:extLst>
          </p:cNvPr>
          <p:cNvSpPr>
            <a:spLocks noGrp="1"/>
          </p:cNvSpPr>
          <p:nvPr>
            <p:ph idx="1"/>
          </p:nvPr>
        </p:nvSpPr>
        <p:spPr>
          <a:xfrm>
            <a:off x="838200" y="830416"/>
            <a:ext cx="10515600" cy="5822312"/>
          </a:xfrm>
        </p:spPr>
        <p:txBody>
          <a:bodyPr/>
          <a:lstStyle/>
          <a:p>
            <a:r>
              <a:rPr lang="en-US" dirty="0"/>
              <a:t>Example:  Suppose there are twelve multiple choice questions in an English class quiz. Each question has five possible answers, and only one of them is correct. Find the probability of having four or less correct answers if a student attempts to answer every question at random.</a:t>
            </a:r>
          </a:p>
          <a:p>
            <a:r>
              <a:rPr lang="en-US" dirty="0"/>
              <a:t>Solution: Since only one out of five possible answers is correct, the probability of answering a question correctly by random is 1/5=0.2. We can find the probability of having exactly 4 correct answers by random attempts as follows.</a:t>
            </a:r>
          </a:p>
          <a:p>
            <a:pPr marL="0" indent="0">
              <a:buNone/>
            </a:pPr>
            <a:endParaRPr lang="en-US" dirty="0"/>
          </a:p>
          <a:p>
            <a:r>
              <a:rPr lang="en-US" dirty="0"/>
              <a:t>we can use the cumulative probability function for binomial distribution </a:t>
            </a:r>
            <a:r>
              <a:rPr lang="en-US" dirty="0" err="1"/>
              <a:t>pbinom</a:t>
            </a:r>
            <a:r>
              <a:rPr lang="en-US" dirty="0"/>
              <a:t> </a:t>
            </a:r>
          </a:p>
        </p:txBody>
      </p:sp>
      <p:pic>
        <p:nvPicPr>
          <p:cNvPr id="4" name="Picture 3">
            <a:extLst>
              <a:ext uri="{FF2B5EF4-FFF2-40B4-BE49-F238E27FC236}">
                <a16:creationId xmlns:a16="http://schemas.microsoft.com/office/drawing/2014/main" id="{0438D33B-FA82-4F27-B1F3-1EFF2328A029}"/>
              </a:ext>
            </a:extLst>
          </p:cNvPr>
          <p:cNvPicPr>
            <a:picLocks noChangeAspect="1"/>
          </p:cNvPicPr>
          <p:nvPr/>
        </p:nvPicPr>
        <p:blipFill>
          <a:blip r:embed="rId2"/>
          <a:stretch>
            <a:fillRect/>
          </a:stretch>
        </p:blipFill>
        <p:spPr>
          <a:xfrm>
            <a:off x="2794277" y="4463836"/>
            <a:ext cx="3580327" cy="598868"/>
          </a:xfrm>
          <a:prstGeom prst="rect">
            <a:avLst/>
          </a:prstGeom>
        </p:spPr>
      </p:pic>
      <p:pic>
        <p:nvPicPr>
          <p:cNvPr id="5" name="Picture 4">
            <a:extLst>
              <a:ext uri="{FF2B5EF4-FFF2-40B4-BE49-F238E27FC236}">
                <a16:creationId xmlns:a16="http://schemas.microsoft.com/office/drawing/2014/main" id="{52C5B043-6F19-4AB5-AEC8-B9B554B3CF01}"/>
              </a:ext>
            </a:extLst>
          </p:cNvPr>
          <p:cNvPicPr>
            <a:picLocks noChangeAspect="1"/>
          </p:cNvPicPr>
          <p:nvPr/>
        </p:nvPicPr>
        <p:blipFill>
          <a:blip r:embed="rId3"/>
          <a:stretch>
            <a:fillRect/>
          </a:stretch>
        </p:blipFill>
        <p:spPr>
          <a:xfrm>
            <a:off x="3315478" y="5962262"/>
            <a:ext cx="3657600" cy="690466"/>
          </a:xfrm>
          <a:prstGeom prst="rect">
            <a:avLst/>
          </a:prstGeom>
        </p:spPr>
      </p:pic>
    </p:spTree>
    <p:extLst>
      <p:ext uri="{BB962C8B-B14F-4D97-AF65-F5344CB8AC3E}">
        <p14:creationId xmlns:p14="http://schemas.microsoft.com/office/powerpoint/2010/main" val="12085679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6CD1A-BCBA-4DFB-B1AE-33BF5703DD87}"/>
              </a:ext>
            </a:extLst>
          </p:cNvPr>
          <p:cNvSpPr>
            <a:spLocks noGrp="1"/>
          </p:cNvSpPr>
          <p:nvPr>
            <p:ph type="title"/>
          </p:nvPr>
        </p:nvSpPr>
        <p:spPr>
          <a:xfrm>
            <a:off x="838200" y="139960"/>
            <a:ext cx="10515600" cy="849085"/>
          </a:xfrm>
        </p:spPr>
        <p:txBody>
          <a:bodyPr/>
          <a:lstStyle/>
          <a:p>
            <a:r>
              <a:rPr lang="en-US" dirty="0"/>
              <a:t>Poisson Distribution</a:t>
            </a:r>
          </a:p>
        </p:txBody>
      </p:sp>
      <p:sp>
        <p:nvSpPr>
          <p:cNvPr id="3" name="Content Placeholder 2">
            <a:extLst>
              <a:ext uri="{FF2B5EF4-FFF2-40B4-BE49-F238E27FC236}">
                <a16:creationId xmlns:a16="http://schemas.microsoft.com/office/drawing/2014/main" id="{874D0531-1BA9-4EAD-B773-594F8E927CF3}"/>
              </a:ext>
            </a:extLst>
          </p:cNvPr>
          <p:cNvSpPr>
            <a:spLocks noGrp="1"/>
          </p:cNvSpPr>
          <p:nvPr>
            <p:ph idx="1"/>
          </p:nvPr>
        </p:nvSpPr>
        <p:spPr>
          <a:xfrm>
            <a:off x="838200" y="989045"/>
            <a:ext cx="10515600" cy="5495730"/>
          </a:xfrm>
        </p:spPr>
        <p:txBody>
          <a:bodyPr/>
          <a:lstStyle/>
          <a:p>
            <a:r>
              <a:rPr lang="en-US" dirty="0"/>
              <a:t>The Poisson distribution is the probability distribution of independent event occurrences in an interval.</a:t>
            </a:r>
          </a:p>
          <a:p>
            <a:r>
              <a:rPr lang="en-US" dirty="0"/>
              <a:t> If λ is the mean occurrence per interval, then the probability of having x occurrences within a given interval is:</a:t>
            </a:r>
          </a:p>
          <a:p>
            <a:pPr marL="0" indent="0">
              <a:buNone/>
            </a:pPr>
            <a:endParaRPr lang="en-US" dirty="0"/>
          </a:p>
          <a:p>
            <a:r>
              <a:rPr lang="en-US" dirty="0"/>
              <a:t> </a:t>
            </a:r>
            <a:r>
              <a:rPr lang="en-US" b="1" dirty="0"/>
              <a:t>Example : </a:t>
            </a:r>
            <a:r>
              <a:rPr lang="en-US" dirty="0"/>
              <a:t>If there are twelve cars crossing a bridge per minute on average, find the probability of having seventeen or more cars crossing the bridge in a particular minute</a:t>
            </a:r>
          </a:p>
          <a:p>
            <a:r>
              <a:rPr lang="en-US" dirty="0"/>
              <a:t>Solution: The probability of having sixteen or less cars crossing the bridge in a particular minute is given by the function </a:t>
            </a:r>
            <a:r>
              <a:rPr lang="en-US" dirty="0" err="1"/>
              <a:t>ppois</a:t>
            </a:r>
            <a:r>
              <a:rPr lang="en-US" dirty="0"/>
              <a:t>.</a:t>
            </a:r>
          </a:p>
        </p:txBody>
      </p:sp>
      <p:pic>
        <p:nvPicPr>
          <p:cNvPr id="4" name="Picture 3">
            <a:extLst>
              <a:ext uri="{FF2B5EF4-FFF2-40B4-BE49-F238E27FC236}">
                <a16:creationId xmlns:a16="http://schemas.microsoft.com/office/drawing/2014/main" id="{0C28E0A9-63FB-4A41-92DA-E55B8D6B6F54}"/>
              </a:ext>
            </a:extLst>
          </p:cNvPr>
          <p:cNvPicPr>
            <a:picLocks noChangeAspect="1"/>
          </p:cNvPicPr>
          <p:nvPr/>
        </p:nvPicPr>
        <p:blipFill>
          <a:blip r:embed="rId2"/>
          <a:stretch>
            <a:fillRect/>
          </a:stretch>
        </p:blipFill>
        <p:spPr>
          <a:xfrm>
            <a:off x="3256384" y="2761858"/>
            <a:ext cx="4907902" cy="569171"/>
          </a:xfrm>
          <a:prstGeom prst="rect">
            <a:avLst/>
          </a:prstGeom>
        </p:spPr>
      </p:pic>
      <p:pic>
        <p:nvPicPr>
          <p:cNvPr id="5" name="Picture 4">
            <a:extLst>
              <a:ext uri="{FF2B5EF4-FFF2-40B4-BE49-F238E27FC236}">
                <a16:creationId xmlns:a16="http://schemas.microsoft.com/office/drawing/2014/main" id="{46E0BA7F-7409-4BE6-B3F1-F74F1FCE038B}"/>
              </a:ext>
            </a:extLst>
          </p:cNvPr>
          <p:cNvPicPr>
            <a:picLocks noChangeAspect="1"/>
          </p:cNvPicPr>
          <p:nvPr/>
        </p:nvPicPr>
        <p:blipFill>
          <a:blip r:embed="rId3"/>
          <a:stretch>
            <a:fillRect/>
          </a:stretch>
        </p:blipFill>
        <p:spPr>
          <a:xfrm>
            <a:off x="1511822" y="5553422"/>
            <a:ext cx="4907902" cy="631065"/>
          </a:xfrm>
          <a:prstGeom prst="rect">
            <a:avLst/>
          </a:prstGeom>
        </p:spPr>
      </p:pic>
    </p:spTree>
    <p:extLst>
      <p:ext uri="{BB962C8B-B14F-4D97-AF65-F5344CB8AC3E}">
        <p14:creationId xmlns:p14="http://schemas.microsoft.com/office/powerpoint/2010/main" val="7060067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D8015-70EA-4FE6-B76A-726F50A97E69}"/>
              </a:ext>
            </a:extLst>
          </p:cNvPr>
          <p:cNvSpPr>
            <a:spLocks noGrp="1"/>
          </p:cNvSpPr>
          <p:nvPr>
            <p:ph type="title"/>
          </p:nvPr>
        </p:nvSpPr>
        <p:spPr>
          <a:xfrm>
            <a:off x="838200" y="186613"/>
            <a:ext cx="10515600" cy="615820"/>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1D3F4E15-DD13-4E9B-91C8-20DE5CC34745}"/>
              </a:ext>
            </a:extLst>
          </p:cNvPr>
          <p:cNvSpPr>
            <a:spLocks noGrp="1"/>
          </p:cNvSpPr>
          <p:nvPr>
            <p:ph idx="1"/>
          </p:nvPr>
        </p:nvSpPr>
        <p:spPr>
          <a:xfrm>
            <a:off x="838200" y="1175657"/>
            <a:ext cx="10515600" cy="5019967"/>
          </a:xfrm>
        </p:spPr>
        <p:txBody>
          <a:bodyPr/>
          <a:lstStyle/>
          <a:p>
            <a:r>
              <a:rPr lang="en-US" dirty="0"/>
              <a:t> Hence the probability of having seventeen or more cars crossing the bridge in a minute is in the upper tail of the probability density function.</a:t>
            </a:r>
          </a:p>
          <a:p>
            <a:endParaRPr lang="en-US" dirty="0"/>
          </a:p>
          <a:p>
            <a:endParaRPr lang="en-US" dirty="0"/>
          </a:p>
          <a:p>
            <a:endParaRPr lang="en-US" dirty="0"/>
          </a:p>
          <a:p>
            <a:r>
              <a:rPr lang="en-US" dirty="0"/>
              <a:t> </a:t>
            </a:r>
            <a:r>
              <a:rPr lang="en-US" b="1" dirty="0"/>
              <a:t>Inference: </a:t>
            </a:r>
            <a:r>
              <a:rPr lang="en-US" dirty="0"/>
              <a:t>If there are twelve cars crossing a bridge per minute on average, the probability of having seventeen or more cars crossing the bridge in a particular minute is 10.1%.</a:t>
            </a:r>
          </a:p>
        </p:txBody>
      </p:sp>
      <p:pic>
        <p:nvPicPr>
          <p:cNvPr id="4" name="Picture 3">
            <a:extLst>
              <a:ext uri="{FF2B5EF4-FFF2-40B4-BE49-F238E27FC236}">
                <a16:creationId xmlns:a16="http://schemas.microsoft.com/office/drawing/2014/main" id="{2BBEB544-136C-4EC4-BF54-7A3E5EFEF7E6}"/>
              </a:ext>
            </a:extLst>
          </p:cNvPr>
          <p:cNvPicPr>
            <a:picLocks noChangeAspect="1"/>
          </p:cNvPicPr>
          <p:nvPr/>
        </p:nvPicPr>
        <p:blipFill>
          <a:blip r:embed="rId2"/>
          <a:stretch>
            <a:fillRect/>
          </a:stretch>
        </p:blipFill>
        <p:spPr>
          <a:xfrm>
            <a:off x="1585372" y="2479643"/>
            <a:ext cx="3889420" cy="592428"/>
          </a:xfrm>
          <a:prstGeom prst="rect">
            <a:avLst/>
          </a:prstGeom>
        </p:spPr>
      </p:pic>
    </p:spTree>
    <p:extLst>
      <p:ext uri="{BB962C8B-B14F-4D97-AF65-F5344CB8AC3E}">
        <p14:creationId xmlns:p14="http://schemas.microsoft.com/office/powerpoint/2010/main" val="24390549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59017</TotalTime>
  <Words>3686</Words>
  <Application>Microsoft Office PowerPoint</Application>
  <PresentationFormat>Widescreen</PresentationFormat>
  <Paragraphs>300</Paragraphs>
  <Slides>57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Arial</vt:lpstr>
      <vt:lpstr>Calibri</vt:lpstr>
      <vt:lpstr>Calibri Light</vt:lpstr>
      <vt:lpstr>Cambria Math</vt:lpstr>
      <vt:lpstr>Office Theme</vt:lpstr>
      <vt:lpstr>MODULE 3</vt:lpstr>
      <vt:lpstr>Summary Statistics</vt:lpstr>
      <vt:lpstr>Correlation and Covariance</vt:lpstr>
      <vt:lpstr>Correlation and Covariance</vt:lpstr>
      <vt:lpstr>Correlation and Covariance</vt:lpstr>
      <vt:lpstr>Statistical Testing </vt:lpstr>
      <vt:lpstr>Statistical Testing </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Statistical Testing</vt:lpstr>
      <vt:lpstr>Normal Distribution</vt:lpstr>
      <vt:lpstr>PowerPoint Presentation</vt:lpstr>
      <vt:lpstr>PowerPoint Presentation</vt:lpstr>
      <vt:lpstr>PowerPoint Presentation</vt:lpstr>
      <vt:lpstr>PowerPoint Presentation</vt:lpstr>
      <vt:lpstr>PowerPoint Presentation</vt:lpstr>
      <vt:lpstr>PowerPoint Presentation</vt:lpstr>
      <vt:lpstr>Power Tests</vt:lpstr>
      <vt:lpstr>Power Tests</vt:lpstr>
      <vt:lpstr>Power Tests</vt:lpstr>
      <vt:lpstr>Power Tests</vt:lpstr>
      <vt:lpstr>Power Tests</vt:lpstr>
      <vt:lpstr>Probability Distributions</vt:lpstr>
      <vt:lpstr>Types of Probability Distributions</vt:lpstr>
      <vt:lpstr>PowerPoint Presentation</vt:lpstr>
      <vt:lpstr>PowerPoint Presentation</vt:lpstr>
      <vt:lpstr>PowerPoint Presentation</vt:lpstr>
      <vt:lpstr>Binomial Distribution</vt:lpstr>
      <vt:lpstr>Binomial Distribution</vt:lpstr>
      <vt:lpstr>Poisson Distribution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soorya</dc:creator>
  <cp:lastModifiedBy>soorya</cp:lastModifiedBy>
  <cp:revision>84</cp:revision>
  <dcterms:created xsi:type="dcterms:W3CDTF">2024-02-07T11:08:15Z</dcterms:created>
  <dcterms:modified xsi:type="dcterms:W3CDTF">2025-02-27T04:13:57Z</dcterms:modified>
</cp:coreProperties>
</file>
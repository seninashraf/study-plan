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56" r:id="rId2"/>
    <p:sldId id="257" r:id="rId3"/>
    <p:sldId id="258" r:id="rId4"/>
    <p:sldId id="259" r:id="rId5"/>
    <p:sldId id="266" r:id="rId6"/>
    <p:sldId id="267" r:id="rId7"/>
    <p:sldId id="260" r:id="rId8"/>
    <p:sldId id="261" r:id="rId9"/>
    <p:sldId id="262" r:id="rId10"/>
    <p:sldId id="263" r:id="rId11"/>
    <p:sldId id="264" r:id="rId12"/>
    <p:sldId id="265" r:id="rId13"/>
    <p:sldId id="269" r:id="rId14"/>
    <p:sldId id="268" r:id="rId15"/>
    <p:sldId id="271" r:id="rId16"/>
    <p:sldId id="272" r:id="rId17"/>
    <p:sldId id="278" r:id="rId18"/>
    <p:sldId id="279" r:id="rId19"/>
    <p:sldId id="270" r:id="rId20"/>
    <p:sldId id="281" r:id="rId21"/>
    <p:sldId id="282" r:id="rId22"/>
    <p:sldId id="280" r:id="rId23"/>
    <p:sldId id="273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74" r:id="rId32"/>
    <p:sldId id="290" r:id="rId33"/>
    <p:sldId id="275" r:id="rId34"/>
    <p:sldId id="291" r:id="rId35"/>
    <p:sldId id="292" r:id="rId36"/>
    <p:sldId id="304" r:id="rId37"/>
    <p:sldId id="305" r:id="rId38"/>
    <p:sldId id="303" r:id="rId39"/>
    <p:sldId id="302" r:id="rId40"/>
    <p:sldId id="306" r:id="rId41"/>
    <p:sldId id="300" r:id="rId42"/>
    <p:sldId id="301" r:id="rId43"/>
    <p:sldId id="298" r:id="rId44"/>
    <p:sldId id="299" r:id="rId45"/>
    <p:sldId id="293" r:id="rId46"/>
    <p:sldId id="312" r:id="rId47"/>
    <p:sldId id="311" r:id="rId48"/>
    <p:sldId id="313" r:id="rId49"/>
    <p:sldId id="310" r:id="rId50"/>
    <p:sldId id="320" r:id="rId51"/>
    <p:sldId id="321" r:id="rId52"/>
    <p:sldId id="314" r:id="rId53"/>
    <p:sldId id="315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033647-C9CE-49D7-886E-38AC895BF27C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BE2E87-A8D2-488F-96CA-165CCD1CE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102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BE2E87-A8D2-488F-96CA-165CCD1CE50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95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BE2E87-A8D2-488F-96CA-165CCD1CE50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738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BE2E87-A8D2-488F-96CA-165CCD1CE50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854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148A3-3B3B-4DE1-B718-1730EAB799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C8C1F0-C9D2-48C8-9DEB-E08840E3E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9F8B8-A067-4684-B06F-05E565F1F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7B7E2-7B31-469B-B31D-82F5D11F5E9A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AAC11-0755-40F3-B2F3-3BE545F98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81B73-7336-4D88-9690-5D243164A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2245B-D540-4122-B7BD-5130AB14B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40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B223C-619E-4932-9A3C-FAF38F691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54E60-8597-46BB-AEDC-4E1648E03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EEAD8-146A-4C68-B00E-CCC0F6A3B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7B7E2-7B31-469B-B31D-82F5D11F5E9A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FD780-2197-4E92-B02A-0C94D8561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D48D3-0B8C-44C3-AB75-DE4392D86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2245B-D540-4122-B7BD-5130AB14B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814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B96B3-AEFF-4427-874E-933F2FB41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D6D94-1CDD-4767-AAAA-0B1C293BC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040A8-7C45-4F5C-A722-52D4C6FB6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7B7E2-7B31-469B-B31D-82F5D11F5E9A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E8773-F94F-49BA-B997-9FF3ABFCE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8E4F5-ABAB-4398-AE9C-99317787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2245B-D540-4122-B7BD-5130AB14B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116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1A04B-45C6-440F-B3AE-D1BEDA965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039F6-C567-4EF7-9A7C-115D19E01F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2D83A7-C316-4CDE-9773-DE7DC620F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B3FCCA-C717-44BC-AB56-BF821B620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7B7E2-7B31-469B-B31D-82F5D11F5E9A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5042FD-2298-41C1-8A2C-86D94ECE4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3BC186-B9A6-43DF-8E8A-C0D475F97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2245B-D540-4122-B7BD-5130AB14B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043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0FE8D-E635-4454-AC13-D70C458D1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8DFFA-0606-4884-9E4E-780C7A754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665158-1427-4AF2-B210-EB76F778DF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A435DC-45CB-4772-839C-1844A453C5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1D2BF0-99AB-44FC-A953-BD4796CF05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0C1B2D-5E13-4A4E-AE68-C74FE89F0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7B7E2-7B31-469B-B31D-82F5D11F5E9A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9650C6-2DE6-43E5-BA39-AAF29CD2C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1FEF00-AAE7-40B1-A5CA-6DD5E5974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2245B-D540-4122-B7BD-5130AB14B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223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1BB82-C47B-48CD-984E-109C791A3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1970CA-77D8-4919-9DCC-6D833123A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7B7E2-7B31-469B-B31D-82F5D11F5E9A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C86D4-3514-45F2-A96A-35E63AF19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7E9FE8-F0D8-41E4-B09C-839187A42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2245B-D540-4122-B7BD-5130AB14B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830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8C2848-8ACB-41A3-80B8-C7FB36E46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7B7E2-7B31-469B-B31D-82F5D11F5E9A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91E3D3-025B-4D08-A93F-288400280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0E361-F123-4548-9A30-B86C682B4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2245B-D540-4122-B7BD-5130AB14B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968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CECD1-3940-48FC-BBC8-6CC4D1543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10849-39FF-4C02-88FF-0BC505023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BFE30E-8EC5-4D17-BD25-A710B9558A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3A3263-A7A9-4CD9-8FDB-FBD29FA33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7B7E2-7B31-469B-B31D-82F5D11F5E9A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BCD314-E88C-47F8-9199-47133C238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886AD-FB78-4041-9E63-790C2F99B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2245B-D540-4122-B7BD-5130AB14B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581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87C7A-ACE8-4C21-88D9-6A5E97CEC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B4BC2E-2044-49E1-A43E-5A684E0A4A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56419A-8A89-4B53-9007-2BBCE686B6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2A1F1A-96A8-4C96-8F54-E242580FD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7B7E2-7B31-469B-B31D-82F5D11F5E9A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5D6667-B143-48F7-8B8C-BD27E8BB5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A4287-0C79-44BC-9372-DED597AA6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2245B-D540-4122-B7BD-5130AB14B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436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73E7A-50E6-4825-8AD6-ACAFE7B65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E62760-4A17-4233-AE49-9C02B6A910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8FBE5-E8DF-4800-B4E0-C83BF81A6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7B7E2-7B31-469B-B31D-82F5D11F5E9A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F66F7-09CB-4087-97BC-FAEF8B77F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D71DD-593A-4716-A969-540FAA50D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2245B-D540-4122-B7BD-5130AB14B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57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95A0B1-8277-4A72-B947-5A1B4E4A7E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680215-6B5A-4D3E-8431-857B776ABF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07600-190F-4978-884B-3ECB9D33D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7B7E2-7B31-469B-B31D-82F5D11F5E9A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54ED4-95F5-4F57-AEDF-C4DC9EBC0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EA8C2-0F63-494A-A655-EA52D1B4C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2245B-D540-4122-B7BD-5130AB14B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983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F1012F-D164-4706-99ED-39A29BDE8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F8B681-3A20-42E5-89A6-E07566528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C4299-8F7F-4788-B6A8-FD0A179A5A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7B7E2-7B31-469B-B31D-82F5D11F5E9A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D787F-EC51-4A5F-9D43-8E9BB24E53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07C49-F8BF-4C19-B3A8-8B6B1AE76C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2245B-D540-4122-B7BD-5130AB14B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615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4738E-418D-4417-89F5-C26C67515C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90E7F8-036E-4A76-A6D9-364F6AFCBA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3244655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90D74-492D-426E-9BA0-B09C21CB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6F683-EC43-4961-9F63-879D06B23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 includes two different packages for plotting data: </a:t>
            </a:r>
            <a:r>
              <a:rPr lang="en-US" b="1" dirty="0"/>
              <a:t>graphics</a:t>
            </a:r>
            <a:r>
              <a:rPr lang="en-US" dirty="0"/>
              <a:t> and </a:t>
            </a:r>
            <a:r>
              <a:rPr lang="en-US" b="1" dirty="0"/>
              <a:t>lattice</a:t>
            </a:r>
          </a:p>
          <a:p>
            <a:r>
              <a:rPr lang="en-US" dirty="0"/>
              <a:t>The graphics package contains a wide variety of functions for plotting data</a:t>
            </a:r>
          </a:p>
          <a:p>
            <a:r>
              <a:rPr lang="en-US" dirty="0"/>
              <a:t>The lattice package contains an alternative set of functions for plotting data</a:t>
            </a:r>
          </a:p>
          <a:p>
            <a:r>
              <a:rPr lang="en-US" dirty="0"/>
              <a:t>Lattice graphics are well suited for splitting data by a conditioning variable.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02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F3B7C-4396-4D05-8F85-BFE39382A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645"/>
            <a:ext cx="10515600" cy="895740"/>
          </a:xfrm>
        </p:spPr>
        <p:txBody>
          <a:bodyPr>
            <a:normAutofit/>
          </a:bodyPr>
          <a:lstStyle/>
          <a:p>
            <a:r>
              <a:rPr lang="en-US" dirty="0"/>
              <a:t>R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40C76-C7CB-4F12-A89A-FE96A8B84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612" y="1184987"/>
            <a:ext cx="11821886" cy="5598367"/>
          </a:xfrm>
        </p:spPr>
        <p:txBody>
          <a:bodyPr/>
          <a:lstStyle/>
          <a:p>
            <a:r>
              <a:rPr lang="en-US" dirty="0"/>
              <a:t>R includes tools for drawing most common types of charts, including bar charts, pie charts, line charts, and scatter plots.</a:t>
            </a:r>
          </a:p>
          <a:p>
            <a:r>
              <a:rPr lang="en-US" dirty="0"/>
              <a:t>R can also draw some less familiar charts like quantile-quantile (Q-Q) plots, mosaic plots, and contour plots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89E77B-DA60-4D56-9772-C68511AF3E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28" y="2971883"/>
            <a:ext cx="5328752" cy="35688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4AD4C2-7B3C-4707-A1B2-4DF9569936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4048" y="2810888"/>
            <a:ext cx="6395066" cy="199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905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17D98-1016-409E-8AC0-2D6DB0817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223" y="186613"/>
            <a:ext cx="10980577" cy="830424"/>
          </a:xfrm>
        </p:spPr>
        <p:txBody>
          <a:bodyPr/>
          <a:lstStyle/>
          <a:p>
            <a:r>
              <a:rPr lang="en-US" dirty="0"/>
              <a:t>Scatter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A7F0E-4E98-40BD-9B47-8CF87F4A2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223" y="1231641"/>
            <a:ext cx="11560629" cy="5439746"/>
          </a:xfrm>
        </p:spPr>
        <p:txBody>
          <a:bodyPr/>
          <a:lstStyle/>
          <a:p>
            <a:r>
              <a:rPr lang="en-US" dirty="0"/>
              <a:t>It is frequently good to see two variables in comparison with each other; this is where the scatterplot is used</a:t>
            </a:r>
          </a:p>
          <a:p>
            <a:r>
              <a:rPr lang="en-US" dirty="0"/>
              <a:t>Every point represents an observation in two variables where the </a:t>
            </a:r>
            <a:r>
              <a:rPr lang="en-US" i="1" dirty="0"/>
              <a:t>x</a:t>
            </a:r>
            <a:r>
              <a:rPr lang="en-US" dirty="0"/>
              <a:t>-axis represents one variable and the </a:t>
            </a:r>
            <a:r>
              <a:rPr lang="en-US" i="1" dirty="0"/>
              <a:t>y</a:t>
            </a:r>
            <a:r>
              <a:rPr lang="en-US" dirty="0"/>
              <a:t>-axis another</a:t>
            </a:r>
          </a:p>
          <a:p>
            <a:pPr lvl="1"/>
            <a:r>
              <a:rPr lang="en-US" dirty="0"/>
              <a:t>Using the formula notation               </a:t>
            </a:r>
          </a:p>
          <a:p>
            <a:pPr lvl="2"/>
            <a:r>
              <a:rPr lang="en-US" dirty="0"/>
              <a:t>&gt; </a:t>
            </a:r>
            <a:r>
              <a:rPr lang="en-US" b="1" i="1" dirty="0"/>
              <a:t>plot</a:t>
            </a:r>
            <a:r>
              <a:rPr lang="en-US" i="1" dirty="0"/>
              <a:t>(price ~ carat, data=diamonds)</a:t>
            </a:r>
          </a:p>
          <a:p>
            <a:pPr lvl="1"/>
            <a:r>
              <a:rPr lang="en-US" dirty="0"/>
              <a:t>by simply specifying the </a:t>
            </a:r>
            <a:r>
              <a:rPr lang="en-US" i="1" dirty="0"/>
              <a:t>x </a:t>
            </a:r>
            <a:r>
              <a:rPr lang="en-US" dirty="0"/>
              <a:t>and </a:t>
            </a:r>
            <a:r>
              <a:rPr lang="en-US" i="1" dirty="0"/>
              <a:t>y </a:t>
            </a:r>
            <a:r>
              <a:rPr lang="en-US" dirty="0"/>
              <a:t>variables without the </a:t>
            </a:r>
            <a:r>
              <a:rPr lang="en-US" sz="2000" dirty="0"/>
              <a:t>formula </a:t>
            </a:r>
            <a:r>
              <a:rPr lang="en-US" dirty="0"/>
              <a:t>interface</a:t>
            </a:r>
          </a:p>
          <a:p>
            <a:pPr lvl="2"/>
            <a:r>
              <a:rPr lang="en-US" dirty="0"/>
              <a:t>&gt; </a:t>
            </a:r>
            <a:r>
              <a:rPr lang="en-US" b="1" i="1" dirty="0"/>
              <a:t>plot</a:t>
            </a:r>
            <a:r>
              <a:rPr lang="en-US" i="1" dirty="0"/>
              <a:t>(</a:t>
            </a:r>
            <a:r>
              <a:rPr lang="en-US" i="1" dirty="0" err="1"/>
              <a:t>diamonds$carat</a:t>
            </a:r>
            <a:r>
              <a:rPr lang="en-US" i="1" dirty="0"/>
              <a:t>, </a:t>
            </a:r>
            <a:r>
              <a:rPr lang="en-US" i="1" dirty="0" err="1"/>
              <a:t>diamonds$price</a:t>
            </a:r>
            <a:r>
              <a:rPr lang="en-US" i="1" dirty="0"/>
              <a:t>)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4E555D-5254-4FCE-8503-F35DCA5191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5886" y="4264089"/>
            <a:ext cx="2736473" cy="226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987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00313-EE5B-4A99-9124-66E02E6B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1298"/>
            <a:ext cx="10515600" cy="559739"/>
          </a:xfrm>
        </p:spPr>
        <p:txBody>
          <a:bodyPr>
            <a:normAutofit fontScale="90000"/>
          </a:bodyPr>
          <a:lstStyle/>
          <a:p>
            <a:r>
              <a:rPr lang="en-US" dirty="0"/>
              <a:t>Scatter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A6CF3-AB7A-4C8C-8C05-7ACB2639C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3771"/>
            <a:ext cx="10515600" cy="5393192"/>
          </a:xfrm>
        </p:spPr>
        <p:txBody>
          <a:bodyPr/>
          <a:lstStyle/>
          <a:p>
            <a:r>
              <a:rPr lang="en-US" sz="2400" i="1" dirty="0"/>
              <a:t>plot(x, y = NULL, type = "p", </a:t>
            </a:r>
            <a:r>
              <a:rPr lang="en-US" sz="2400" i="1" dirty="0" err="1"/>
              <a:t>xlim</a:t>
            </a:r>
            <a:r>
              <a:rPr lang="en-US" sz="2400" i="1" dirty="0"/>
              <a:t> = NULL, </a:t>
            </a:r>
            <a:r>
              <a:rPr lang="en-US" sz="2400" i="1" dirty="0" err="1"/>
              <a:t>ylim</a:t>
            </a:r>
            <a:r>
              <a:rPr lang="en-US" sz="2400" i="1" dirty="0"/>
              <a:t> = NULL, log = "", </a:t>
            </a:r>
          </a:p>
          <a:p>
            <a:pPr marL="0" indent="0">
              <a:buNone/>
            </a:pPr>
            <a:r>
              <a:rPr lang="en-US" sz="2400" i="1" dirty="0"/>
              <a:t>main = NULL, sub = NULL, </a:t>
            </a:r>
            <a:r>
              <a:rPr lang="en-US" sz="2400" i="1" dirty="0" err="1"/>
              <a:t>xlab</a:t>
            </a:r>
            <a:r>
              <a:rPr lang="en-US" sz="2400" i="1" dirty="0"/>
              <a:t> = NULL, </a:t>
            </a:r>
            <a:r>
              <a:rPr lang="en-US" sz="2400" i="1" dirty="0" err="1"/>
              <a:t>ylab</a:t>
            </a:r>
            <a:r>
              <a:rPr lang="en-US" sz="2400" i="1" dirty="0"/>
              <a:t> = NULL, </a:t>
            </a:r>
            <a:r>
              <a:rPr lang="nb-NO" sz="2400" i="1" dirty="0"/>
              <a:t>ann = par("ann"), axes = TRUE, frame.plot = axes, </a:t>
            </a:r>
            <a:r>
              <a:rPr lang="en-US" sz="2400" i="1" dirty="0" err="1"/>
              <a:t>panel.first</a:t>
            </a:r>
            <a:r>
              <a:rPr lang="en-US" sz="2400" i="1" dirty="0"/>
              <a:t> = NULL, </a:t>
            </a:r>
            <a:r>
              <a:rPr lang="en-US" sz="2400" i="1" dirty="0" err="1"/>
              <a:t>panel.last</a:t>
            </a:r>
            <a:r>
              <a:rPr lang="en-US" sz="2400" i="1" dirty="0"/>
              <a:t> = NULL, asp = NA, ...)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F22B3B-5569-4A10-AD10-164971D0E9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43" y="2676076"/>
            <a:ext cx="4396273" cy="30715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6733AA-AEE8-4A6D-A848-40ED18C275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227" y="2220686"/>
            <a:ext cx="6750336" cy="451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712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8C087-6203-4127-B7C7-3CBA10B66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580"/>
            <a:ext cx="10515600" cy="662473"/>
          </a:xfrm>
        </p:spPr>
        <p:txBody>
          <a:bodyPr>
            <a:normAutofit fontScale="90000"/>
          </a:bodyPr>
          <a:lstStyle/>
          <a:p>
            <a:r>
              <a:rPr lang="en-US" dirty="0"/>
              <a:t>Scatter plots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2299B-F393-42D5-8241-1C12F7CB1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6955"/>
            <a:ext cx="10515600" cy="4880008"/>
          </a:xfrm>
        </p:spPr>
        <p:txBody>
          <a:bodyPr>
            <a:normAutofit/>
          </a:bodyPr>
          <a:lstStyle/>
          <a:p>
            <a:r>
              <a:rPr lang="en-US" dirty="0"/>
              <a:t>Using </a:t>
            </a:r>
            <a:r>
              <a:rPr lang="en-US" dirty="0" err="1"/>
              <a:t>matplot</a:t>
            </a:r>
            <a:r>
              <a:rPr lang="en-US" dirty="0"/>
              <a:t> function: Used to plot the columns of a matrix</a:t>
            </a:r>
          </a:p>
          <a:p>
            <a:pPr lvl="1"/>
            <a:r>
              <a:rPr lang="en-US" sz="2000" i="1" dirty="0" err="1"/>
              <a:t>matplot</a:t>
            </a:r>
            <a:r>
              <a:rPr lang="en-US" sz="2000" i="1" dirty="0"/>
              <a:t>(x, y, type = "p", </a:t>
            </a:r>
            <a:r>
              <a:rPr lang="en-US" sz="2000" i="1" dirty="0" err="1"/>
              <a:t>lty</a:t>
            </a:r>
            <a:r>
              <a:rPr lang="en-US" sz="2000" i="1" dirty="0"/>
              <a:t> = 1:5, </a:t>
            </a:r>
            <a:r>
              <a:rPr lang="en-US" sz="2000" i="1" dirty="0" err="1"/>
              <a:t>lwd</a:t>
            </a:r>
            <a:r>
              <a:rPr lang="en-US" sz="2000" i="1" dirty="0"/>
              <a:t> = 1, </a:t>
            </a:r>
            <a:r>
              <a:rPr lang="en-US" sz="2000" i="1" dirty="0" err="1"/>
              <a:t>pch</a:t>
            </a:r>
            <a:r>
              <a:rPr lang="en-US" sz="2000" i="1" dirty="0"/>
              <a:t> = NULL, </a:t>
            </a:r>
            <a:r>
              <a:rPr lang="it-IT" sz="2000" i="1" dirty="0"/>
              <a:t>col = 1:6, cex = NULL, bg = NA, </a:t>
            </a:r>
            <a:r>
              <a:rPr lang="en-US" sz="2000" i="1" dirty="0" err="1"/>
              <a:t>xlab</a:t>
            </a:r>
            <a:r>
              <a:rPr lang="en-US" sz="2000" i="1" dirty="0"/>
              <a:t> = NULL, </a:t>
            </a:r>
            <a:r>
              <a:rPr lang="en-US" sz="2000" i="1" dirty="0" err="1"/>
              <a:t>ylab</a:t>
            </a:r>
            <a:r>
              <a:rPr lang="en-US" sz="2000" i="1" dirty="0"/>
              <a:t> = NULL, </a:t>
            </a:r>
            <a:r>
              <a:rPr lang="en-US" sz="2000" i="1" dirty="0" err="1"/>
              <a:t>xlim</a:t>
            </a:r>
            <a:r>
              <a:rPr lang="en-US" sz="2000" i="1" dirty="0"/>
              <a:t> = NULL, </a:t>
            </a:r>
            <a:r>
              <a:rPr lang="en-US" sz="2000" i="1" dirty="0" err="1"/>
              <a:t>ylim</a:t>
            </a:r>
            <a:r>
              <a:rPr lang="en-US" sz="2000" i="1" dirty="0"/>
              <a:t> = NULL, </a:t>
            </a:r>
            <a:r>
              <a:rPr lang="de-DE" sz="2000" i="1" dirty="0"/>
              <a:t>..., add = FALSE, verbose = getOption("verbose"))</a:t>
            </a:r>
          </a:p>
          <a:p>
            <a:r>
              <a:rPr lang="de-DE" dirty="0"/>
              <a:t>If we have a large number of data to plot, then we prefer the function smoothScatter</a:t>
            </a:r>
          </a:p>
          <a:p>
            <a:pPr lvl="1"/>
            <a:r>
              <a:rPr lang="en-US" sz="2000" i="1" dirty="0" err="1"/>
              <a:t>smoothScatter</a:t>
            </a:r>
            <a:r>
              <a:rPr lang="en-US" sz="2000" i="1" dirty="0"/>
              <a:t>(x, y = NULL, </a:t>
            </a:r>
            <a:r>
              <a:rPr lang="en-US" sz="2000" i="1" dirty="0" err="1"/>
              <a:t>nbin</a:t>
            </a:r>
            <a:r>
              <a:rPr lang="en-US" sz="2000" i="1" dirty="0"/>
              <a:t> = 128, bandwidth, </a:t>
            </a:r>
            <a:r>
              <a:rPr lang="en-US" sz="2000" i="1" dirty="0" err="1"/>
              <a:t>colramp</a:t>
            </a:r>
            <a:r>
              <a:rPr lang="en-US" sz="2000" i="1" dirty="0"/>
              <a:t> = </a:t>
            </a:r>
            <a:r>
              <a:rPr lang="en-US" sz="2000" i="1" dirty="0" err="1"/>
              <a:t>colorRampPalette</a:t>
            </a:r>
            <a:r>
              <a:rPr lang="en-US" sz="2000" i="1" dirty="0"/>
              <a:t>(c("white", blues9)), </a:t>
            </a:r>
            <a:r>
              <a:rPr lang="en-US" sz="2000" i="1" dirty="0" err="1"/>
              <a:t>nrpoints</a:t>
            </a:r>
            <a:r>
              <a:rPr lang="en-US" sz="2000" i="1" dirty="0"/>
              <a:t> = 100, </a:t>
            </a:r>
            <a:r>
              <a:rPr lang="en-US" sz="2000" i="1" dirty="0" err="1"/>
              <a:t>pch</a:t>
            </a:r>
            <a:r>
              <a:rPr lang="en-US" sz="2000" i="1" dirty="0"/>
              <a:t> = ".", </a:t>
            </a:r>
            <a:r>
              <a:rPr lang="en-US" sz="2000" i="1" dirty="0" err="1"/>
              <a:t>cex</a:t>
            </a:r>
            <a:r>
              <a:rPr lang="en-US" sz="2000" i="1" dirty="0"/>
              <a:t> = 1, col = "black", </a:t>
            </a:r>
            <a:r>
              <a:rPr lang="fr-FR" sz="2000" i="1" dirty="0"/>
              <a:t>transformation = </a:t>
            </a:r>
            <a:r>
              <a:rPr lang="fr-FR" sz="2000" i="1" dirty="0" err="1"/>
              <a:t>function</a:t>
            </a:r>
            <a:r>
              <a:rPr lang="fr-FR" sz="2000" i="1" dirty="0"/>
              <a:t>(x) x^.25, </a:t>
            </a:r>
            <a:r>
              <a:rPr lang="en-US" sz="2000" i="1" dirty="0" err="1"/>
              <a:t>postPlotHook</a:t>
            </a:r>
            <a:r>
              <a:rPr lang="en-US" sz="2000" i="1" dirty="0"/>
              <a:t> = box, </a:t>
            </a:r>
            <a:r>
              <a:rPr lang="en-US" sz="2000" i="1" dirty="0" err="1"/>
              <a:t>xlab</a:t>
            </a:r>
            <a:r>
              <a:rPr lang="en-US" sz="2000" i="1" dirty="0"/>
              <a:t> = NULL, </a:t>
            </a:r>
            <a:r>
              <a:rPr lang="en-US" sz="2000" i="1" dirty="0" err="1"/>
              <a:t>ylab</a:t>
            </a:r>
            <a:r>
              <a:rPr lang="en-US" sz="2000" i="1" dirty="0"/>
              <a:t> = NULL, </a:t>
            </a:r>
            <a:r>
              <a:rPr lang="en-US" sz="2000" i="1" dirty="0" err="1"/>
              <a:t>xlim</a:t>
            </a:r>
            <a:r>
              <a:rPr lang="en-US" sz="2000" i="1" dirty="0"/>
              <a:t>, </a:t>
            </a:r>
            <a:r>
              <a:rPr lang="en-US" sz="2000" i="1" dirty="0" err="1"/>
              <a:t>ylim</a:t>
            </a:r>
            <a:r>
              <a:rPr lang="en-US" sz="2000" i="1" dirty="0"/>
              <a:t>, </a:t>
            </a:r>
            <a:r>
              <a:rPr lang="fr-FR" sz="2000" i="1" dirty="0" err="1"/>
              <a:t>xaxs</a:t>
            </a:r>
            <a:r>
              <a:rPr lang="fr-FR" sz="2000" i="1" dirty="0"/>
              <a:t> = par("</a:t>
            </a:r>
            <a:r>
              <a:rPr lang="fr-FR" sz="2000" i="1" dirty="0" err="1"/>
              <a:t>xaxs</a:t>
            </a:r>
            <a:r>
              <a:rPr lang="fr-FR" sz="2000" i="1" dirty="0"/>
              <a:t>"), </a:t>
            </a:r>
            <a:r>
              <a:rPr lang="fr-FR" sz="2000" i="1" dirty="0" err="1"/>
              <a:t>yaxs</a:t>
            </a:r>
            <a:r>
              <a:rPr lang="fr-FR" sz="2000" i="1" dirty="0"/>
              <a:t> = par("</a:t>
            </a:r>
            <a:r>
              <a:rPr lang="fr-FR" sz="2000" i="1" dirty="0" err="1"/>
              <a:t>yaxs</a:t>
            </a:r>
            <a:r>
              <a:rPr lang="fr-FR" sz="2000" i="1" dirty="0"/>
              <a:t>"), ...)</a:t>
            </a:r>
            <a:endParaRPr lang="de-DE" sz="2000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68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18271-0625-40B1-93BA-D0EC9EA39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5943"/>
            <a:ext cx="10515600" cy="690465"/>
          </a:xfrm>
        </p:spPr>
        <p:txBody>
          <a:bodyPr>
            <a:normAutofit fontScale="90000"/>
          </a:bodyPr>
          <a:lstStyle/>
          <a:p>
            <a:r>
              <a:rPr lang="en-US" dirty="0"/>
              <a:t>Base Histograms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88DCF-4BEE-4DF1-AE9A-8230F4653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1053"/>
            <a:ext cx="10515600" cy="5701004"/>
          </a:xfrm>
        </p:spPr>
        <p:txBody>
          <a:bodyPr/>
          <a:lstStyle/>
          <a:p>
            <a:r>
              <a:rPr lang="en-US" dirty="0"/>
              <a:t>The most common graph of data in a single variable is a histogram</a:t>
            </a:r>
          </a:p>
          <a:p>
            <a:r>
              <a:rPr lang="en-US" dirty="0"/>
              <a:t>This shows the distribution of values for that variable</a:t>
            </a:r>
          </a:p>
          <a:p>
            <a:r>
              <a:rPr lang="en-US" dirty="0"/>
              <a:t>&gt; </a:t>
            </a:r>
            <a:r>
              <a:rPr lang="en-US" sz="2400" b="1" i="1" dirty="0"/>
              <a:t>hist</a:t>
            </a:r>
            <a:r>
              <a:rPr lang="en-US" sz="2400" i="1" dirty="0"/>
              <a:t>(</a:t>
            </a:r>
            <a:r>
              <a:rPr lang="en-US" sz="2400" i="1" dirty="0" err="1"/>
              <a:t>diamonds$carat</a:t>
            </a:r>
            <a:r>
              <a:rPr lang="en-US" sz="2400" i="1" dirty="0"/>
              <a:t>, main="Carat Histogram", </a:t>
            </a:r>
            <a:r>
              <a:rPr lang="en-US" sz="2400" i="1" dirty="0" err="1"/>
              <a:t>xlab</a:t>
            </a:r>
            <a:r>
              <a:rPr lang="en-US" sz="2400" i="1" dirty="0"/>
              <a:t>="Carat")</a:t>
            </a:r>
            <a:endParaRPr lang="en-US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A1BA70-66C8-4D20-8085-1B700B7209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707" y="2698563"/>
            <a:ext cx="7376799" cy="3718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861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7DD60-3628-43D8-B660-9494655D8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6557"/>
          </a:xfrm>
        </p:spPr>
        <p:txBody>
          <a:bodyPr/>
          <a:lstStyle/>
          <a:p>
            <a:r>
              <a:rPr lang="en-US" dirty="0"/>
              <a:t>Plotting Time Series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CBE65-71EE-49F6-B71F-54753966A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9633"/>
            <a:ext cx="10515600" cy="5355771"/>
          </a:xfrm>
        </p:spPr>
        <p:txBody>
          <a:bodyPr/>
          <a:lstStyle/>
          <a:p>
            <a:r>
              <a:rPr lang="en-US" sz="2400" i="1" dirty="0"/>
              <a:t>data&lt;- read.csv("C:\\Users\\soorya\\Documents\\archive (1)\\                daily-minimum-temperatures-in-me.csv")</a:t>
            </a:r>
          </a:p>
          <a:p>
            <a:r>
              <a:rPr lang="en-US" sz="2400" i="1" dirty="0"/>
              <a:t>head(data)</a:t>
            </a:r>
          </a:p>
          <a:p>
            <a:r>
              <a:rPr lang="en-US" sz="2400" i="1" dirty="0" err="1"/>
              <a:t>rdate</a:t>
            </a:r>
            <a:r>
              <a:rPr lang="en-US" sz="2400" i="1" dirty="0"/>
              <a:t>&lt;- </a:t>
            </a:r>
            <a:r>
              <a:rPr lang="en-US" sz="2400" i="1" dirty="0" err="1"/>
              <a:t>as.Date</a:t>
            </a:r>
            <a:r>
              <a:rPr lang="en-US" sz="2400" i="1" dirty="0"/>
              <a:t>(</a:t>
            </a:r>
            <a:r>
              <a:rPr lang="en-US" sz="2400" i="1" dirty="0" err="1"/>
              <a:t>data$Date</a:t>
            </a:r>
            <a:r>
              <a:rPr lang="en-US" sz="2400" i="1" dirty="0"/>
              <a:t>, "%m/%d/%y")fix(</a:t>
            </a:r>
            <a:r>
              <a:rPr lang="en-US" sz="2400" i="1" dirty="0" err="1"/>
              <a:t>rdate</a:t>
            </a:r>
            <a:r>
              <a:rPr lang="en-US" sz="2400" i="1" dirty="0"/>
              <a:t>)</a:t>
            </a:r>
          </a:p>
          <a:p>
            <a:r>
              <a:rPr lang="en-US" sz="2400" i="1" dirty="0"/>
              <a:t>plot(</a:t>
            </a:r>
            <a:r>
              <a:rPr lang="en-US" sz="2400" i="1" dirty="0" err="1"/>
              <a:t>data$Daily.minimum.temperatures</a:t>
            </a:r>
            <a:r>
              <a:rPr lang="en-US" sz="2400" i="1" dirty="0"/>
              <a:t> ~</a:t>
            </a:r>
            <a:r>
              <a:rPr lang="en-US" sz="2400" i="1" dirty="0" err="1"/>
              <a:t>rdate</a:t>
            </a:r>
            <a:r>
              <a:rPr lang="en-US" sz="2400" i="1" dirty="0"/>
              <a:t>, type="l", col="red", axes=T,     </a:t>
            </a:r>
            <a:r>
              <a:rPr lang="en-US" sz="2400" i="1" dirty="0" err="1"/>
              <a:t>xlab</a:t>
            </a:r>
            <a:r>
              <a:rPr lang="en-US" sz="2400" i="1" dirty="0"/>
              <a:t>="date", </a:t>
            </a:r>
            <a:r>
              <a:rPr lang="en-US" sz="2400" i="1" dirty="0" err="1"/>
              <a:t>ylab</a:t>
            </a:r>
            <a:r>
              <a:rPr lang="en-US" sz="2400" i="1" dirty="0"/>
              <a:t> = "</a:t>
            </a:r>
            <a:r>
              <a:rPr lang="en-US" sz="2400" i="1" dirty="0" err="1"/>
              <a:t>temparature</a:t>
            </a:r>
            <a:r>
              <a:rPr lang="en-US" sz="2400" i="1" dirty="0"/>
              <a:t>", main="daily minimum </a:t>
            </a:r>
            <a:r>
              <a:rPr lang="en-US" sz="2400" i="1" dirty="0" err="1"/>
              <a:t>temaparature</a:t>
            </a:r>
            <a:r>
              <a:rPr lang="en-US" sz="2400" i="1" dirty="0"/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3832369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38C60-7699-4B86-9DDB-F2AF47805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barplot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B5A37-1C40-4070-9649-AF9C06599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dirty="0" err="1"/>
              <a:t>barplot</a:t>
            </a:r>
            <a:endParaRPr lang="en-US" dirty="0"/>
          </a:p>
          <a:p>
            <a:r>
              <a:rPr lang="en-US" sz="2400" i="1" dirty="0" err="1"/>
              <a:t>rainfall_data</a:t>
            </a:r>
            <a:r>
              <a:rPr lang="en-US" sz="2400" i="1" dirty="0"/>
              <a:t> &lt;- c(180,178,123,238,219)</a:t>
            </a:r>
          </a:p>
          <a:p>
            <a:r>
              <a:rPr lang="en-US" sz="2400" i="1" dirty="0"/>
              <a:t>month &lt;- c("Jun", "Jul", "Aug", "Sep", "Oct")</a:t>
            </a:r>
          </a:p>
          <a:p>
            <a:r>
              <a:rPr lang="en-US" sz="2400" i="1" dirty="0" err="1"/>
              <a:t>barplot</a:t>
            </a:r>
            <a:r>
              <a:rPr lang="en-US" sz="2400" i="1" dirty="0"/>
              <a:t>(</a:t>
            </a:r>
            <a:r>
              <a:rPr lang="en-US" sz="2400" i="1" dirty="0" err="1"/>
              <a:t>rainfall_data</a:t>
            </a:r>
            <a:r>
              <a:rPr lang="en-US" sz="2400" i="1" dirty="0"/>
              <a:t>, </a:t>
            </a:r>
            <a:r>
              <a:rPr lang="en-US" sz="2400" i="1" dirty="0" err="1"/>
              <a:t>xlab</a:t>
            </a:r>
            <a:r>
              <a:rPr lang="en-US" sz="2400" i="1" dirty="0"/>
              <a:t>="Month", </a:t>
            </a:r>
            <a:r>
              <a:rPr lang="en-US" sz="2400" i="1" dirty="0" err="1"/>
              <a:t>ylab</a:t>
            </a:r>
            <a:r>
              <a:rPr lang="en-US" sz="2400" i="1" dirty="0"/>
              <a:t>="rainfall",         main="Rainfall variance in monsoon",         col="grey",</a:t>
            </a:r>
            <a:r>
              <a:rPr lang="en-US" sz="2400" i="1" dirty="0" err="1"/>
              <a:t>names.arg</a:t>
            </a:r>
            <a:r>
              <a:rPr lang="en-US" sz="2400" i="1" dirty="0"/>
              <a:t>=month, border= "red")</a:t>
            </a:r>
          </a:p>
        </p:txBody>
      </p:sp>
    </p:spTree>
    <p:extLst>
      <p:ext uri="{BB962C8B-B14F-4D97-AF65-F5344CB8AC3E}">
        <p14:creationId xmlns:p14="http://schemas.microsoft.com/office/powerpoint/2010/main" val="2321929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BD5BD-393E-4866-9CCA-D4C9E8CCF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Pie charts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FDB38-8CE2-475C-884C-2FF184A57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pie function to plot pie charts</a:t>
            </a:r>
          </a:p>
          <a:p>
            <a:r>
              <a:rPr lang="en-US" sz="2400" i="1" dirty="0"/>
              <a:t>slices &lt;- c(10,12,4,16,8)</a:t>
            </a:r>
          </a:p>
          <a:p>
            <a:r>
              <a:rPr lang="en-US" sz="2400" i="1" dirty="0" err="1"/>
              <a:t>lbls</a:t>
            </a:r>
            <a:r>
              <a:rPr lang="en-US" sz="2400" i="1" dirty="0"/>
              <a:t>&lt;- c("Mango", "Orange", "Banana", "Apple", "Kiwi")</a:t>
            </a:r>
          </a:p>
          <a:p>
            <a:r>
              <a:rPr lang="en-US" sz="2400" i="1" dirty="0"/>
              <a:t>pie(slices, labels = </a:t>
            </a:r>
            <a:r>
              <a:rPr lang="en-US" sz="2400" i="1" dirty="0" err="1"/>
              <a:t>lbls</a:t>
            </a:r>
            <a:r>
              <a:rPr lang="en-US" sz="2400" i="1" dirty="0"/>
              <a:t>, main = "Pie chart of fruits")</a:t>
            </a:r>
          </a:p>
        </p:txBody>
      </p:sp>
    </p:spTree>
    <p:extLst>
      <p:ext uri="{BB962C8B-B14F-4D97-AF65-F5344CB8AC3E}">
        <p14:creationId xmlns:p14="http://schemas.microsoft.com/office/powerpoint/2010/main" val="2055094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7F827-8C1C-4AAB-B22E-EE82D9B26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Heatmap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C3354-788F-4BBE-BAC1-FD4AB3CDC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i="1" dirty="0"/>
              <a:t>heatmap(x, </a:t>
            </a:r>
            <a:r>
              <a:rPr lang="en-US" i="1" dirty="0" err="1"/>
              <a:t>Rowv</a:t>
            </a:r>
            <a:r>
              <a:rPr lang="en-US" i="1" dirty="0"/>
              <a:t>=NULL, </a:t>
            </a:r>
            <a:r>
              <a:rPr lang="en-US" i="1" dirty="0" err="1"/>
              <a:t>Colv</a:t>
            </a:r>
            <a:r>
              <a:rPr lang="en-US" i="1" dirty="0"/>
              <a:t>=if(</a:t>
            </a:r>
            <a:r>
              <a:rPr lang="en-US" i="1" dirty="0" err="1"/>
              <a:t>symm</a:t>
            </a:r>
            <a:r>
              <a:rPr lang="en-US" i="1" dirty="0"/>
              <a:t>)"</a:t>
            </a:r>
            <a:r>
              <a:rPr lang="en-US" i="1" dirty="0" err="1"/>
              <a:t>Rowv</a:t>
            </a:r>
            <a:r>
              <a:rPr lang="en-US" i="1" dirty="0"/>
              <a:t>" else NULL, </a:t>
            </a:r>
            <a:r>
              <a:rPr lang="en-US" i="1" dirty="0" err="1"/>
              <a:t>distfun</a:t>
            </a:r>
            <a:r>
              <a:rPr lang="en-US" i="1" dirty="0"/>
              <a:t> = </a:t>
            </a:r>
            <a:r>
              <a:rPr lang="en-US" i="1" dirty="0" err="1"/>
              <a:t>dist</a:t>
            </a:r>
            <a:r>
              <a:rPr lang="en-US" i="1" dirty="0"/>
              <a:t>, </a:t>
            </a:r>
            <a:r>
              <a:rPr lang="en-US" i="1" dirty="0" err="1"/>
              <a:t>hclustfun</a:t>
            </a:r>
            <a:r>
              <a:rPr lang="en-US" i="1" dirty="0"/>
              <a:t> = </a:t>
            </a:r>
            <a:r>
              <a:rPr lang="en-US" i="1" dirty="0" err="1"/>
              <a:t>hclust</a:t>
            </a:r>
            <a:r>
              <a:rPr lang="en-US" i="1" dirty="0"/>
              <a:t>, </a:t>
            </a:r>
            <a:r>
              <a:rPr lang="en-US" i="1" dirty="0" err="1"/>
              <a:t>reorderfun</a:t>
            </a:r>
            <a:r>
              <a:rPr lang="en-US" i="1" dirty="0"/>
              <a:t> = function(</a:t>
            </a:r>
            <a:r>
              <a:rPr lang="en-US" i="1" dirty="0" err="1"/>
              <a:t>d,w</a:t>
            </a:r>
            <a:r>
              <a:rPr lang="en-US" i="1" dirty="0"/>
              <a:t>) reorder(</a:t>
            </a:r>
            <a:r>
              <a:rPr lang="en-US" i="1" dirty="0" err="1"/>
              <a:t>d,w</a:t>
            </a:r>
            <a:r>
              <a:rPr lang="en-US" i="1" dirty="0"/>
              <a:t>),</a:t>
            </a:r>
          </a:p>
          <a:p>
            <a:pPr marL="0" indent="0" algn="just">
              <a:buNone/>
            </a:pPr>
            <a:r>
              <a:rPr lang="en-US" i="1" dirty="0"/>
              <a:t> </a:t>
            </a:r>
            <a:r>
              <a:rPr lang="en-US" i="1" dirty="0" err="1"/>
              <a:t>add.expr</a:t>
            </a:r>
            <a:r>
              <a:rPr lang="en-US" i="1" dirty="0"/>
              <a:t>, </a:t>
            </a:r>
            <a:r>
              <a:rPr lang="en-US" i="1" dirty="0" err="1"/>
              <a:t>symm</a:t>
            </a:r>
            <a:r>
              <a:rPr lang="en-US" i="1" dirty="0"/>
              <a:t> = FALSE, </a:t>
            </a:r>
            <a:r>
              <a:rPr lang="en-US" i="1" dirty="0" err="1"/>
              <a:t>revC</a:t>
            </a:r>
            <a:r>
              <a:rPr lang="en-US" i="1" dirty="0"/>
              <a:t> = identical(</a:t>
            </a:r>
            <a:r>
              <a:rPr lang="en-US" i="1" dirty="0" err="1"/>
              <a:t>Colv</a:t>
            </a:r>
            <a:r>
              <a:rPr lang="en-US" i="1" dirty="0"/>
              <a:t>, "</a:t>
            </a:r>
            <a:r>
              <a:rPr lang="en-US" i="1" dirty="0" err="1"/>
              <a:t>Rowv</a:t>
            </a:r>
            <a:r>
              <a:rPr lang="en-US" i="1" dirty="0"/>
              <a:t>"), scale=c("row", "column", "none"), na.rm = TRUE, margins = c(5, 5), </a:t>
            </a:r>
            <a:r>
              <a:rPr lang="en-US" i="1" dirty="0" err="1"/>
              <a:t>ColSideColors</a:t>
            </a:r>
            <a:r>
              <a:rPr lang="en-US" i="1" dirty="0"/>
              <a:t>, </a:t>
            </a:r>
            <a:r>
              <a:rPr lang="en-US" i="1" dirty="0" err="1"/>
              <a:t>RowSideColors</a:t>
            </a:r>
            <a:r>
              <a:rPr lang="en-US" i="1" dirty="0"/>
              <a:t>, </a:t>
            </a:r>
            <a:r>
              <a:rPr lang="en-US" i="1" dirty="0" err="1"/>
              <a:t>cexRow</a:t>
            </a:r>
            <a:r>
              <a:rPr lang="en-US" i="1" dirty="0"/>
              <a:t> = 0.2 + 1/log10(nr), </a:t>
            </a:r>
            <a:r>
              <a:rPr lang="en-US" i="1" dirty="0" err="1"/>
              <a:t>cexCol</a:t>
            </a:r>
            <a:r>
              <a:rPr lang="en-US" i="1" dirty="0"/>
              <a:t> = 0.2 + 1/log10(</a:t>
            </a:r>
            <a:r>
              <a:rPr lang="en-US" i="1" dirty="0" err="1"/>
              <a:t>nc</a:t>
            </a:r>
            <a:r>
              <a:rPr lang="en-US" i="1" dirty="0"/>
              <a:t>),</a:t>
            </a:r>
          </a:p>
          <a:p>
            <a:pPr marL="0" indent="0" algn="just">
              <a:buNone/>
            </a:pPr>
            <a:r>
              <a:rPr lang="it-IT" i="1" dirty="0"/>
              <a:t> labRow = NULL, labCol = NULL, main = NULL, </a:t>
            </a:r>
            <a:r>
              <a:rPr lang="en-US" i="1" dirty="0" err="1"/>
              <a:t>xlab</a:t>
            </a:r>
            <a:r>
              <a:rPr lang="en-US" i="1" dirty="0"/>
              <a:t> = NULL, </a:t>
            </a:r>
            <a:r>
              <a:rPr lang="en-US" i="1" dirty="0" err="1"/>
              <a:t>ylab</a:t>
            </a:r>
            <a:r>
              <a:rPr lang="en-US" i="1" dirty="0"/>
              <a:t> = NULL, </a:t>
            </a:r>
            <a:r>
              <a:rPr lang="de-DE" i="1" dirty="0"/>
              <a:t>keep.dendro = FALSE, verbose = getOption("verbose"), ...)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743346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EBB0A-B727-4EC0-8AE3-FAE5E94B0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Contours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1B830-4FD9-442A-9FED-112A6632F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contour(x = seq(0, 1, </a:t>
            </a:r>
            <a:r>
              <a:rPr lang="en-US" i="1" dirty="0" err="1"/>
              <a:t>length.out</a:t>
            </a:r>
            <a:r>
              <a:rPr lang="en-US" i="1" dirty="0"/>
              <a:t> = </a:t>
            </a:r>
            <a:r>
              <a:rPr lang="en-US" i="1" dirty="0" err="1"/>
              <a:t>nrow</a:t>
            </a:r>
            <a:r>
              <a:rPr lang="en-US" i="1" dirty="0"/>
              <a:t>(z)), y = seq(0, 1, </a:t>
            </a:r>
            <a:r>
              <a:rPr lang="en-US" i="1" dirty="0" err="1"/>
              <a:t>length.out</a:t>
            </a:r>
            <a:r>
              <a:rPr lang="en-US" i="1" dirty="0"/>
              <a:t> = </a:t>
            </a:r>
            <a:r>
              <a:rPr lang="en-US" i="1" dirty="0" err="1"/>
              <a:t>ncol</a:t>
            </a:r>
            <a:r>
              <a:rPr lang="en-US" i="1" dirty="0"/>
              <a:t>(z)), z, </a:t>
            </a:r>
            <a:r>
              <a:rPr lang="en-US" i="1" dirty="0" err="1"/>
              <a:t>nlevels</a:t>
            </a:r>
            <a:r>
              <a:rPr lang="en-US" i="1" dirty="0"/>
              <a:t> = 10, levels = pretty(</a:t>
            </a:r>
            <a:r>
              <a:rPr lang="en-US" i="1" dirty="0" err="1"/>
              <a:t>zlim</a:t>
            </a:r>
            <a:r>
              <a:rPr lang="en-US" i="1" dirty="0"/>
              <a:t>, </a:t>
            </a:r>
            <a:r>
              <a:rPr lang="en-US" i="1" dirty="0" err="1"/>
              <a:t>nlevels</a:t>
            </a:r>
            <a:r>
              <a:rPr lang="en-US" i="1" dirty="0"/>
              <a:t>), labels = NULL, </a:t>
            </a:r>
            <a:r>
              <a:rPr lang="en-US" i="1" dirty="0" err="1"/>
              <a:t>xlim</a:t>
            </a:r>
            <a:r>
              <a:rPr lang="en-US" i="1" dirty="0"/>
              <a:t> = range(x, finite = TRUE), </a:t>
            </a:r>
            <a:r>
              <a:rPr lang="en-US" i="1" dirty="0" err="1"/>
              <a:t>ylim</a:t>
            </a:r>
            <a:r>
              <a:rPr lang="en-US" i="1" dirty="0"/>
              <a:t> = range(y, finite = TRUE), </a:t>
            </a:r>
            <a:r>
              <a:rPr lang="pl-PL" i="1" dirty="0"/>
              <a:t>zlim = range(z, finite = TRUE),</a:t>
            </a:r>
            <a:r>
              <a:rPr lang="en-US" i="1" dirty="0"/>
              <a:t> </a:t>
            </a:r>
            <a:r>
              <a:rPr lang="en-US" i="1" dirty="0" err="1"/>
              <a:t>labcex</a:t>
            </a:r>
            <a:r>
              <a:rPr lang="en-US" i="1" dirty="0"/>
              <a:t> = 0.6, </a:t>
            </a:r>
            <a:r>
              <a:rPr lang="en-US" i="1" dirty="0" err="1"/>
              <a:t>drawlabels</a:t>
            </a:r>
            <a:r>
              <a:rPr lang="en-US" i="1" dirty="0"/>
              <a:t> = TRUE, method = "flattest", </a:t>
            </a:r>
            <a:r>
              <a:rPr lang="en-US" i="1" dirty="0" err="1"/>
              <a:t>vfont</a:t>
            </a:r>
            <a:r>
              <a:rPr lang="en-US" i="1" dirty="0"/>
              <a:t>, axes = TRUE, </a:t>
            </a:r>
            <a:r>
              <a:rPr lang="en-US" i="1" dirty="0" err="1"/>
              <a:t>frame.plot</a:t>
            </a:r>
            <a:r>
              <a:rPr lang="en-US" i="1" dirty="0"/>
              <a:t> = axes, </a:t>
            </a:r>
            <a:r>
              <a:rPr lang="fr-FR" i="1" dirty="0"/>
              <a:t>col = par("fg"), </a:t>
            </a:r>
            <a:r>
              <a:rPr lang="fr-FR" i="1" dirty="0" err="1"/>
              <a:t>lty</a:t>
            </a:r>
            <a:r>
              <a:rPr lang="fr-FR" i="1" dirty="0"/>
              <a:t> = par("</a:t>
            </a:r>
            <a:r>
              <a:rPr lang="fr-FR" i="1" dirty="0" err="1"/>
              <a:t>lty</a:t>
            </a:r>
            <a:r>
              <a:rPr lang="fr-FR" i="1" dirty="0"/>
              <a:t>"), </a:t>
            </a:r>
            <a:r>
              <a:rPr lang="fr-FR" i="1" dirty="0" err="1"/>
              <a:t>lwd</a:t>
            </a:r>
            <a:r>
              <a:rPr lang="fr-FR" i="1" dirty="0"/>
              <a:t> = par("</a:t>
            </a:r>
            <a:r>
              <a:rPr lang="fr-FR" i="1" dirty="0" err="1"/>
              <a:t>lwd</a:t>
            </a:r>
            <a:r>
              <a:rPr lang="fr-FR" i="1" dirty="0"/>
              <a:t>"), </a:t>
            </a:r>
            <a:r>
              <a:rPr lang="en-US" i="1" dirty="0"/>
              <a:t>add = FALSE, ...)</a:t>
            </a:r>
          </a:p>
        </p:txBody>
      </p:sp>
    </p:spTree>
    <p:extLst>
      <p:ext uri="{BB962C8B-B14F-4D97-AF65-F5344CB8AC3E}">
        <p14:creationId xmlns:p14="http://schemas.microsoft.com/office/powerpoint/2010/main" val="3772316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8C9CF-9276-4C26-B769-92D6638EC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FA882-137A-46ED-80EF-BD80E9650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plot distributions we can use histogram and boxplot</a:t>
            </a:r>
          </a:p>
          <a:p>
            <a:r>
              <a:rPr lang="en-US" i="1" dirty="0" err="1"/>
              <a:t>random_numbers</a:t>
            </a:r>
            <a:r>
              <a:rPr lang="en-US" i="1" dirty="0"/>
              <a:t> &lt;- </a:t>
            </a:r>
            <a:r>
              <a:rPr lang="en-US" i="1" dirty="0" err="1"/>
              <a:t>rnorm</a:t>
            </a:r>
            <a:r>
              <a:rPr lang="en-US" i="1" dirty="0"/>
              <a:t>(1000, mean = 0, </a:t>
            </a:r>
            <a:r>
              <a:rPr lang="en-US" i="1" dirty="0" err="1"/>
              <a:t>sd</a:t>
            </a:r>
            <a:r>
              <a:rPr lang="en-US" i="1" dirty="0"/>
              <a:t> = 1)</a:t>
            </a:r>
          </a:p>
          <a:p>
            <a:r>
              <a:rPr lang="en-US" i="1" dirty="0"/>
              <a:t>hist(</a:t>
            </a:r>
            <a:r>
              <a:rPr lang="en-US" i="1" dirty="0" err="1"/>
              <a:t>random_numbers</a:t>
            </a:r>
            <a:r>
              <a:rPr lang="en-US" i="1" dirty="0"/>
              <a:t>, main = "Histogram of Random Numbers",      </a:t>
            </a:r>
            <a:r>
              <a:rPr lang="en-US" i="1" dirty="0" err="1"/>
              <a:t>xlab</a:t>
            </a:r>
            <a:r>
              <a:rPr lang="en-US" i="1" dirty="0"/>
              <a:t> = "Values", </a:t>
            </a:r>
            <a:r>
              <a:rPr lang="en-US" i="1" dirty="0" err="1"/>
              <a:t>ylab</a:t>
            </a:r>
            <a:r>
              <a:rPr lang="en-US" i="1" dirty="0"/>
              <a:t> = "Frequency", col = "</a:t>
            </a:r>
            <a:r>
              <a:rPr lang="en-US" i="1" dirty="0" err="1"/>
              <a:t>skyblue</a:t>
            </a:r>
            <a:r>
              <a:rPr lang="en-US" i="1" dirty="0"/>
              <a:t>",      border = "black")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932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9ACCF-D489-4726-B1E0-6E74603C4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858"/>
            <a:ext cx="10515600" cy="670575"/>
          </a:xfrm>
        </p:spPr>
        <p:txBody>
          <a:bodyPr>
            <a:normAutofit fontScale="90000"/>
          </a:bodyPr>
          <a:lstStyle/>
          <a:p>
            <a:r>
              <a:rPr lang="en-US" dirty="0"/>
              <a:t>Boxplot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09781-667A-4EA2-B250-03BEB5221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2434"/>
            <a:ext cx="10515600" cy="5374530"/>
          </a:xfrm>
        </p:spPr>
        <p:txBody>
          <a:bodyPr/>
          <a:lstStyle/>
          <a:p>
            <a:r>
              <a:rPr lang="en-US" i="1" dirty="0"/>
              <a:t>boxplot(x, ..., range = 1.5, width = NULL, </a:t>
            </a:r>
            <a:r>
              <a:rPr lang="en-US" i="1" dirty="0" err="1"/>
              <a:t>varwidth</a:t>
            </a:r>
            <a:r>
              <a:rPr lang="en-US" i="1" dirty="0"/>
              <a:t> = FALSE, notch = FALSE, outline = TRUE, names, plot = TRUE, </a:t>
            </a:r>
            <a:r>
              <a:rPr lang="sv-SE" i="1" dirty="0"/>
              <a:t>border = par("fg"), col = NULL, log = "", </a:t>
            </a:r>
            <a:r>
              <a:rPr lang="en-US" i="1" dirty="0"/>
              <a:t>pars = list(</a:t>
            </a:r>
            <a:r>
              <a:rPr lang="en-US" i="1" dirty="0" err="1"/>
              <a:t>boxwex</a:t>
            </a:r>
            <a:r>
              <a:rPr lang="en-US" i="1" dirty="0"/>
              <a:t> = 0.8, </a:t>
            </a:r>
            <a:r>
              <a:rPr lang="en-US" i="1" dirty="0" err="1"/>
              <a:t>staplewex</a:t>
            </a:r>
            <a:r>
              <a:rPr lang="en-US" i="1" dirty="0"/>
              <a:t> = 0.5, </a:t>
            </a:r>
            <a:r>
              <a:rPr lang="en-US" i="1" dirty="0" err="1"/>
              <a:t>outwex</a:t>
            </a:r>
            <a:r>
              <a:rPr lang="en-US" i="1" dirty="0"/>
              <a:t> = 0.5), horizontal = FALSE, add = FALSE, at = NULL)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7E51C8-8488-440B-AD34-9A76C0331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911" y="2449088"/>
            <a:ext cx="4385388" cy="360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524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6E246-AF77-408E-B690-E581E59C1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613"/>
            <a:ext cx="10515600" cy="914400"/>
          </a:xfrm>
        </p:spPr>
        <p:txBody>
          <a:bodyPr/>
          <a:lstStyle/>
          <a:p>
            <a:r>
              <a:rPr lang="en-US" b="1" dirty="0"/>
              <a:t>Customizing Charts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BD40D-718E-4265-ACBD-1DD8F5B8A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0261"/>
            <a:ext cx="10515600" cy="5281126"/>
          </a:xfrm>
        </p:spPr>
        <p:txBody>
          <a:bodyPr/>
          <a:lstStyle/>
          <a:p>
            <a:r>
              <a:rPr lang="en-US" dirty="0"/>
              <a:t>Many ways to customize charts in R</a:t>
            </a:r>
          </a:p>
          <a:p>
            <a:pPr lvl="1"/>
            <a:r>
              <a:rPr lang="en-US" dirty="0"/>
              <a:t>The most intuitive is through arguments to a charting function</a:t>
            </a:r>
          </a:p>
          <a:p>
            <a:pPr lvl="1"/>
            <a:r>
              <a:rPr lang="en-US" dirty="0"/>
              <a:t>Another way to customize charts is by setting session parameters</a:t>
            </a:r>
          </a:p>
          <a:p>
            <a:r>
              <a:rPr lang="en-US" dirty="0"/>
              <a:t>It is also possible to write your own charting functions from scratch</a:t>
            </a:r>
          </a:p>
          <a:p>
            <a:r>
              <a:rPr lang="en-US" b="1" dirty="0"/>
              <a:t>Common Arguments to Chart Functions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CB81D1-9B2A-4C08-9BEC-CCC825F4E6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2312" y="3686273"/>
            <a:ext cx="6688887" cy="2854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424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702A1-99CA-49EB-839B-1727462C9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6464"/>
            <a:ext cx="10515600" cy="707895"/>
          </a:xfrm>
        </p:spPr>
        <p:txBody>
          <a:bodyPr/>
          <a:lstStyle/>
          <a:p>
            <a:r>
              <a:rPr lang="en-US" b="1" dirty="0"/>
              <a:t>Graphical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0BDBF-A05F-4244-AB47-C7E668429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9633"/>
            <a:ext cx="10515600" cy="5393094"/>
          </a:xfrm>
        </p:spPr>
        <p:txBody>
          <a:bodyPr/>
          <a:lstStyle/>
          <a:p>
            <a:r>
              <a:rPr lang="en-US" b="1" dirty="0"/>
              <a:t>par() </a:t>
            </a:r>
            <a:r>
              <a:rPr lang="en-US" dirty="0"/>
              <a:t>- The par function sets the graphics functions for a specific graphics device.</a:t>
            </a:r>
          </a:p>
          <a:p>
            <a:r>
              <a:rPr lang="en-US" dirty="0"/>
              <a:t>These new settings will be the defaults for any new plot until you close the device.</a:t>
            </a:r>
          </a:p>
          <a:p>
            <a:pPr lvl="1"/>
            <a:r>
              <a:rPr lang="en-US" dirty="0"/>
              <a:t>&gt; </a:t>
            </a:r>
            <a:r>
              <a:rPr lang="en-US" dirty="0" err="1"/>
              <a:t>my_graphics_params</a:t>
            </a:r>
            <a:r>
              <a:rPr lang="en-US" dirty="0"/>
              <a:t> &lt;- function () {</a:t>
            </a:r>
          </a:p>
          <a:p>
            <a:pPr marL="457200" lvl="1" indent="0">
              <a:buNone/>
            </a:pPr>
            <a:r>
              <a:rPr lang="en-US" dirty="0"/>
              <a:t>par(some graphics parameters)</a:t>
            </a:r>
          </a:p>
          <a:p>
            <a:pPr marL="457200" lvl="1" indent="0">
              <a:buNone/>
            </a:pPr>
            <a:r>
              <a:rPr lang="en-US" dirty="0"/>
              <a:t>}</a:t>
            </a:r>
          </a:p>
          <a:p>
            <a:r>
              <a:rPr lang="en-US" dirty="0"/>
              <a:t>You can check or set the values of these parameters for the active device through the par function</a:t>
            </a:r>
          </a:p>
          <a:p>
            <a:pPr lvl="1"/>
            <a:r>
              <a:rPr lang="en-US" dirty="0"/>
              <a:t>&gt; par("</a:t>
            </a:r>
            <a:r>
              <a:rPr lang="en-US" dirty="0" err="1"/>
              <a:t>bg</a:t>
            </a:r>
            <a:r>
              <a:rPr lang="en-US" dirty="0"/>
              <a:t>")</a:t>
            </a:r>
          </a:p>
          <a:p>
            <a:pPr lvl="1"/>
            <a:r>
              <a:rPr lang="en-US" dirty="0"/>
              <a:t>[1] "transparent"</a:t>
            </a:r>
          </a:p>
        </p:txBody>
      </p:sp>
    </p:spTree>
    <p:extLst>
      <p:ext uri="{BB962C8B-B14F-4D97-AF65-F5344CB8AC3E}">
        <p14:creationId xmlns:p14="http://schemas.microsoft.com/office/powerpoint/2010/main" val="33564805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702A1-99CA-49EB-839B-1727462C9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204"/>
            <a:ext cx="10515600" cy="707895"/>
          </a:xfrm>
        </p:spPr>
        <p:txBody>
          <a:bodyPr/>
          <a:lstStyle/>
          <a:p>
            <a:r>
              <a:rPr lang="en-US" dirty="0"/>
              <a:t>Graphical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0BDBF-A05F-4244-AB47-C7E668429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7078"/>
            <a:ext cx="10515600" cy="5775649"/>
          </a:xfrm>
        </p:spPr>
        <p:txBody>
          <a:bodyPr>
            <a:normAutofit/>
          </a:bodyPr>
          <a:lstStyle/>
          <a:p>
            <a:r>
              <a:rPr lang="en-US" b="1" dirty="0"/>
              <a:t>Annotation</a:t>
            </a:r>
            <a:r>
              <a:rPr lang="en-US" dirty="0"/>
              <a:t> –</a:t>
            </a:r>
          </a:p>
          <a:p>
            <a:pPr lvl="1"/>
            <a:r>
              <a:rPr lang="en-US" dirty="0"/>
              <a:t> Titles and axis labels are called </a:t>
            </a:r>
            <a:r>
              <a:rPr lang="en-US" i="1" dirty="0"/>
              <a:t>chart annotation</a:t>
            </a:r>
            <a:r>
              <a:rPr lang="en-US" dirty="0"/>
              <a:t>. You can control chart annotation with the </a:t>
            </a:r>
            <a:r>
              <a:rPr lang="en-US" dirty="0" err="1"/>
              <a:t>ann</a:t>
            </a:r>
            <a:r>
              <a:rPr lang="en-US" dirty="0"/>
              <a:t> parameter. (If you set </a:t>
            </a:r>
            <a:r>
              <a:rPr lang="en-US" b="1" dirty="0" err="1"/>
              <a:t>ann</a:t>
            </a:r>
            <a:r>
              <a:rPr lang="en-US" b="1" dirty="0"/>
              <a:t>=FALSE</a:t>
            </a:r>
            <a:r>
              <a:rPr lang="en-US" dirty="0"/>
              <a:t>, then titles and axis labels are not printed.)</a:t>
            </a:r>
          </a:p>
          <a:p>
            <a:r>
              <a:rPr lang="en-US" b="1" dirty="0"/>
              <a:t>Margins</a:t>
            </a:r>
            <a:r>
              <a:rPr lang="en-US" dirty="0"/>
              <a:t> – </a:t>
            </a:r>
          </a:p>
          <a:p>
            <a:pPr lvl="1"/>
            <a:r>
              <a:rPr lang="en-US" dirty="0"/>
              <a:t>R allows you to control the size of the margin around a plot.</a:t>
            </a:r>
          </a:p>
          <a:p>
            <a:pPr lvl="1"/>
            <a:r>
              <a:rPr lang="en-US" dirty="0"/>
              <a:t>The whole graphics device is called the </a:t>
            </a:r>
            <a:r>
              <a:rPr lang="en-US" i="1" dirty="0"/>
              <a:t>device region</a:t>
            </a:r>
            <a:r>
              <a:rPr lang="en-US" dirty="0"/>
              <a:t>. The area where data is plotted is called the </a:t>
            </a:r>
            <a:r>
              <a:rPr lang="en-US" i="1" dirty="0"/>
              <a:t>plot region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Use the </a:t>
            </a:r>
            <a:r>
              <a:rPr lang="en-US" b="1" dirty="0" err="1"/>
              <a:t>mai</a:t>
            </a:r>
            <a:r>
              <a:rPr lang="en-US" dirty="0"/>
              <a:t> argument to specify the margin size in inches</a:t>
            </a:r>
          </a:p>
          <a:p>
            <a:pPr lvl="1"/>
            <a:r>
              <a:rPr lang="en-US" dirty="0"/>
              <a:t>use </a:t>
            </a:r>
            <a:r>
              <a:rPr lang="en-US" sz="2000" b="1" dirty="0"/>
              <a:t>mar</a:t>
            </a:r>
            <a:r>
              <a:rPr lang="en-US" sz="2000" dirty="0"/>
              <a:t> </a:t>
            </a:r>
            <a:r>
              <a:rPr lang="en-US" dirty="0"/>
              <a:t>to specify the margin in lines of text</a:t>
            </a:r>
          </a:p>
          <a:p>
            <a:pPr lvl="1"/>
            <a:r>
              <a:rPr lang="en-US" dirty="0"/>
              <a:t>To control the margins around titles and labels, use the </a:t>
            </a:r>
            <a:r>
              <a:rPr lang="en-US" sz="2000" b="1" dirty="0" err="1"/>
              <a:t>mgp</a:t>
            </a:r>
            <a:r>
              <a:rPr lang="en-US" sz="2000" dirty="0"/>
              <a:t> </a:t>
            </a:r>
            <a:r>
              <a:rPr lang="en-US" dirty="0"/>
              <a:t>parameter</a:t>
            </a:r>
          </a:p>
          <a:p>
            <a:pPr lvl="1"/>
            <a:r>
              <a:rPr lang="en-US" dirty="0"/>
              <a:t>To check the overall dimensions of a device (in inches), you can use the read-only parameter </a:t>
            </a:r>
            <a:r>
              <a:rPr lang="en-US" sz="2000" dirty="0"/>
              <a:t>din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R maximizes the use of available space out to the margins </a:t>
            </a:r>
            <a:r>
              <a:rPr lang="en-US" b="1" dirty="0"/>
              <a:t>(</a:t>
            </a:r>
            <a:r>
              <a:rPr lang="en-US" sz="2000" b="1" dirty="0" err="1"/>
              <a:t>pty</a:t>
            </a:r>
            <a:r>
              <a:rPr lang="en-US" sz="2000" b="1" dirty="0"/>
              <a:t>="m"</a:t>
            </a:r>
            <a:r>
              <a:rPr lang="en-US" b="1" dirty="0"/>
              <a:t>), </a:t>
            </a:r>
            <a:r>
              <a:rPr lang="en-US" dirty="0"/>
              <a:t>but you can easily ask R to use a square region by setting </a:t>
            </a:r>
            <a:r>
              <a:rPr lang="en-US" sz="2000" b="1" dirty="0" err="1"/>
              <a:t>pty</a:t>
            </a:r>
            <a:r>
              <a:rPr lang="en-US" sz="2000" b="1" dirty="0"/>
              <a:t>="s"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90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702A1-99CA-49EB-839B-1727462C9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6464"/>
            <a:ext cx="10515600" cy="707895"/>
          </a:xfrm>
        </p:spPr>
        <p:txBody>
          <a:bodyPr/>
          <a:lstStyle/>
          <a:p>
            <a:r>
              <a:rPr lang="en-US" dirty="0"/>
              <a:t>Graphical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0BDBF-A05F-4244-AB47-C7E668429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9633"/>
            <a:ext cx="10515600" cy="5393094"/>
          </a:xfrm>
        </p:spPr>
        <p:txBody>
          <a:bodyPr>
            <a:normAutofit/>
          </a:bodyPr>
          <a:lstStyle/>
          <a:p>
            <a:r>
              <a:rPr lang="en-US" b="1" dirty="0"/>
              <a:t>Multiple plots – </a:t>
            </a:r>
          </a:p>
          <a:p>
            <a:pPr lvl="1"/>
            <a:r>
              <a:rPr lang="en-US" dirty="0"/>
              <a:t>You can plot multiple charts using the standard graphics functions by setting the </a:t>
            </a:r>
            <a:r>
              <a:rPr lang="en-US" b="1" dirty="0" err="1"/>
              <a:t>mfcol</a:t>
            </a:r>
            <a:r>
              <a:rPr lang="en-US" dirty="0"/>
              <a:t> parameter for a device</a:t>
            </a:r>
          </a:p>
          <a:p>
            <a:pPr lvl="1"/>
            <a:r>
              <a:rPr lang="en-US" dirty="0"/>
              <a:t>&gt; par(</a:t>
            </a:r>
            <a:r>
              <a:rPr lang="en-US" dirty="0" err="1"/>
              <a:t>mfcol</a:t>
            </a:r>
            <a:r>
              <a:rPr lang="en-US" dirty="0"/>
              <a:t>=c(3,2))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If a matrix of subplots is being drawn on a graphics device, you can specify the next plot location using the argument</a:t>
            </a:r>
            <a:r>
              <a:rPr lang="en-US" sz="2800" dirty="0"/>
              <a:t> </a:t>
            </a:r>
            <a:r>
              <a:rPr lang="en-US" b="1" dirty="0" err="1"/>
              <a:t>mfg</a:t>
            </a:r>
            <a:r>
              <a:rPr lang="en-US" b="1" dirty="0"/>
              <a:t>=c(row, column, </a:t>
            </a:r>
            <a:r>
              <a:rPr lang="en-US" b="1" dirty="0" err="1"/>
              <a:t>nrows</a:t>
            </a:r>
            <a:r>
              <a:rPr lang="en-US" b="1" dirty="0"/>
              <a:t>, </a:t>
            </a:r>
            <a:r>
              <a:rPr lang="en-US" b="1" dirty="0" err="1"/>
              <a:t>ncolumns</a:t>
            </a:r>
            <a:r>
              <a:rPr lang="en-US" b="1" dirty="0"/>
              <a:t>)</a:t>
            </a:r>
            <a:r>
              <a:rPr lang="en-US" sz="2800" dirty="0"/>
              <a:t>.</a:t>
            </a:r>
          </a:p>
          <a:p>
            <a:r>
              <a:rPr lang="en-US" b="1" dirty="0"/>
              <a:t>Text properties</a:t>
            </a:r>
          </a:p>
          <a:p>
            <a:pPr lvl="1"/>
            <a:r>
              <a:rPr lang="en-US" b="1" dirty="0"/>
              <a:t>Text size – </a:t>
            </a:r>
          </a:p>
          <a:p>
            <a:pPr lvl="2"/>
            <a:r>
              <a:rPr lang="en-US" dirty="0"/>
              <a:t>The parameter </a:t>
            </a:r>
            <a:r>
              <a:rPr lang="en-US" b="1" dirty="0" err="1"/>
              <a:t>ps</a:t>
            </a:r>
            <a:r>
              <a:rPr lang="en-US" dirty="0"/>
              <a:t> specifies the default point size of text</a:t>
            </a:r>
          </a:p>
          <a:p>
            <a:pPr lvl="2"/>
            <a:r>
              <a:rPr lang="en-US" dirty="0"/>
              <a:t>A second parameter, </a:t>
            </a:r>
            <a:r>
              <a:rPr lang="en-US" sz="1600" b="1" dirty="0" err="1"/>
              <a:t>cex</a:t>
            </a:r>
            <a:r>
              <a:rPr lang="en-US" dirty="0"/>
              <a:t>, specifies a default scaling factor for text.</a:t>
            </a:r>
          </a:p>
          <a:p>
            <a:pPr lvl="2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242598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31316-E055-496C-8D00-07FDB9564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Multiple Figures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7E7B1-A5D7-444F-AF5B-39E7C8512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&gt;</a:t>
            </a:r>
            <a:r>
              <a:rPr lang="en-US" dirty="0" err="1"/>
              <a:t>png</a:t>
            </a:r>
            <a:r>
              <a:rPr lang="en-US" dirty="0"/>
              <a:t>("~/Documents/book/current/figs/multiplefigs.1.pdf",</a:t>
            </a:r>
          </a:p>
          <a:p>
            <a:pPr marL="0" indent="0">
              <a:buNone/>
            </a:pPr>
            <a:r>
              <a:rPr lang="en-US" dirty="0"/>
              <a:t>   + width=4.3,height=6.5,units="</a:t>
            </a:r>
            <a:r>
              <a:rPr lang="en-US" dirty="0" err="1"/>
              <a:t>in",res</a:t>
            </a:r>
            <a:r>
              <a:rPr lang="en-US" dirty="0"/>
              <a:t>=72)</a:t>
            </a:r>
          </a:p>
          <a:p>
            <a:r>
              <a:rPr lang="en-US" dirty="0"/>
              <a:t>&gt; par(</a:t>
            </a:r>
            <a:r>
              <a:rPr lang="en-US" dirty="0" err="1"/>
              <a:t>mfcol</a:t>
            </a:r>
            <a:r>
              <a:rPr lang="en-US" dirty="0"/>
              <a:t>=c(3,2))</a:t>
            </a:r>
          </a:p>
          <a:p>
            <a:r>
              <a:rPr lang="en-US" dirty="0"/>
              <a:t>&gt; pie(c(5,4,3))</a:t>
            </a:r>
          </a:p>
          <a:p>
            <a:r>
              <a:rPr lang="es-ES" dirty="0"/>
              <a:t>&gt; </a:t>
            </a:r>
            <a:r>
              <a:rPr lang="es-ES" dirty="0" err="1"/>
              <a:t>plot</a:t>
            </a:r>
            <a:r>
              <a:rPr lang="es-ES" dirty="0"/>
              <a:t>(x=c(1,2,3,4,5),y=c(1.1,1.9,3,3.9,6))</a:t>
            </a:r>
          </a:p>
          <a:p>
            <a:r>
              <a:rPr lang="en-US" dirty="0"/>
              <a:t>&gt; </a:t>
            </a:r>
            <a:r>
              <a:rPr lang="en-US" dirty="0" err="1"/>
              <a:t>barplot</a:t>
            </a:r>
            <a:r>
              <a:rPr lang="en-US" dirty="0"/>
              <a:t>(c(1,2,3,4,5))</a:t>
            </a:r>
          </a:p>
          <a:p>
            <a:r>
              <a:rPr lang="en-US" dirty="0"/>
              <a:t>&gt; </a:t>
            </a:r>
            <a:r>
              <a:rPr lang="en-US" dirty="0" err="1"/>
              <a:t>barplot</a:t>
            </a:r>
            <a:r>
              <a:rPr lang="en-US" dirty="0"/>
              <a:t>(c(1,2,3,4,5),</a:t>
            </a:r>
            <a:r>
              <a:rPr lang="en-US" dirty="0" err="1"/>
              <a:t>horiz</a:t>
            </a:r>
            <a:r>
              <a:rPr lang="en-US" dirty="0"/>
              <a:t>=TRUE)</a:t>
            </a:r>
          </a:p>
          <a:p>
            <a:r>
              <a:rPr lang="en-US" dirty="0"/>
              <a:t>&gt; pie(c(5,4,3,2,1))</a:t>
            </a:r>
          </a:p>
          <a:p>
            <a:r>
              <a:rPr lang="en-US" dirty="0"/>
              <a:t>&gt; plot(c(1,2,3,4,5,6),c(4,3,6,2,1,1))</a:t>
            </a:r>
          </a:p>
          <a:p>
            <a:r>
              <a:rPr lang="en-US" dirty="0"/>
              <a:t>&gt; </a:t>
            </a:r>
            <a:r>
              <a:rPr lang="en-US" dirty="0" err="1"/>
              <a:t>dev.off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5017228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702A1-99CA-49EB-839B-1727462C9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7803"/>
            <a:ext cx="10515600" cy="707895"/>
          </a:xfrm>
        </p:spPr>
        <p:txBody>
          <a:bodyPr/>
          <a:lstStyle/>
          <a:p>
            <a:r>
              <a:rPr lang="en-US" dirty="0"/>
              <a:t>Graphical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0BDBF-A05F-4244-AB47-C7E668429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9633"/>
            <a:ext cx="10515600" cy="5393094"/>
          </a:xfrm>
        </p:spPr>
        <p:txBody>
          <a:bodyPr/>
          <a:lstStyle/>
          <a:p>
            <a:r>
              <a:rPr lang="en-US" dirty="0"/>
              <a:t>Text properties – </a:t>
            </a:r>
          </a:p>
          <a:p>
            <a:pPr lvl="1"/>
            <a:r>
              <a:rPr lang="en-US" b="1" dirty="0"/>
              <a:t>Typeface</a:t>
            </a:r>
          </a:p>
          <a:p>
            <a:pPr lvl="2"/>
            <a:r>
              <a:rPr lang="en-US" dirty="0"/>
              <a:t>The font is specified through the </a:t>
            </a:r>
            <a:r>
              <a:rPr lang="en-US" b="1" dirty="0"/>
              <a:t>family</a:t>
            </a:r>
            <a:r>
              <a:rPr lang="en-US" dirty="0"/>
              <a:t> argument</a:t>
            </a:r>
          </a:p>
          <a:p>
            <a:pPr lvl="2"/>
            <a:r>
              <a:rPr lang="en-US" dirty="0"/>
              <a:t>the text style is specified through the </a:t>
            </a:r>
            <a:r>
              <a:rPr lang="en-US" b="1" dirty="0"/>
              <a:t>font</a:t>
            </a:r>
            <a:r>
              <a:rPr lang="en-US" dirty="0"/>
              <a:t> argument</a:t>
            </a:r>
          </a:p>
          <a:p>
            <a:pPr lvl="2"/>
            <a:r>
              <a:rPr lang="en-US" dirty="0"/>
              <a:t>You can specify the style for the axis with </a:t>
            </a:r>
            <a:r>
              <a:rPr lang="en-US" b="1" dirty="0" err="1"/>
              <a:t>font.axis</a:t>
            </a:r>
            <a:r>
              <a:rPr lang="en-US" dirty="0"/>
              <a:t>, for labels with </a:t>
            </a:r>
            <a:r>
              <a:rPr lang="en-US" b="1" dirty="0" err="1"/>
              <a:t>font.lab</a:t>
            </a:r>
            <a:r>
              <a:rPr lang="en-US" dirty="0"/>
              <a:t>, for main titles with </a:t>
            </a:r>
            <a:r>
              <a:rPr lang="en-US" b="1" dirty="0" err="1"/>
              <a:t>font.main</a:t>
            </a:r>
            <a:r>
              <a:rPr lang="en-US" dirty="0"/>
              <a:t>, and for subtitles with </a:t>
            </a:r>
            <a:r>
              <a:rPr lang="en-US" b="1" dirty="0" err="1"/>
              <a:t>font.sub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Alignment and spacing</a:t>
            </a:r>
          </a:p>
          <a:p>
            <a:pPr lvl="2"/>
            <a:r>
              <a:rPr lang="en-US" dirty="0"/>
              <a:t>To control how text is aligned, use the </a:t>
            </a:r>
            <a:r>
              <a:rPr lang="en-US" sz="1600" b="1" dirty="0"/>
              <a:t>adj</a:t>
            </a:r>
            <a:r>
              <a:rPr lang="en-US" sz="1600" dirty="0"/>
              <a:t> </a:t>
            </a:r>
            <a:r>
              <a:rPr lang="en-US" dirty="0"/>
              <a:t>parameter. </a:t>
            </a:r>
          </a:p>
          <a:p>
            <a:pPr lvl="2"/>
            <a:r>
              <a:rPr lang="en-US" dirty="0"/>
              <a:t>To change the spacing between lines of text, use the </a:t>
            </a:r>
            <a:r>
              <a:rPr lang="en-US" sz="1600" b="1" dirty="0" err="1"/>
              <a:t>lheight</a:t>
            </a:r>
            <a:r>
              <a:rPr lang="en-US" sz="1600" dirty="0"/>
              <a:t> </a:t>
            </a:r>
            <a:r>
              <a:rPr lang="en-US" dirty="0"/>
              <a:t>parameter.</a:t>
            </a:r>
          </a:p>
          <a:p>
            <a:pPr lvl="1"/>
            <a:r>
              <a:rPr lang="en-US" b="1" dirty="0"/>
              <a:t>Rotation</a:t>
            </a:r>
          </a:p>
          <a:p>
            <a:pPr lvl="2"/>
            <a:r>
              <a:rPr lang="en-US" dirty="0"/>
              <a:t>To rotate each character, use the </a:t>
            </a:r>
            <a:r>
              <a:rPr lang="en-US" sz="1600" b="1" dirty="0" err="1"/>
              <a:t>crt</a:t>
            </a:r>
            <a:r>
              <a:rPr lang="en-US" sz="1600" dirty="0"/>
              <a:t> </a:t>
            </a:r>
            <a:r>
              <a:rPr lang="en-US" dirty="0"/>
              <a:t>parameter. To rotate whole strings, use the </a:t>
            </a:r>
            <a:r>
              <a:rPr lang="en-US" sz="1600" b="1" dirty="0" err="1"/>
              <a:t>srt</a:t>
            </a:r>
            <a:r>
              <a:rPr lang="en-US" sz="1600" dirty="0"/>
              <a:t> </a:t>
            </a:r>
            <a:r>
              <a:rPr lang="en-US" dirty="0"/>
              <a:t>parameter.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59942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702A1-99CA-49EB-839B-1727462C9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535"/>
            <a:ext cx="10515600" cy="707895"/>
          </a:xfrm>
        </p:spPr>
        <p:txBody>
          <a:bodyPr/>
          <a:lstStyle/>
          <a:p>
            <a:r>
              <a:rPr lang="en-US" dirty="0"/>
              <a:t>Graphical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0BDBF-A05F-4244-AB47-C7E668429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90" y="718457"/>
            <a:ext cx="11709918" cy="593427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Line properties</a:t>
            </a:r>
          </a:p>
          <a:p>
            <a:pPr lvl="1"/>
            <a:r>
              <a:rPr lang="en-US" dirty="0"/>
              <a:t>You can also change the way the lines are drawn. </a:t>
            </a:r>
          </a:p>
          <a:p>
            <a:pPr lvl="1"/>
            <a:r>
              <a:rPr lang="en-US" dirty="0"/>
              <a:t>To change the line end style, use </a:t>
            </a:r>
            <a:r>
              <a:rPr lang="en-US" b="1" dirty="0"/>
              <a:t>lend</a:t>
            </a:r>
          </a:p>
          <a:p>
            <a:pPr lvl="1"/>
            <a:r>
              <a:rPr lang="en-US" dirty="0"/>
              <a:t>To change the line join style, </a:t>
            </a:r>
            <a:r>
              <a:rPr lang="en-US" b="1" dirty="0"/>
              <a:t>use </a:t>
            </a:r>
            <a:r>
              <a:rPr lang="en-US" b="1" dirty="0" err="1"/>
              <a:t>ljoin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dirty="0" err="1"/>
              <a:t>lmiter</a:t>
            </a:r>
            <a:endParaRPr lang="en-US" b="1" dirty="0"/>
          </a:p>
          <a:p>
            <a:pPr lvl="1"/>
            <a:r>
              <a:rPr lang="en-US" dirty="0"/>
              <a:t>Line type is specified by </a:t>
            </a:r>
            <a:r>
              <a:rPr lang="en-US" sz="2000" b="1" dirty="0" err="1"/>
              <a:t>lty</a:t>
            </a:r>
            <a:r>
              <a:rPr lang="en-US" sz="2000" dirty="0"/>
              <a:t> </a:t>
            </a:r>
            <a:r>
              <a:rPr lang="en-US" dirty="0"/>
              <a:t>and line width by </a:t>
            </a:r>
            <a:r>
              <a:rPr lang="en-US" b="1" dirty="0" err="1"/>
              <a:t>lwd</a:t>
            </a:r>
            <a:endParaRPr lang="en-US" b="1" dirty="0"/>
          </a:p>
          <a:p>
            <a:pPr lvl="1"/>
            <a:r>
              <a:rPr lang="en-US" dirty="0"/>
              <a:t>To change the way boxes are drawn around plots, use the</a:t>
            </a:r>
            <a:r>
              <a:rPr lang="en-US" b="1" dirty="0"/>
              <a:t> </a:t>
            </a:r>
            <a:r>
              <a:rPr lang="en-US" sz="2000" b="1" dirty="0" err="1"/>
              <a:t>bty</a:t>
            </a:r>
            <a:r>
              <a:rPr lang="en-US" sz="2000" b="1" dirty="0"/>
              <a:t> </a:t>
            </a:r>
            <a:r>
              <a:rPr lang="en-US" dirty="0"/>
              <a:t>parameter</a:t>
            </a:r>
          </a:p>
          <a:p>
            <a:r>
              <a:rPr lang="en-US" b="1" dirty="0"/>
              <a:t>Colors</a:t>
            </a:r>
          </a:p>
          <a:p>
            <a:pPr lvl="1"/>
            <a:r>
              <a:rPr lang="en-US" dirty="0"/>
              <a:t>You can change the default background color with </a:t>
            </a:r>
            <a:r>
              <a:rPr lang="en-US" sz="2000" b="1" dirty="0" err="1"/>
              <a:t>bg</a:t>
            </a:r>
            <a:r>
              <a:rPr lang="en-US" sz="2000" dirty="0"/>
              <a:t> </a:t>
            </a:r>
            <a:r>
              <a:rPr lang="en-US" dirty="0"/>
              <a:t>and the default foreground color with </a:t>
            </a:r>
            <a:r>
              <a:rPr lang="en-US" sz="2000" b="1" dirty="0" err="1"/>
              <a:t>fg</a:t>
            </a:r>
            <a:endParaRPr lang="en-US" sz="2000" b="1" dirty="0"/>
          </a:p>
          <a:p>
            <a:pPr lvl="1"/>
            <a:r>
              <a:rPr lang="en-US" dirty="0"/>
              <a:t>The default plotting color is specified by </a:t>
            </a:r>
            <a:r>
              <a:rPr lang="en-US" sz="2000" dirty="0"/>
              <a:t>col</a:t>
            </a:r>
            <a:r>
              <a:rPr lang="en-US" dirty="0"/>
              <a:t>. Use </a:t>
            </a:r>
            <a:r>
              <a:rPr lang="en-US" sz="2000" b="1" dirty="0" err="1"/>
              <a:t>col.axis</a:t>
            </a:r>
            <a:r>
              <a:rPr lang="en-US" sz="2000" b="1" dirty="0"/>
              <a:t> </a:t>
            </a:r>
            <a:r>
              <a:rPr lang="en-US" dirty="0"/>
              <a:t>to change the color of axes, </a:t>
            </a:r>
            <a:r>
              <a:rPr lang="en-US" sz="2000" b="1" dirty="0" err="1"/>
              <a:t>col.lab</a:t>
            </a:r>
            <a:r>
              <a:rPr lang="en-US" sz="2000" b="1" dirty="0"/>
              <a:t> </a:t>
            </a:r>
            <a:r>
              <a:rPr lang="en-US" dirty="0"/>
              <a:t>to change the color of labels, </a:t>
            </a:r>
            <a:r>
              <a:rPr lang="en-US" sz="2000" b="1" dirty="0" err="1"/>
              <a:t>col.main</a:t>
            </a:r>
            <a:r>
              <a:rPr lang="en-US" sz="2000" b="1" dirty="0"/>
              <a:t> </a:t>
            </a:r>
            <a:r>
              <a:rPr lang="en-US" dirty="0"/>
              <a:t>to change the color of the main title, and </a:t>
            </a:r>
            <a:r>
              <a:rPr lang="en-US" sz="2000" b="1" dirty="0" err="1"/>
              <a:t>col.sub</a:t>
            </a:r>
            <a:r>
              <a:rPr lang="en-US" sz="2000" b="1" dirty="0"/>
              <a:t> </a:t>
            </a:r>
            <a:r>
              <a:rPr lang="en-US" dirty="0"/>
              <a:t>to change the color of the subtitle</a:t>
            </a:r>
          </a:p>
          <a:p>
            <a:pPr lvl="1"/>
            <a:r>
              <a:rPr lang="en-US" dirty="0"/>
              <a:t>To get a list of valid color names, use the </a:t>
            </a:r>
            <a:r>
              <a:rPr lang="en-US" sz="2000" dirty="0"/>
              <a:t>colors </a:t>
            </a:r>
            <a:r>
              <a:rPr lang="en-US" dirty="0"/>
              <a:t>function. To specify a color using RGB components, use a string of the form </a:t>
            </a:r>
            <a:r>
              <a:rPr lang="en-US" sz="2000" dirty="0"/>
              <a:t>"#</a:t>
            </a:r>
            <a:r>
              <a:rPr lang="en-US" sz="2000" i="1" dirty="0"/>
              <a:t>RRGGBB</a:t>
            </a:r>
            <a:r>
              <a:rPr lang="en-US" sz="2000" dirty="0"/>
              <a:t>"</a:t>
            </a:r>
            <a:r>
              <a:rPr lang="en-US" dirty="0"/>
              <a:t>, where </a:t>
            </a:r>
            <a:r>
              <a:rPr lang="en-US" sz="2000" i="1" dirty="0"/>
              <a:t>RR</a:t>
            </a:r>
            <a:r>
              <a:rPr lang="en-US" dirty="0"/>
              <a:t>, </a:t>
            </a:r>
            <a:r>
              <a:rPr lang="en-US" sz="2000" i="1" dirty="0"/>
              <a:t>GG</a:t>
            </a:r>
            <a:r>
              <a:rPr lang="en-US" dirty="0"/>
              <a:t>, and </a:t>
            </a:r>
            <a:r>
              <a:rPr lang="en-US" sz="2000" i="1" dirty="0"/>
              <a:t>BB </a:t>
            </a:r>
            <a:r>
              <a:rPr lang="en-US" dirty="0"/>
              <a:t>are hexadecimal values specifying the amount of red, green, and blue, respectively.</a:t>
            </a:r>
          </a:p>
          <a:p>
            <a:pPr lvl="1"/>
            <a:r>
              <a:rPr lang="en-US" dirty="0"/>
              <a:t>To view or change a color palette, use the </a:t>
            </a:r>
            <a:r>
              <a:rPr lang="en-US" sz="2000" dirty="0"/>
              <a:t>palette </a:t>
            </a:r>
            <a:r>
              <a:rPr lang="en-US" dirty="0"/>
              <a:t>function</a:t>
            </a:r>
            <a:endParaRPr lang="en-US" b="1" dirty="0"/>
          </a:p>
          <a:p>
            <a:pPr lv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746082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702A1-99CA-49EB-839B-1727462C9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508"/>
            <a:ext cx="10515600" cy="707895"/>
          </a:xfrm>
        </p:spPr>
        <p:txBody>
          <a:bodyPr/>
          <a:lstStyle/>
          <a:p>
            <a:r>
              <a:rPr lang="en-US" dirty="0"/>
              <a:t>Graphical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0BDBF-A05F-4244-AB47-C7E668429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918" y="886403"/>
            <a:ext cx="11672596" cy="5784985"/>
          </a:xfrm>
        </p:spPr>
        <p:txBody>
          <a:bodyPr/>
          <a:lstStyle/>
          <a:p>
            <a:r>
              <a:rPr lang="en-US" b="1" dirty="0"/>
              <a:t>Axes </a:t>
            </a:r>
          </a:p>
          <a:p>
            <a:pPr lvl="1"/>
            <a:r>
              <a:rPr lang="en-US" dirty="0"/>
              <a:t>The argument lab controls how axes are annotated. To change the style of axis labels, use </a:t>
            </a:r>
            <a:r>
              <a:rPr lang="en-US" b="1" dirty="0"/>
              <a:t>las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To change the margin for the axis title, labels, and lines, use </a:t>
            </a:r>
            <a:r>
              <a:rPr lang="en-US" b="1" dirty="0" err="1"/>
              <a:t>mgp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You can specify the size of tick marks in lines of text with </a:t>
            </a:r>
            <a:r>
              <a:rPr lang="en-US" sz="2000" b="1" dirty="0" err="1"/>
              <a:t>tcl</a:t>
            </a:r>
            <a:r>
              <a:rPr lang="en-US" dirty="0"/>
              <a:t>, or as a fraction of the plot area with </a:t>
            </a:r>
            <a:r>
              <a:rPr lang="en-US" sz="2000" b="1" dirty="0" err="1"/>
              <a:t>tck</a:t>
            </a:r>
            <a:endParaRPr lang="en-US" sz="2000" b="1" dirty="0"/>
          </a:p>
          <a:p>
            <a:pPr lvl="1"/>
            <a:r>
              <a:rPr lang="en-US" dirty="0"/>
              <a:t>To change the minimum and maximum tick mark locations, use </a:t>
            </a:r>
            <a:r>
              <a:rPr lang="en-US" sz="2000" b="1" dirty="0" err="1"/>
              <a:t>xaxp</a:t>
            </a:r>
            <a:r>
              <a:rPr lang="en-US" sz="2000" b="1" dirty="0"/>
              <a:t> </a:t>
            </a:r>
            <a:r>
              <a:rPr lang="en-US" dirty="0"/>
              <a:t>and </a:t>
            </a:r>
            <a:r>
              <a:rPr lang="en-US" sz="2000" b="1" dirty="0" err="1"/>
              <a:t>yaxp</a:t>
            </a:r>
            <a:r>
              <a:rPr lang="en-US" dirty="0"/>
              <a:t>. To change the way intervals are calculated, use </a:t>
            </a:r>
            <a:r>
              <a:rPr lang="en-US" sz="2000" b="1" dirty="0" err="1"/>
              <a:t>xaxs</a:t>
            </a:r>
            <a:r>
              <a:rPr lang="en-US" sz="2000" dirty="0"/>
              <a:t> </a:t>
            </a:r>
            <a:r>
              <a:rPr lang="en-US" dirty="0"/>
              <a:t>and </a:t>
            </a:r>
            <a:r>
              <a:rPr lang="en-US" sz="2000" b="1" dirty="0" err="1"/>
              <a:t>yaxs</a:t>
            </a:r>
            <a:r>
              <a:rPr lang="en-US" dirty="0"/>
              <a:t>. To remove the </a:t>
            </a:r>
            <a:r>
              <a:rPr lang="en-US" i="1" dirty="0"/>
              <a:t>x</a:t>
            </a:r>
            <a:r>
              <a:rPr lang="en-US" dirty="0"/>
              <a:t>-axis or </a:t>
            </a:r>
            <a:r>
              <a:rPr lang="en-US" i="1" dirty="0"/>
              <a:t>y</a:t>
            </a:r>
            <a:r>
              <a:rPr lang="en-US" dirty="0"/>
              <a:t>-axis, use </a:t>
            </a:r>
            <a:r>
              <a:rPr lang="en-US" sz="2000" b="1" dirty="0" err="1"/>
              <a:t>xaxt</a:t>
            </a:r>
            <a:r>
              <a:rPr lang="en-US" sz="2000" b="1" dirty="0"/>
              <a:t>="n" </a:t>
            </a:r>
            <a:r>
              <a:rPr lang="en-US" b="1" dirty="0"/>
              <a:t>or </a:t>
            </a:r>
            <a:r>
              <a:rPr lang="en-US" sz="2000" b="1" dirty="0" err="1"/>
              <a:t>yaxt</a:t>
            </a:r>
            <a:r>
              <a:rPr lang="en-US" sz="2000" b="1" dirty="0"/>
              <a:t>="n"</a:t>
            </a:r>
            <a:r>
              <a:rPr lang="en-US" b="1" dirty="0"/>
              <a:t>.</a:t>
            </a:r>
          </a:p>
          <a:p>
            <a:pPr lvl="1"/>
            <a:r>
              <a:rPr lang="en-US" dirty="0"/>
              <a:t>change the orientation of axis labels with the las parameter.</a:t>
            </a:r>
          </a:p>
          <a:p>
            <a:r>
              <a:rPr lang="en-US" b="1" dirty="0"/>
              <a:t>Points</a:t>
            </a:r>
          </a:p>
          <a:p>
            <a:pPr lvl="1"/>
            <a:r>
              <a:rPr lang="en-US" dirty="0"/>
              <a:t>You can change the symbol used for points with the </a:t>
            </a:r>
            <a:r>
              <a:rPr lang="en-US" sz="2000" b="1" dirty="0" err="1"/>
              <a:t>pch</a:t>
            </a:r>
            <a:r>
              <a:rPr lang="en-US" sz="2000" b="1" dirty="0"/>
              <a:t> </a:t>
            </a:r>
            <a:r>
              <a:rPr lang="en-US" dirty="0"/>
              <a:t>argument. </a:t>
            </a:r>
          </a:p>
          <a:p>
            <a:pPr lvl="1"/>
            <a:r>
              <a:rPr lang="en-US" dirty="0"/>
              <a:t>To get a list of point types, use the </a:t>
            </a:r>
            <a:r>
              <a:rPr lang="en-US" sz="2000" b="1" dirty="0"/>
              <a:t>points</a:t>
            </a:r>
            <a:r>
              <a:rPr lang="en-US" sz="2000" dirty="0"/>
              <a:t> </a:t>
            </a:r>
            <a:r>
              <a:rPr lang="en-US" dirty="0"/>
              <a:t>function.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259398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DF2B9-1575-450B-A616-A645EAE68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6464"/>
            <a:ext cx="10515600" cy="773209"/>
          </a:xfrm>
        </p:spPr>
        <p:txBody>
          <a:bodyPr/>
          <a:lstStyle/>
          <a:p>
            <a:r>
              <a:rPr lang="en-US" dirty="0"/>
              <a:t>Basic Graphic Functions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EC0EEF-62F2-4E86-996C-4819367800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885" y="1294665"/>
            <a:ext cx="6052972" cy="486353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124ACA-66CF-4C5D-85A2-B7E7872710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230" y="1220020"/>
            <a:ext cx="5890770" cy="337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2997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DF2B9-1575-450B-A616-A645EAE68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196"/>
            <a:ext cx="10515600" cy="689238"/>
          </a:xfrm>
        </p:spPr>
        <p:txBody>
          <a:bodyPr>
            <a:normAutofit fontScale="90000"/>
          </a:bodyPr>
          <a:lstStyle/>
          <a:p>
            <a:r>
              <a:rPr lang="en-US" dirty="0"/>
              <a:t>Basic Graphic Functions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120C1A-6820-479E-ACBD-DFFBEABA2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918" y="877078"/>
            <a:ext cx="11073882" cy="5867725"/>
          </a:xfrm>
        </p:spPr>
        <p:txBody>
          <a:bodyPr>
            <a:normAutofit/>
          </a:bodyPr>
          <a:lstStyle/>
          <a:p>
            <a:r>
              <a:rPr lang="en-US" b="1" dirty="0"/>
              <a:t>Points</a:t>
            </a:r>
          </a:p>
          <a:p>
            <a:pPr lvl="1"/>
            <a:r>
              <a:rPr lang="en-US" dirty="0"/>
              <a:t>You can plot points on a chart using the points function</a:t>
            </a:r>
          </a:p>
          <a:p>
            <a:pPr lvl="1"/>
            <a:r>
              <a:rPr lang="fr-FR" dirty="0"/>
              <a:t>points(x, y = NULL, type = "p", ...)</a:t>
            </a:r>
          </a:p>
          <a:p>
            <a:pPr lvl="1"/>
            <a:r>
              <a:rPr lang="en-US" dirty="0"/>
              <a:t>You can also add points to an existing matrix plot with </a:t>
            </a:r>
            <a:r>
              <a:rPr lang="en-US" sz="2000" dirty="0" err="1"/>
              <a:t>matpoints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matpoints</a:t>
            </a:r>
            <a:r>
              <a:rPr lang="en-US" dirty="0"/>
              <a:t>(x, y, type = "p", </a:t>
            </a:r>
            <a:r>
              <a:rPr lang="en-US" dirty="0" err="1"/>
              <a:t>lty</a:t>
            </a:r>
            <a:r>
              <a:rPr lang="en-US" dirty="0"/>
              <a:t> = 1:5, </a:t>
            </a:r>
            <a:r>
              <a:rPr lang="en-US" dirty="0" err="1"/>
              <a:t>lwd</a:t>
            </a:r>
            <a:r>
              <a:rPr lang="en-US" dirty="0"/>
              <a:t> = 1, </a:t>
            </a:r>
            <a:r>
              <a:rPr lang="en-US" dirty="0" err="1"/>
              <a:t>pch</a:t>
            </a:r>
            <a:r>
              <a:rPr lang="en-US" dirty="0"/>
              <a:t> = NULL, col = 1:6, ...)</a:t>
            </a:r>
          </a:p>
          <a:p>
            <a:r>
              <a:rPr lang="en-US" b="1" dirty="0"/>
              <a:t>Lines</a:t>
            </a:r>
          </a:p>
          <a:p>
            <a:pPr lvl="1"/>
            <a:r>
              <a:rPr lang="en-US" dirty="0"/>
              <a:t>lines(x, y = NULL, type = "l", ...)</a:t>
            </a:r>
          </a:p>
          <a:p>
            <a:pPr lvl="1"/>
            <a:r>
              <a:rPr lang="en-US" dirty="0"/>
              <a:t>The </a:t>
            </a:r>
            <a:r>
              <a:rPr lang="en-US" sz="2000" dirty="0"/>
              <a:t>lines </a:t>
            </a:r>
            <a:r>
              <a:rPr lang="en-US" dirty="0"/>
              <a:t>function plots a set of line segments on an existing plot</a:t>
            </a:r>
          </a:p>
          <a:p>
            <a:pPr lvl="1"/>
            <a:r>
              <a:rPr lang="en-US" dirty="0" err="1"/>
              <a:t>matlines</a:t>
            </a:r>
            <a:r>
              <a:rPr lang="en-US" dirty="0"/>
              <a:t> (x, y, type = "l", </a:t>
            </a:r>
            <a:r>
              <a:rPr lang="en-US" dirty="0" err="1"/>
              <a:t>lty</a:t>
            </a:r>
            <a:r>
              <a:rPr lang="en-US" dirty="0"/>
              <a:t> = 1:5, </a:t>
            </a:r>
            <a:r>
              <a:rPr lang="en-US" dirty="0" err="1"/>
              <a:t>lwd</a:t>
            </a:r>
            <a:r>
              <a:rPr lang="en-US" dirty="0"/>
              <a:t> = 1, </a:t>
            </a:r>
            <a:r>
              <a:rPr lang="en-US" dirty="0" err="1"/>
              <a:t>pch</a:t>
            </a:r>
            <a:r>
              <a:rPr lang="en-US" dirty="0"/>
              <a:t> = NULL, col = 1:6, ..)</a:t>
            </a:r>
          </a:p>
          <a:p>
            <a:r>
              <a:rPr lang="en-US" b="1" dirty="0"/>
              <a:t>Curve</a:t>
            </a:r>
          </a:p>
          <a:p>
            <a:pPr lvl="1"/>
            <a:r>
              <a:rPr lang="en-US" dirty="0"/>
              <a:t>To plot a curve on the current graphical device, you can use the curve function</a:t>
            </a:r>
          </a:p>
          <a:p>
            <a:pPr lvl="1"/>
            <a:r>
              <a:rPr lang="en-US" dirty="0"/>
              <a:t>curve(expr, from = NULL, to = NULL, n = 101, add = FALSE, type = "l", </a:t>
            </a:r>
            <a:r>
              <a:rPr lang="en-US" dirty="0" err="1"/>
              <a:t>ylab</a:t>
            </a:r>
            <a:r>
              <a:rPr lang="en-US" dirty="0"/>
              <a:t> = NULL, log = NULL, </a:t>
            </a:r>
            <a:r>
              <a:rPr lang="en-US" dirty="0" err="1"/>
              <a:t>xlim</a:t>
            </a:r>
            <a:r>
              <a:rPr lang="en-US" dirty="0"/>
              <a:t> = NULL, ...)</a:t>
            </a:r>
          </a:p>
          <a:p>
            <a:pPr lvl="1"/>
            <a:endParaRPr lang="en-US" b="1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4967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DF2B9-1575-450B-A616-A645EAE68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510"/>
            <a:ext cx="10515600" cy="773209"/>
          </a:xfrm>
        </p:spPr>
        <p:txBody>
          <a:bodyPr/>
          <a:lstStyle/>
          <a:p>
            <a:r>
              <a:rPr lang="en-US" dirty="0"/>
              <a:t>Basic Graphic Functions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0E355F-25ED-486F-BA39-738637C1C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7" y="867747"/>
            <a:ext cx="11672596" cy="5811743"/>
          </a:xfrm>
        </p:spPr>
        <p:txBody>
          <a:bodyPr/>
          <a:lstStyle/>
          <a:p>
            <a:r>
              <a:rPr lang="en-US" b="1" dirty="0"/>
              <a:t>text</a:t>
            </a:r>
          </a:p>
          <a:p>
            <a:pPr lvl="1"/>
            <a:r>
              <a:rPr lang="en-US" dirty="0"/>
              <a:t>You can use the text function to add text to an existing plot</a:t>
            </a:r>
          </a:p>
          <a:p>
            <a:pPr lvl="1"/>
            <a:r>
              <a:rPr lang="en-US" dirty="0"/>
              <a:t>text (x, y = NULL, labels = </a:t>
            </a:r>
            <a:r>
              <a:rPr lang="en-US" dirty="0" err="1"/>
              <a:t>seq_along</a:t>
            </a:r>
            <a:r>
              <a:rPr lang="en-US" dirty="0"/>
              <a:t>(x), adj = NULL, </a:t>
            </a:r>
            <a:r>
              <a:rPr lang="sv-SE" dirty="0"/>
              <a:t>pos = NULL, offset = 0.5, vfont = NULL, </a:t>
            </a:r>
            <a:r>
              <a:rPr lang="en-US" dirty="0" err="1"/>
              <a:t>cex</a:t>
            </a:r>
            <a:r>
              <a:rPr lang="en-US" dirty="0"/>
              <a:t> = 1, col = NULL, font = NULL, ...)</a:t>
            </a:r>
          </a:p>
          <a:p>
            <a:r>
              <a:rPr lang="en-US" b="1" dirty="0" err="1"/>
              <a:t>abline</a:t>
            </a:r>
            <a:endParaRPr lang="en-US" b="1" dirty="0"/>
          </a:p>
          <a:p>
            <a:pPr lvl="1"/>
            <a:r>
              <a:rPr lang="en-US" dirty="0"/>
              <a:t>To plot a single line across the plot area, you can use the </a:t>
            </a:r>
            <a:r>
              <a:rPr lang="en-US" b="1" dirty="0" err="1"/>
              <a:t>abline</a:t>
            </a:r>
            <a:r>
              <a:rPr lang="en-US" dirty="0"/>
              <a:t> function:</a:t>
            </a:r>
          </a:p>
          <a:p>
            <a:pPr lvl="1"/>
            <a:r>
              <a:rPr lang="it-IT" dirty="0"/>
              <a:t>abline(a = NULL, b = NULL, h = NULL, v = NULL, reg = NULL, </a:t>
            </a:r>
            <a:r>
              <a:rPr lang="en-US" dirty="0" err="1"/>
              <a:t>coef</a:t>
            </a:r>
            <a:r>
              <a:rPr lang="en-US" dirty="0"/>
              <a:t> = NULL, </a:t>
            </a:r>
            <a:r>
              <a:rPr lang="en-US" dirty="0" err="1"/>
              <a:t>untf</a:t>
            </a:r>
            <a:r>
              <a:rPr lang="en-US" dirty="0"/>
              <a:t> = FALSE, ...)</a:t>
            </a:r>
          </a:p>
          <a:p>
            <a:pPr lvl="1"/>
            <a:r>
              <a:rPr lang="en-US" dirty="0"/>
              <a:t>you can also specify multiple arguments, and </a:t>
            </a:r>
            <a:r>
              <a:rPr lang="en-US" sz="2000" dirty="0" err="1"/>
              <a:t>abline</a:t>
            </a:r>
            <a:r>
              <a:rPr lang="en-US" sz="2000" dirty="0"/>
              <a:t> </a:t>
            </a:r>
            <a:r>
              <a:rPr lang="en-US" dirty="0"/>
              <a:t>will plot all of the specified lines</a:t>
            </a:r>
          </a:p>
          <a:p>
            <a:pPr lvl="2"/>
            <a:r>
              <a:rPr lang="en-US" dirty="0"/>
              <a:t>&gt; # plot a grid of lines between 1 and 10:</a:t>
            </a:r>
          </a:p>
          <a:p>
            <a:pPr lvl="2"/>
            <a:r>
              <a:rPr lang="pt-BR" dirty="0"/>
              <a:t>&gt; abline(h=1:10,v=1:10)</a:t>
            </a:r>
          </a:p>
          <a:p>
            <a:pPr lvl="1"/>
            <a:r>
              <a:rPr lang="en-US" dirty="0"/>
              <a:t>If you just want to plot a grid on a plot, you might want to use the </a:t>
            </a:r>
            <a:r>
              <a:rPr lang="en-US" sz="2000" dirty="0"/>
              <a:t>grid </a:t>
            </a:r>
            <a:r>
              <a:rPr lang="en-US" dirty="0"/>
              <a:t>function instead:</a:t>
            </a:r>
          </a:p>
          <a:p>
            <a:pPr lvl="2"/>
            <a:r>
              <a:rPr lang="en-US" dirty="0"/>
              <a:t>grid(</a:t>
            </a:r>
            <a:r>
              <a:rPr lang="en-US" dirty="0" err="1"/>
              <a:t>nx</a:t>
            </a:r>
            <a:r>
              <a:rPr lang="en-US" dirty="0"/>
              <a:t> = NULL, </a:t>
            </a:r>
            <a:r>
              <a:rPr lang="en-US" dirty="0" err="1"/>
              <a:t>ny</a:t>
            </a:r>
            <a:r>
              <a:rPr lang="en-US" dirty="0"/>
              <a:t> = </a:t>
            </a:r>
            <a:r>
              <a:rPr lang="en-US" dirty="0" err="1"/>
              <a:t>nx</a:t>
            </a:r>
            <a:r>
              <a:rPr lang="en-US" dirty="0"/>
              <a:t>, col = "</a:t>
            </a:r>
            <a:r>
              <a:rPr lang="en-US" dirty="0" err="1"/>
              <a:t>lightgray</a:t>
            </a:r>
            <a:r>
              <a:rPr lang="en-US" dirty="0"/>
              <a:t>", </a:t>
            </a:r>
            <a:r>
              <a:rPr lang="en-US" dirty="0" err="1"/>
              <a:t>lty</a:t>
            </a:r>
            <a:r>
              <a:rPr lang="en-US" dirty="0"/>
              <a:t> = "dotted", </a:t>
            </a:r>
            <a:r>
              <a:rPr lang="en-US" dirty="0" err="1"/>
              <a:t>lwd</a:t>
            </a:r>
            <a:r>
              <a:rPr lang="en-US" dirty="0"/>
              <a:t> = par("</a:t>
            </a:r>
            <a:r>
              <a:rPr lang="en-US" dirty="0" err="1"/>
              <a:t>lwd</a:t>
            </a:r>
            <a:r>
              <a:rPr lang="en-US" dirty="0"/>
              <a:t>"), </a:t>
            </a:r>
            <a:r>
              <a:rPr lang="en-US" dirty="0" err="1"/>
              <a:t>equilogs</a:t>
            </a:r>
            <a:r>
              <a:rPr lang="en-US" dirty="0"/>
              <a:t> = TRUE)</a:t>
            </a:r>
            <a:endParaRPr lang="en-US" b="1" dirty="0"/>
          </a:p>
          <a:p>
            <a:pPr lv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309893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DF2B9-1575-450B-A616-A645EAE68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510"/>
            <a:ext cx="10515600" cy="773209"/>
          </a:xfrm>
        </p:spPr>
        <p:txBody>
          <a:bodyPr/>
          <a:lstStyle/>
          <a:p>
            <a:r>
              <a:rPr lang="en-US" dirty="0"/>
              <a:t>Basic Graphic Functions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0E355F-25ED-486F-BA39-738637C1C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7" y="867747"/>
            <a:ext cx="11672596" cy="5811743"/>
          </a:xfrm>
        </p:spPr>
        <p:txBody>
          <a:bodyPr/>
          <a:lstStyle/>
          <a:p>
            <a:r>
              <a:rPr lang="en-US" b="1" dirty="0"/>
              <a:t>Polygon</a:t>
            </a:r>
          </a:p>
          <a:p>
            <a:pPr lvl="1"/>
            <a:r>
              <a:rPr lang="en-US" dirty="0"/>
              <a:t>To draw a polygon, you can use the polygon function</a:t>
            </a:r>
          </a:p>
          <a:p>
            <a:pPr lvl="1"/>
            <a:r>
              <a:rPr lang="en-US" dirty="0"/>
              <a:t>polygon(x, y = NULL, density = NULL, angle = 45, border = NULL, col = NA, </a:t>
            </a:r>
            <a:r>
              <a:rPr lang="en-US" dirty="0" err="1"/>
              <a:t>lty</a:t>
            </a:r>
            <a:r>
              <a:rPr lang="en-US" dirty="0"/>
              <a:t> = par("</a:t>
            </a:r>
            <a:r>
              <a:rPr lang="en-US" dirty="0" err="1"/>
              <a:t>lty</a:t>
            </a:r>
            <a:r>
              <a:rPr lang="en-US" dirty="0"/>
              <a:t>"), ..</a:t>
            </a:r>
          </a:p>
          <a:p>
            <a:pPr lvl="1"/>
            <a:r>
              <a:rPr lang="en-US" dirty="0"/>
              <a:t>The </a:t>
            </a:r>
            <a:r>
              <a:rPr lang="en-US" sz="2000" dirty="0"/>
              <a:t>x </a:t>
            </a:r>
            <a:r>
              <a:rPr lang="en-US" dirty="0"/>
              <a:t>and </a:t>
            </a:r>
            <a:r>
              <a:rPr lang="en-US" sz="2000" dirty="0"/>
              <a:t>y </a:t>
            </a:r>
            <a:r>
              <a:rPr lang="en-US" dirty="0"/>
              <a:t>arguments specify the vertices of the polygon. For example, the following expression draws a 2 × 2 square on a graph centered at (3, 3):</a:t>
            </a:r>
          </a:p>
          <a:p>
            <a:pPr lvl="1"/>
            <a:r>
              <a:rPr lang="es-ES" dirty="0"/>
              <a:t>&gt; </a:t>
            </a:r>
            <a:r>
              <a:rPr lang="es-ES" dirty="0" err="1"/>
              <a:t>polygon</a:t>
            </a:r>
            <a:r>
              <a:rPr lang="es-ES" dirty="0"/>
              <a:t>(x=c(2,2,4,4),y=c(2,4,4,2))</a:t>
            </a:r>
          </a:p>
          <a:p>
            <a:r>
              <a:rPr lang="en-US" dirty="0"/>
              <a:t>For the special case where you just need to draw a rectangle, you can use the </a:t>
            </a:r>
            <a:r>
              <a:rPr lang="en-US" sz="2400" b="1" dirty="0" err="1"/>
              <a:t>rect</a:t>
            </a:r>
            <a:r>
              <a:rPr lang="en-US" sz="2400" dirty="0"/>
              <a:t> </a:t>
            </a:r>
            <a:r>
              <a:rPr lang="en-US" dirty="0"/>
              <a:t>function:</a:t>
            </a:r>
          </a:p>
          <a:p>
            <a:r>
              <a:rPr lang="en-US" dirty="0" err="1"/>
              <a:t>rect</a:t>
            </a:r>
            <a:r>
              <a:rPr lang="en-US" dirty="0"/>
              <a:t>(</a:t>
            </a:r>
            <a:r>
              <a:rPr lang="en-US" dirty="0" err="1"/>
              <a:t>xleft</a:t>
            </a:r>
            <a:r>
              <a:rPr lang="en-US" dirty="0"/>
              <a:t>, </a:t>
            </a:r>
            <a:r>
              <a:rPr lang="en-US" dirty="0" err="1"/>
              <a:t>ybottom</a:t>
            </a:r>
            <a:r>
              <a:rPr lang="en-US" dirty="0"/>
              <a:t>, </a:t>
            </a:r>
            <a:r>
              <a:rPr lang="en-US" dirty="0" err="1"/>
              <a:t>xright</a:t>
            </a:r>
            <a:r>
              <a:rPr lang="en-US" dirty="0"/>
              <a:t>, </a:t>
            </a:r>
            <a:r>
              <a:rPr lang="en-US" dirty="0" err="1"/>
              <a:t>ytop</a:t>
            </a:r>
            <a:r>
              <a:rPr lang="en-US" dirty="0"/>
              <a:t>, density = NULL, angle = 45, col = NA, border = NULL, </a:t>
            </a:r>
            <a:r>
              <a:rPr lang="en-US" dirty="0" err="1"/>
              <a:t>lty</a:t>
            </a:r>
            <a:r>
              <a:rPr lang="en-US" dirty="0"/>
              <a:t> = par("</a:t>
            </a:r>
            <a:r>
              <a:rPr lang="en-US" dirty="0" err="1"/>
              <a:t>lty</a:t>
            </a:r>
            <a:r>
              <a:rPr lang="en-US" dirty="0"/>
              <a:t>"), </a:t>
            </a:r>
            <a:r>
              <a:rPr lang="en-US" dirty="0" err="1"/>
              <a:t>lwd</a:t>
            </a:r>
            <a:r>
              <a:rPr lang="en-US" dirty="0"/>
              <a:t> = par("</a:t>
            </a:r>
            <a:r>
              <a:rPr lang="en-US" dirty="0" err="1"/>
              <a:t>lwd</a:t>
            </a:r>
            <a:r>
              <a:rPr lang="en-US" dirty="0"/>
              <a:t>"), ...)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605830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DF2B9-1575-450B-A616-A645EAE68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510"/>
            <a:ext cx="10515600" cy="773209"/>
          </a:xfrm>
        </p:spPr>
        <p:txBody>
          <a:bodyPr/>
          <a:lstStyle/>
          <a:p>
            <a:r>
              <a:rPr lang="en-US" dirty="0"/>
              <a:t>Basic Graphic Functions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0E355F-25ED-486F-BA39-738637C1C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7" y="867747"/>
            <a:ext cx="11672596" cy="5811743"/>
          </a:xfrm>
        </p:spPr>
        <p:txBody>
          <a:bodyPr>
            <a:normAutofit/>
          </a:bodyPr>
          <a:lstStyle/>
          <a:p>
            <a:r>
              <a:rPr lang="en-US" b="1" dirty="0"/>
              <a:t>Segments</a:t>
            </a:r>
          </a:p>
          <a:p>
            <a:pPr lvl="1"/>
            <a:r>
              <a:rPr lang="en-US" dirty="0"/>
              <a:t>To draw a set of line segments connecting pairs of points, you can use the segments </a:t>
            </a:r>
            <a:r>
              <a:rPr lang="en-US" sz="2800" dirty="0"/>
              <a:t>function:</a:t>
            </a:r>
          </a:p>
          <a:p>
            <a:pPr lvl="1"/>
            <a:r>
              <a:rPr lang="es-ES" dirty="0" err="1"/>
              <a:t>segments</a:t>
            </a:r>
            <a:r>
              <a:rPr lang="es-ES" dirty="0"/>
              <a:t>(x0, y0, x1, y1, </a:t>
            </a:r>
            <a:r>
              <a:rPr lang="fr-FR" dirty="0"/>
              <a:t>col = par("fg"), </a:t>
            </a:r>
            <a:r>
              <a:rPr lang="fr-FR" dirty="0" err="1"/>
              <a:t>lty</a:t>
            </a:r>
            <a:r>
              <a:rPr lang="fr-FR" dirty="0"/>
              <a:t> = par("</a:t>
            </a:r>
            <a:r>
              <a:rPr lang="fr-FR" dirty="0" err="1"/>
              <a:t>lty</a:t>
            </a:r>
            <a:r>
              <a:rPr lang="fr-FR" dirty="0"/>
              <a:t>"), </a:t>
            </a:r>
            <a:r>
              <a:rPr lang="fr-FR" dirty="0" err="1"/>
              <a:t>lwd</a:t>
            </a:r>
            <a:r>
              <a:rPr lang="fr-FR" dirty="0"/>
              <a:t> = par("</a:t>
            </a:r>
            <a:r>
              <a:rPr lang="fr-FR" dirty="0" err="1"/>
              <a:t>lwd</a:t>
            </a:r>
            <a:r>
              <a:rPr lang="fr-FR" dirty="0"/>
              <a:t>"), </a:t>
            </a:r>
            <a:r>
              <a:rPr lang="en-US" dirty="0"/>
              <a:t>...)</a:t>
            </a:r>
          </a:p>
          <a:p>
            <a:pPr lvl="1"/>
            <a:r>
              <a:rPr lang="en-US" dirty="0"/>
              <a:t>This function draws a set of line segments from each pair of vertices specified by (x0[</a:t>
            </a:r>
            <a:r>
              <a:rPr lang="en-US" dirty="0" err="1"/>
              <a:t>i</a:t>
            </a:r>
            <a:r>
              <a:rPr lang="en-US" dirty="0"/>
              <a:t>],y0[</a:t>
            </a:r>
            <a:r>
              <a:rPr lang="en-US" dirty="0" err="1"/>
              <a:t>i</a:t>
            </a:r>
            <a:r>
              <a:rPr lang="en-US" dirty="0"/>
              <a:t>]) to (x1[</a:t>
            </a:r>
            <a:r>
              <a:rPr lang="en-US" dirty="0" err="1"/>
              <a:t>i</a:t>
            </a:r>
            <a:r>
              <a:rPr lang="en-US" dirty="0"/>
              <a:t>], y1[</a:t>
            </a:r>
            <a:r>
              <a:rPr lang="en-US" dirty="0" err="1"/>
              <a:t>i</a:t>
            </a:r>
            <a:r>
              <a:rPr lang="en-US" dirty="0"/>
              <a:t>])</a:t>
            </a:r>
          </a:p>
          <a:p>
            <a:r>
              <a:rPr lang="en-US" b="1" dirty="0"/>
              <a:t>Legend</a:t>
            </a:r>
          </a:p>
          <a:p>
            <a:pPr lvl="1"/>
            <a:r>
              <a:rPr lang="en-US" dirty="0"/>
              <a:t>The legend function adds a legend to a chart:</a:t>
            </a:r>
          </a:p>
          <a:p>
            <a:pPr lvl="1"/>
            <a:r>
              <a:rPr lang="it-IT" dirty="0"/>
              <a:t>legend(x, y = NULL, legend, fill = NULL, col = par("col"), </a:t>
            </a:r>
            <a:r>
              <a:rPr lang="en-US" dirty="0" err="1"/>
              <a:t>lty</a:t>
            </a:r>
            <a:r>
              <a:rPr lang="en-US" dirty="0"/>
              <a:t>, </a:t>
            </a:r>
            <a:r>
              <a:rPr lang="en-US" dirty="0" err="1"/>
              <a:t>lwd</a:t>
            </a:r>
            <a:r>
              <a:rPr lang="en-US" dirty="0"/>
              <a:t>, </a:t>
            </a:r>
            <a:r>
              <a:rPr lang="en-US" dirty="0" err="1"/>
              <a:t>pch</a:t>
            </a:r>
            <a:r>
              <a:rPr lang="en-US" dirty="0"/>
              <a:t>, angle = 45, density = NULL, </a:t>
            </a:r>
            <a:r>
              <a:rPr lang="en-US" dirty="0" err="1"/>
              <a:t>bty</a:t>
            </a:r>
            <a:r>
              <a:rPr lang="en-US" dirty="0"/>
              <a:t> = "o", </a:t>
            </a:r>
            <a:r>
              <a:rPr lang="en-US" dirty="0" err="1"/>
              <a:t>bg</a:t>
            </a:r>
            <a:r>
              <a:rPr lang="en-US" dirty="0"/>
              <a:t> = par("</a:t>
            </a:r>
            <a:r>
              <a:rPr lang="en-US" dirty="0" err="1"/>
              <a:t>bg</a:t>
            </a:r>
            <a:r>
              <a:rPr lang="en-US" dirty="0"/>
              <a:t>"), </a:t>
            </a:r>
            <a:r>
              <a:rPr lang="en-US" dirty="0" err="1"/>
              <a:t>box.lwd</a:t>
            </a:r>
            <a:r>
              <a:rPr lang="en-US" dirty="0"/>
              <a:t> = par("</a:t>
            </a:r>
            <a:r>
              <a:rPr lang="en-US" dirty="0" err="1"/>
              <a:t>lwd</a:t>
            </a:r>
            <a:r>
              <a:rPr lang="en-US" dirty="0"/>
              <a:t>"), </a:t>
            </a:r>
            <a:r>
              <a:rPr lang="en-US" dirty="0" err="1"/>
              <a:t>box.lty</a:t>
            </a:r>
            <a:r>
              <a:rPr lang="en-US" dirty="0"/>
              <a:t> = par("</a:t>
            </a:r>
            <a:r>
              <a:rPr lang="en-US" dirty="0" err="1"/>
              <a:t>lty</a:t>
            </a:r>
            <a:r>
              <a:rPr lang="en-US" dirty="0"/>
              <a:t>"), </a:t>
            </a:r>
            <a:r>
              <a:rPr lang="en-US" dirty="0" err="1"/>
              <a:t>box.col</a:t>
            </a:r>
            <a:r>
              <a:rPr lang="en-US" dirty="0"/>
              <a:t> = par("</a:t>
            </a:r>
            <a:r>
              <a:rPr lang="en-US" dirty="0" err="1"/>
              <a:t>fg</a:t>
            </a:r>
            <a:r>
              <a:rPr lang="en-US" dirty="0"/>
              <a:t>"), pt.bg = NA, </a:t>
            </a:r>
            <a:r>
              <a:rPr lang="en-US" dirty="0" err="1"/>
              <a:t>cex</a:t>
            </a:r>
            <a:r>
              <a:rPr lang="en-US" dirty="0"/>
              <a:t> = 1, </a:t>
            </a:r>
            <a:r>
              <a:rPr lang="en-US" dirty="0" err="1"/>
              <a:t>pt.cex</a:t>
            </a:r>
            <a:r>
              <a:rPr lang="en-US" dirty="0"/>
              <a:t> = </a:t>
            </a:r>
            <a:r>
              <a:rPr lang="en-US" dirty="0" err="1"/>
              <a:t>cex</a:t>
            </a:r>
            <a:r>
              <a:rPr lang="en-US" dirty="0"/>
              <a:t>, </a:t>
            </a:r>
            <a:r>
              <a:rPr lang="en-US" dirty="0" err="1"/>
              <a:t>pt.lwd</a:t>
            </a:r>
            <a:r>
              <a:rPr lang="en-US" dirty="0"/>
              <a:t> = </a:t>
            </a:r>
            <a:r>
              <a:rPr lang="en-US" dirty="0" err="1"/>
              <a:t>lwd</a:t>
            </a:r>
            <a:r>
              <a:rPr lang="en-US" dirty="0"/>
              <a:t>, </a:t>
            </a:r>
            <a:r>
              <a:rPr lang="en-US" dirty="0" err="1"/>
              <a:t>xjust</a:t>
            </a:r>
            <a:r>
              <a:rPr lang="en-US" dirty="0"/>
              <a:t> = 0, </a:t>
            </a:r>
            <a:r>
              <a:rPr lang="en-US" dirty="0" err="1"/>
              <a:t>yjust</a:t>
            </a:r>
            <a:r>
              <a:rPr lang="en-US" dirty="0"/>
              <a:t> = 1, </a:t>
            </a:r>
            <a:r>
              <a:rPr lang="en-US" dirty="0" err="1"/>
              <a:t>x.intersp</a:t>
            </a:r>
            <a:r>
              <a:rPr lang="en-US" dirty="0"/>
              <a:t> = 1, </a:t>
            </a:r>
            <a:r>
              <a:rPr lang="en-US" dirty="0" err="1"/>
              <a:t>y.intersp</a:t>
            </a:r>
            <a:r>
              <a:rPr lang="en-US" dirty="0"/>
              <a:t> = 1, adj = c(0, 0.5), </a:t>
            </a:r>
            <a:r>
              <a:rPr lang="en-US" dirty="0" err="1"/>
              <a:t>text.width</a:t>
            </a:r>
            <a:r>
              <a:rPr lang="en-US" dirty="0"/>
              <a:t> = NULL, </a:t>
            </a:r>
            <a:r>
              <a:rPr lang="en-US" dirty="0" err="1"/>
              <a:t>text.col</a:t>
            </a:r>
            <a:r>
              <a:rPr lang="en-US" dirty="0"/>
              <a:t> = par("col"), merge = </a:t>
            </a:r>
            <a:r>
              <a:rPr lang="en-US" dirty="0" err="1"/>
              <a:t>do.lines</a:t>
            </a:r>
            <a:r>
              <a:rPr lang="en-US" dirty="0"/>
              <a:t> &amp;&amp; has.pch, trace = FALSE, plot = TRUE, </a:t>
            </a:r>
            <a:r>
              <a:rPr lang="en-US" dirty="0" err="1"/>
              <a:t>ncol</a:t>
            </a:r>
            <a:r>
              <a:rPr lang="en-US" dirty="0"/>
              <a:t> = 1, </a:t>
            </a:r>
            <a:r>
              <a:rPr lang="en-US" dirty="0" err="1"/>
              <a:t>horiz</a:t>
            </a:r>
            <a:r>
              <a:rPr lang="en-US" dirty="0"/>
              <a:t> = FALSE, title = NULL, inset = 0, </a:t>
            </a:r>
            <a:r>
              <a:rPr lang="en-US" dirty="0" err="1"/>
              <a:t>xpd</a:t>
            </a:r>
            <a:r>
              <a:rPr lang="en-US" dirty="0"/>
              <a:t>, </a:t>
            </a:r>
            <a:r>
              <a:rPr lang="en-US" dirty="0" err="1"/>
              <a:t>title.col</a:t>
            </a:r>
            <a:r>
              <a:rPr lang="en-US" dirty="0"/>
              <a:t> = </a:t>
            </a:r>
            <a:r>
              <a:rPr lang="en-US" dirty="0" err="1"/>
              <a:t>text.col</a:t>
            </a:r>
            <a:r>
              <a:rPr lang="en-US" dirty="0"/>
              <a:t>)</a:t>
            </a:r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127372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DF2B9-1575-450B-A616-A645EAE68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510"/>
            <a:ext cx="10515600" cy="773209"/>
          </a:xfrm>
        </p:spPr>
        <p:txBody>
          <a:bodyPr/>
          <a:lstStyle/>
          <a:p>
            <a:r>
              <a:rPr lang="en-US" dirty="0"/>
              <a:t>Basic Graphic Functions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0E355F-25ED-486F-BA39-738637C1C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7" y="867747"/>
            <a:ext cx="11672596" cy="5811743"/>
          </a:xfrm>
        </p:spPr>
        <p:txBody>
          <a:bodyPr>
            <a:normAutofit/>
          </a:bodyPr>
          <a:lstStyle/>
          <a:p>
            <a:r>
              <a:rPr lang="en-US" b="1" dirty="0"/>
              <a:t>Title</a:t>
            </a:r>
          </a:p>
          <a:p>
            <a:pPr lvl="1"/>
            <a:r>
              <a:rPr lang="en-US" dirty="0"/>
              <a:t>To annotate a plot, use the title function:</a:t>
            </a:r>
          </a:p>
          <a:p>
            <a:pPr lvl="1"/>
            <a:r>
              <a:rPr lang="en-US" i="1" dirty="0"/>
              <a:t>title(main = NULL, sub = NULL, </a:t>
            </a:r>
            <a:r>
              <a:rPr lang="en-US" i="1" dirty="0" err="1"/>
              <a:t>xlab</a:t>
            </a:r>
            <a:r>
              <a:rPr lang="en-US" i="1" dirty="0"/>
              <a:t> = NULL, </a:t>
            </a:r>
            <a:r>
              <a:rPr lang="en-US" i="1" dirty="0" err="1"/>
              <a:t>ylab</a:t>
            </a:r>
            <a:r>
              <a:rPr lang="en-US" i="1" dirty="0"/>
              <a:t> = NULL, line = NA, outer = FALSE, ...)</a:t>
            </a:r>
          </a:p>
          <a:p>
            <a:pPr lvl="1"/>
            <a:r>
              <a:rPr lang="en-US" dirty="0"/>
              <a:t>This function adds a main title (</a:t>
            </a:r>
            <a:r>
              <a:rPr lang="en-US" sz="2000" dirty="0"/>
              <a:t>main</a:t>
            </a:r>
            <a:r>
              <a:rPr lang="en-US" dirty="0"/>
              <a:t>), a subtitle (</a:t>
            </a:r>
            <a:r>
              <a:rPr lang="en-US" sz="2000" dirty="0"/>
              <a:t>sub</a:t>
            </a:r>
            <a:r>
              <a:rPr lang="en-US" dirty="0"/>
              <a:t>), an </a:t>
            </a:r>
            <a:r>
              <a:rPr lang="en-US" i="1" dirty="0"/>
              <a:t>x</a:t>
            </a:r>
            <a:r>
              <a:rPr lang="en-US" dirty="0"/>
              <a:t>-axis label (</a:t>
            </a:r>
            <a:r>
              <a:rPr lang="en-US" sz="2000" dirty="0" err="1"/>
              <a:t>xlab</a:t>
            </a:r>
            <a:r>
              <a:rPr lang="en-US" dirty="0"/>
              <a:t>), and a </a:t>
            </a:r>
            <a:r>
              <a:rPr lang="en-US" i="1" dirty="0"/>
              <a:t>y</a:t>
            </a:r>
            <a:r>
              <a:rPr lang="en-US" dirty="0"/>
              <a:t>-axis label (</a:t>
            </a:r>
            <a:r>
              <a:rPr lang="en-US" sz="2000" dirty="0" err="1"/>
              <a:t>ylab</a:t>
            </a:r>
            <a:r>
              <a:rPr lang="en-US" dirty="0"/>
              <a:t>). Specify a value of </a:t>
            </a:r>
            <a:r>
              <a:rPr lang="en-US" sz="2000" dirty="0"/>
              <a:t>line </a:t>
            </a:r>
            <a:r>
              <a:rPr lang="en-US" dirty="0"/>
              <a:t>to move the labels outward from the edge of the plot</a:t>
            </a:r>
          </a:p>
          <a:p>
            <a:pPr lvl="1"/>
            <a:r>
              <a:rPr lang="en-US" dirty="0"/>
              <a:t>Specify outer=TRUE if you would like to place labels in the outer margin.</a:t>
            </a:r>
          </a:p>
          <a:p>
            <a:r>
              <a:rPr lang="en-US" b="1" dirty="0"/>
              <a:t>Axis</a:t>
            </a:r>
          </a:p>
          <a:p>
            <a:pPr lvl="1"/>
            <a:r>
              <a:rPr lang="en-US" dirty="0"/>
              <a:t>To add axes to a plot, use the axis function</a:t>
            </a:r>
          </a:p>
          <a:p>
            <a:pPr lvl="1"/>
            <a:r>
              <a:rPr lang="en-US" i="1" dirty="0"/>
              <a:t>axis(side, at = NULL, labels = TRUE, tick = TRUE, line = NA, </a:t>
            </a:r>
            <a:r>
              <a:rPr lang="pt-BR" i="1" dirty="0"/>
              <a:t>pos = NA, outer = FALSE, font = NA, lty = "solid", </a:t>
            </a:r>
            <a:r>
              <a:rPr lang="en-US" i="1" dirty="0" err="1"/>
              <a:t>lwd</a:t>
            </a:r>
            <a:r>
              <a:rPr lang="en-US" i="1" dirty="0"/>
              <a:t> = 1, </a:t>
            </a:r>
            <a:r>
              <a:rPr lang="en-US" i="1" dirty="0" err="1"/>
              <a:t>lwd.ticks</a:t>
            </a:r>
            <a:r>
              <a:rPr lang="en-US" i="1" dirty="0"/>
              <a:t> = </a:t>
            </a:r>
            <a:r>
              <a:rPr lang="en-US" i="1" dirty="0" err="1"/>
              <a:t>lwd</a:t>
            </a:r>
            <a:r>
              <a:rPr lang="en-US" i="1" dirty="0"/>
              <a:t>, col = NULL, </a:t>
            </a:r>
            <a:r>
              <a:rPr lang="en-US" i="1" dirty="0" err="1"/>
              <a:t>col.ticks</a:t>
            </a:r>
            <a:r>
              <a:rPr lang="en-US" i="1" dirty="0"/>
              <a:t> = NULL, </a:t>
            </a:r>
            <a:r>
              <a:rPr lang="en-US" i="1" dirty="0" err="1"/>
              <a:t>hadj</a:t>
            </a:r>
            <a:r>
              <a:rPr lang="en-US" i="1" dirty="0"/>
              <a:t> = NA, </a:t>
            </a:r>
            <a:r>
              <a:rPr lang="en-US" i="1" dirty="0" err="1"/>
              <a:t>padj</a:t>
            </a:r>
            <a:r>
              <a:rPr lang="en-US" i="1" dirty="0"/>
              <a:t> = NA, ...)</a:t>
            </a:r>
          </a:p>
          <a:p>
            <a:pPr marL="457200" lvl="1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849340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DF2B9-1575-450B-A616-A645EAE68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510"/>
            <a:ext cx="10515600" cy="773209"/>
          </a:xfrm>
        </p:spPr>
        <p:txBody>
          <a:bodyPr/>
          <a:lstStyle/>
          <a:p>
            <a:r>
              <a:rPr lang="en-US" dirty="0"/>
              <a:t>Basic Graphic Functions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0E355F-25ED-486F-BA39-738637C1C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7" y="867747"/>
            <a:ext cx="11672596" cy="5811743"/>
          </a:xfrm>
        </p:spPr>
        <p:txBody>
          <a:bodyPr>
            <a:normAutofit/>
          </a:bodyPr>
          <a:lstStyle/>
          <a:p>
            <a:r>
              <a:rPr lang="en-US" b="1" dirty="0"/>
              <a:t>Box</a:t>
            </a:r>
          </a:p>
          <a:p>
            <a:pPr lvl="1"/>
            <a:r>
              <a:rPr lang="en-US" dirty="0"/>
              <a:t>The box function can be used to draw a box around the current figure region</a:t>
            </a:r>
          </a:p>
          <a:p>
            <a:pPr lvl="1"/>
            <a:r>
              <a:rPr lang="en-US" dirty="0"/>
              <a:t>This can be useful when plotting multiple figures within a graphics device:</a:t>
            </a:r>
          </a:p>
          <a:p>
            <a:pPr lvl="1"/>
            <a:r>
              <a:rPr lang="en-US" dirty="0"/>
              <a:t>box(which = "plot", </a:t>
            </a:r>
            <a:r>
              <a:rPr lang="en-US" dirty="0" err="1"/>
              <a:t>lty</a:t>
            </a:r>
            <a:r>
              <a:rPr lang="en-US" dirty="0"/>
              <a:t> = "solid", ...)</a:t>
            </a:r>
          </a:p>
          <a:p>
            <a:pPr lvl="1"/>
            <a:r>
              <a:rPr lang="en-US" dirty="0"/>
              <a:t>The </a:t>
            </a:r>
            <a:r>
              <a:rPr lang="en-US" sz="2000" dirty="0"/>
              <a:t>which </a:t>
            </a:r>
            <a:r>
              <a:rPr lang="en-US" dirty="0"/>
              <a:t>argument specifies where to draw the box. Values for </a:t>
            </a:r>
            <a:r>
              <a:rPr lang="en-US" sz="2000" dirty="0"/>
              <a:t>which </a:t>
            </a:r>
            <a:r>
              <a:rPr lang="en-US" dirty="0"/>
              <a:t>include “plot,” “figure,” “inner,” and “outer”)</a:t>
            </a:r>
          </a:p>
          <a:p>
            <a:r>
              <a:rPr lang="en-US" b="1" dirty="0" err="1"/>
              <a:t>Mtext</a:t>
            </a:r>
            <a:endParaRPr lang="en-US" b="1" dirty="0"/>
          </a:p>
          <a:p>
            <a:pPr lvl="1"/>
            <a:r>
              <a:rPr lang="en-US" dirty="0"/>
              <a:t>The </a:t>
            </a:r>
            <a:r>
              <a:rPr lang="en-US" dirty="0" err="1"/>
              <a:t>mtext</a:t>
            </a:r>
            <a:r>
              <a:rPr lang="en-US" dirty="0"/>
              <a:t> function can be used to add text to a margin of a plot:</a:t>
            </a:r>
          </a:p>
          <a:p>
            <a:pPr lvl="1"/>
            <a:r>
              <a:rPr lang="en-US" dirty="0" err="1"/>
              <a:t>mtext</a:t>
            </a:r>
            <a:r>
              <a:rPr lang="en-US" dirty="0"/>
              <a:t>(text, side = 3, line = 0, outer = FALSE, at = NA, </a:t>
            </a:r>
            <a:r>
              <a:rPr lang="pl-PL" dirty="0"/>
              <a:t>adj = NA, padj = NA, cex = NA, col = NA, font = NA, ...)</a:t>
            </a:r>
            <a:endParaRPr lang="en-US" dirty="0"/>
          </a:p>
          <a:p>
            <a:pPr lvl="1"/>
            <a:r>
              <a:rPr lang="en-US" dirty="0"/>
              <a:t>Use the </a:t>
            </a:r>
            <a:r>
              <a:rPr lang="en-US" sz="2000" dirty="0"/>
              <a:t>side </a:t>
            </a:r>
            <a:r>
              <a:rPr lang="en-US" dirty="0"/>
              <a:t>parameter to specify where to plot the text (side = 1 for bottom, side = 2 for left, side = 3 for top, and side = 4 for right). </a:t>
            </a:r>
          </a:p>
          <a:p>
            <a:pPr lvl="1"/>
            <a:r>
              <a:rPr lang="en-US" dirty="0"/>
              <a:t>The </a:t>
            </a:r>
            <a:r>
              <a:rPr lang="en-US" sz="2000" dirty="0"/>
              <a:t>line </a:t>
            </a:r>
            <a:r>
              <a:rPr lang="en-US" dirty="0"/>
              <a:t>argument specifies where to write the text, in terms of “margin lines” (starting at 0 for closest to the plot area).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180268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DF2B9-1575-450B-A616-A645EAE68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510"/>
            <a:ext cx="10515600" cy="773209"/>
          </a:xfrm>
        </p:spPr>
        <p:txBody>
          <a:bodyPr/>
          <a:lstStyle/>
          <a:p>
            <a:r>
              <a:rPr lang="en-US" dirty="0"/>
              <a:t>Basic Graphic Functions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0E355F-25ED-486F-BA39-738637C1C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7" y="867747"/>
            <a:ext cx="11672596" cy="5811743"/>
          </a:xfrm>
        </p:spPr>
        <p:txBody>
          <a:bodyPr>
            <a:normAutofit/>
          </a:bodyPr>
          <a:lstStyle/>
          <a:p>
            <a:r>
              <a:rPr lang="en-US" b="1" dirty="0"/>
              <a:t>Trans3d</a:t>
            </a:r>
          </a:p>
          <a:p>
            <a:pPr lvl="1"/>
            <a:r>
              <a:rPr lang="en-US" dirty="0"/>
              <a:t>To add lines or points to a perspective plot (from </a:t>
            </a:r>
            <a:r>
              <a:rPr lang="en-US" sz="2000" dirty="0" err="1"/>
              <a:t>persp</a:t>
            </a:r>
            <a:r>
              <a:rPr lang="en-US" dirty="0"/>
              <a:t>), you might find the function </a:t>
            </a:r>
            <a:r>
              <a:rPr lang="en-US" sz="2000" b="1" dirty="0"/>
              <a:t>trans3d</a:t>
            </a:r>
            <a:r>
              <a:rPr lang="en-US" sz="2000" dirty="0"/>
              <a:t> </a:t>
            </a:r>
            <a:r>
              <a:rPr lang="en-US" dirty="0"/>
              <a:t>convenient:</a:t>
            </a:r>
          </a:p>
          <a:p>
            <a:pPr lvl="1"/>
            <a:r>
              <a:rPr lang="en-US" dirty="0"/>
              <a:t>trans3d(</a:t>
            </a:r>
            <a:r>
              <a:rPr lang="en-US" dirty="0" err="1"/>
              <a:t>x,y,z</a:t>
            </a:r>
            <a:r>
              <a:rPr lang="en-US" dirty="0"/>
              <a:t>, </a:t>
            </a:r>
            <a:r>
              <a:rPr lang="en-US" dirty="0" err="1"/>
              <a:t>pmat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This function takes vectors of points 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, and </a:t>
            </a:r>
            <a:r>
              <a:rPr lang="en-US" i="1" dirty="0"/>
              <a:t>z </a:t>
            </a:r>
            <a:r>
              <a:rPr lang="en-US" dirty="0"/>
              <a:t>and translates them into the correct screen position</a:t>
            </a:r>
          </a:p>
          <a:p>
            <a:pPr lvl="1"/>
            <a:r>
              <a:rPr lang="en-US" dirty="0"/>
              <a:t>The argument </a:t>
            </a:r>
            <a:r>
              <a:rPr lang="en-US" sz="2000" dirty="0" err="1"/>
              <a:t>pmat</a:t>
            </a:r>
            <a:r>
              <a:rPr lang="en-US" sz="2000" dirty="0"/>
              <a:t> </a:t>
            </a:r>
            <a:r>
              <a:rPr lang="en-US" dirty="0"/>
              <a:t>is a </a:t>
            </a:r>
            <a:r>
              <a:rPr lang="en-US" i="1" dirty="0"/>
              <a:t>perspective matrix </a:t>
            </a:r>
            <a:r>
              <a:rPr lang="en-US" dirty="0"/>
              <a:t>that is used for translation. </a:t>
            </a:r>
          </a:p>
          <a:p>
            <a:pPr lvl="1"/>
            <a:r>
              <a:rPr lang="en-US" dirty="0"/>
              <a:t>The </a:t>
            </a:r>
            <a:r>
              <a:rPr lang="en-US" sz="2000" dirty="0" err="1"/>
              <a:t>persp</a:t>
            </a:r>
            <a:r>
              <a:rPr lang="en-US" sz="2000" dirty="0"/>
              <a:t> </a:t>
            </a:r>
            <a:r>
              <a:rPr lang="en-US" dirty="0"/>
              <a:t>function will return an appropriate perspective matrix object for use by trans3d</a:t>
            </a:r>
            <a:r>
              <a:rPr lang="en-US" sz="2800" dirty="0"/>
              <a:t>.</a:t>
            </a:r>
            <a:endParaRPr lang="en-US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005388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1D7FC-4F48-47AA-8923-BAB0B95F5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9572E-A517-49D7-9422-26D88AA38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7070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25C57-5AD6-4CD3-8D32-48919175A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LATTICE GRAPHICS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AE9323-CA02-4020-B9E8-06609B1B4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7476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7134-5F95-4A72-BF54-977F9CCB9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207"/>
            <a:ext cx="10515600" cy="885177"/>
          </a:xfrm>
        </p:spPr>
        <p:txBody>
          <a:bodyPr/>
          <a:lstStyle/>
          <a:p>
            <a:r>
              <a:rPr lang="en-US" b="1" dirty="0"/>
              <a:t>Lattice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2B831-70C4-4449-A8AC-128D57B15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0383"/>
            <a:ext cx="10515600" cy="554238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Lattice graphics look different from standard R graphics, are created with different functions, and have different options</a:t>
            </a:r>
          </a:p>
          <a:p>
            <a:r>
              <a:rPr lang="en-US" dirty="0"/>
              <a:t>Lattice functions make it easy to do some things that are hard to do with standard graphics, such as plotting multiple plots on the same page or superimposing plots</a:t>
            </a:r>
          </a:p>
          <a:p>
            <a:r>
              <a:rPr lang="en-US" dirty="0"/>
              <a:t>The lattice package is an implementation of Trellis graphics in R</a:t>
            </a:r>
          </a:p>
          <a:p>
            <a:r>
              <a:rPr lang="en-US" dirty="0"/>
              <a:t>Lattice graphics consist of one or more rectangular drawing areas called </a:t>
            </a:r>
            <a:r>
              <a:rPr lang="en-US" i="1" dirty="0"/>
              <a:t>panels</a:t>
            </a:r>
          </a:p>
          <a:p>
            <a:r>
              <a:rPr lang="en-US" dirty="0"/>
              <a:t>The data assigned to each panel is referred to as a </a:t>
            </a:r>
            <a:r>
              <a:rPr lang="en-US" i="1" dirty="0"/>
              <a:t>packet</a:t>
            </a:r>
          </a:p>
          <a:p>
            <a:r>
              <a:rPr lang="en-US" dirty="0"/>
              <a:t>Lattice functions work by calling one or more </a:t>
            </a:r>
            <a:r>
              <a:rPr lang="en-US" i="1" dirty="0"/>
              <a:t>panel functions</a:t>
            </a:r>
            <a:r>
              <a:rPr lang="en-US" dirty="0"/>
              <a:t>, which actually plot the packets within panels</a:t>
            </a:r>
          </a:p>
          <a:p>
            <a:r>
              <a:rPr lang="en-US" dirty="0"/>
              <a:t>To change the appearance of a plot, you can specify arguments to the plotting function or change the panel function.</a:t>
            </a:r>
          </a:p>
        </p:txBody>
      </p:sp>
    </p:spTree>
    <p:extLst>
      <p:ext uri="{BB962C8B-B14F-4D97-AF65-F5344CB8AC3E}">
        <p14:creationId xmlns:p14="http://schemas.microsoft.com/office/powerpoint/2010/main" val="22127657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7134-5F95-4A72-BF54-977F9CCB9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207"/>
            <a:ext cx="10515600" cy="885177"/>
          </a:xfrm>
        </p:spPr>
        <p:txBody>
          <a:bodyPr/>
          <a:lstStyle/>
          <a:p>
            <a:r>
              <a:rPr lang="en-US" b="1" dirty="0"/>
              <a:t>Lattice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2B831-70C4-4449-A8AC-128D57B15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0383"/>
            <a:ext cx="10515600" cy="5542383"/>
          </a:xfrm>
        </p:spPr>
        <p:txBody>
          <a:bodyPr>
            <a:normAutofit/>
          </a:bodyPr>
          <a:lstStyle/>
          <a:p>
            <a:r>
              <a:rPr lang="en-US" dirty="0"/>
              <a:t>Some of the most common plots in lattice include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err="1"/>
              <a:t>Xyplot</a:t>
            </a:r>
            <a:r>
              <a:rPr lang="en-US" dirty="0"/>
              <a:t>()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err="1"/>
              <a:t>Splom</a:t>
            </a:r>
            <a:r>
              <a:rPr lang="en-US" dirty="0"/>
              <a:t>()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Cloud()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err="1"/>
              <a:t>Stripplot</a:t>
            </a:r>
            <a:r>
              <a:rPr lang="en-US" dirty="0"/>
              <a:t>()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err="1"/>
              <a:t>bwplot</a:t>
            </a:r>
            <a:r>
              <a:rPr lang="en-US" dirty="0"/>
              <a:t>()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err="1"/>
              <a:t>Dotplot</a:t>
            </a:r>
            <a:r>
              <a:rPr lang="en-US" dirty="0"/>
              <a:t>()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err="1"/>
              <a:t>Barchart</a:t>
            </a:r>
            <a:r>
              <a:rPr lang="en-US" dirty="0"/>
              <a:t>()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Histogram()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err="1"/>
              <a:t>Densityplot</a:t>
            </a:r>
            <a:r>
              <a:rPr lang="en-US" dirty="0"/>
              <a:t>()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err="1"/>
              <a:t>Qqmath</a:t>
            </a:r>
            <a:r>
              <a:rPr lang="en-US" dirty="0"/>
              <a:t>()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err="1"/>
              <a:t>Qq</a:t>
            </a:r>
            <a:r>
              <a:rPr lang="en-US" dirty="0"/>
              <a:t>()</a:t>
            </a:r>
          </a:p>
          <a:p>
            <a:pPr marL="457200" lvl="1" indent="0">
              <a:buNone/>
            </a:pPr>
            <a:endParaRPr lang="en-US" dirty="0"/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606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7134-5F95-4A72-BF54-977F9CCB9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207"/>
            <a:ext cx="10515600" cy="885177"/>
          </a:xfrm>
        </p:spPr>
        <p:txBody>
          <a:bodyPr/>
          <a:lstStyle/>
          <a:p>
            <a:r>
              <a:rPr lang="en-US" b="1" dirty="0"/>
              <a:t>Lattice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2B831-70C4-4449-A8AC-128D57B15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0383"/>
            <a:ext cx="10515600" cy="5542383"/>
          </a:xfrm>
        </p:spPr>
        <p:txBody>
          <a:bodyPr>
            <a:normAutofit/>
          </a:bodyPr>
          <a:lstStyle/>
          <a:p>
            <a:r>
              <a:rPr lang="en-US" b="1" dirty="0" err="1"/>
              <a:t>xyplot</a:t>
            </a:r>
            <a:r>
              <a:rPr lang="en-US" b="1" dirty="0"/>
              <a:t>()</a:t>
            </a:r>
          </a:p>
          <a:p>
            <a:pPr lvl="1"/>
            <a:r>
              <a:rPr lang="en-US" sz="1400" dirty="0"/>
              <a:t> </a:t>
            </a:r>
            <a:r>
              <a:rPr lang="en-US" dirty="0"/>
              <a:t>One of the most commonly used functions 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xyplot</a:t>
            </a:r>
            <a:r>
              <a:rPr lang="en-US" dirty="0"/>
              <a:t>() function is usually used to create a scatter plot using the lattice package in R.</a:t>
            </a:r>
            <a:endParaRPr lang="en-US" b="1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18DF4D-45C4-483F-9F45-E583505BA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152" y="2754699"/>
            <a:ext cx="3400023" cy="8049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98B5E8-A95C-4609-A284-809593868B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9788" y="2247960"/>
            <a:ext cx="6561864" cy="3290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5964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7134-5F95-4A72-BF54-977F9CCB9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207"/>
            <a:ext cx="10515600" cy="885177"/>
          </a:xfrm>
        </p:spPr>
        <p:txBody>
          <a:bodyPr/>
          <a:lstStyle/>
          <a:p>
            <a:r>
              <a:rPr lang="en-US" b="1" dirty="0"/>
              <a:t>Lattice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2B831-70C4-4449-A8AC-128D57B15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0383"/>
            <a:ext cx="10515600" cy="5542383"/>
          </a:xfrm>
        </p:spPr>
        <p:txBody>
          <a:bodyPr>
            <a:normAutofit/>
          </a:bodyPr>
          <a:lstStyle/>
          <a:p>
            <a:r>
              <a:rPr lang="en-US" b="1" dirty="0" err="1"/>
              <a:t>xyplot</a:t>
            </a:r>
            <a:r>
              <a:rPr lang="en-US" b="1" dirty="0"/>
              <a:t>()</a:t>
            </a:r>
          </a:p>
          <a:p>
            <a:pPr lvl="1"/>
            <a:r>
              <a:rPr lang="en-US" dirty="0"/>
              <a:t>To make the plot more meaningful, we can use different colors to the data points according to their categories by using the argument </a:t>
            </a:r>
            <a:r>
              <a:rPr lang="en-US" b="1" dirty="0"/>
              <a:t>group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65E015-CBE2-48AA-95A8-B3440C81C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290" y="2815871"/>
            <a:ext cx="3271234" cy="9530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55CDEA-E291-4AF3-B501-A085A02EFA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8094" y="2569647"/>
            <a:ext cx="5706559" cy="286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0926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7134-5F95-4A72-BF54-977F9CCB9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207"/>
            <a:ext cx="10515600" cy="885177"/>
          </a:xfrm>
        </p:spPr>
        <p:txBody>
          <a:bodyPr/>
          <a:lstStyle/>
          <a:p>
            <a:r>
              <a:rPr lang="en-US" b="1" dirty="0"/>
              <a:t>Lattice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2B831-70C4-4449-A8AC-128D57B15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0383"/>
            <a:ext cx="10515600" cy="5542383"/>
          </a:xfrm>
        </p:spPr>
        <p:txBody>
          <a:bodyPr>
            <a:normAutofit/>
          </a:bodyPr>
          <a:lstStyle/>
          <a:p>
            <a:r>
              <a:rPr lang="en-US" b="1" dirty="0" err="1"/>
              <a:t>xyplot</a:t>
            </a:r>
            <a:r>
              <a:rPr lang="en-US" b="1" dirty="0"/>
              <a:t>()</a:t>
            </a:r>
          </a:p>
          <a:p>
            <a:pPr lvl="1"/>
            <a:r>
              <a:rPr lang="en-US" dirty="0"/>
              <a:t>Lattice plot is known for its ability to create plots in multiple panels. </a:t>
            </a:r>
          </a:p>
          <a:p>
            <a:pPr lvl="1"/>
            <a:r>
              <a:rPr lang="en-US" dirty="0"/>
              <a:t>We can generate multiple graphs such that each graph represents a single group.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D67DD6-2E32-424C-9496-F280795DF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49" y="2706600"/>
            <a:ext cx="4753662" cy="11462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73E466-6854-4A2F-A730-DA0AFD2098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111" y="2620922"/>
            <a:ext cx="4913457" cy="246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0381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7134-5F95-4A72-BF54-977F9CCB9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207"/>
            <a:ext cx="10515600" cy="885177"/>
          </a:xfrm>
        </p:spPr>
        <p:txBody>
          <a:bodyPr/>
          <a:lstStyle/>
          <a:p>
            <a:r>
              <a:rPr lang="en-US" b="1" dirty="0"/>
              <a:t>Lattice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2B831-70C4-4449-A8AC-128D57B15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0385"/>
            <a:ext cx="10515600" cy="5542380"/>
          </a:xfrm>
        </p:spPr>
        <p:txBody>
          <a:bodyPr>
            <a:normAutofit/>
          </a:bodyPr>
          <a:lstStyle/>
          <a:p>
            <a:r>
              <a:rPr lang="en-US" b="1" dirty="0" err="1"/>
              <a:t>splom</a:t>
            </a:r>
            <a:r>
              <a:rPr lang="en-US" b="1" dirty="0"/>
              <a:t>()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splom</a:t>
            </a:r>
            <a:r>
              <a:rPr lang="en-US" dirty="0"/>
              <a:t>() function in R , short for ‘ scatter plot matrix’ is a part of the lattice package, which provides an easy way to create a matrix of scatterplots for exploring relationship between multiple variables</a:t>
            </a:r>
          </a:p>
          <a:p>
            <a:pPr lvl="1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0C3D55-8064-4452-A416-41293A0DED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826" y="2575614"/>
            <a:ext cx="2347163" cy="11659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A7AD5B-13B1-4927-96E1-2A2A634E90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3812" y="2892490"/>
            <a:ext cx="5842203" cy="292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3043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7134-5F95-4A72-BF54-977F9CCB9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207"/>
            <a:ext cx="10515600" cy="885177"/>
          </a:xfrm>
        </p:spPr>
        <p:txBody>
          <a:bodyPr/>
          <a:lstStyle/>
          <a:p>
            <a:r>
              <a:rPr lang="en-US" b="1" dirty="0"/>
              <a:t>Lattice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2B831-70C4-4449-A8AC-128D57B15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0383"/>
            <a:ext cx="10515600" cy="5542383"/>
          </a:xfrm>
        </p:spPr>
        <p:txBody>
          <a:bodyPr>
            <a:normAutofit/>
          </a:bodyPr>
          <a:lstStyle/>
          <a:p>
            <a:r>
              <a:rPr lang="en-US" b="1" dirty="0"/>
              <a:t>cloud()</a:t>
            </a:r>
          </a:p>
          <a:p>
            <a:pPr lvl="1"/>
            <a:r>
              <a:rPr lang="en-US" dirty="0"/>
              <a:t>To create 3D scatter plots using the Lattice package, we can use the predefined function cloud(). 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07A9D2-BC8B-4D50-88E4-5D96E9BC1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75" y="2529187"/>
            <a:ext cx="4327301" cy="6053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1F9F64-4C63-4499-B65C-56C3DF11A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8331" y="2198147"/>
            <a:ext cx="2297852" cy="23145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79FC3D-CD0F-4504-AA36-593DA6F079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241" y="5073553"/>
            <a:ext cx="4224270" cy="9594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6F41AC-081C-4760-838B-DF2D204F32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7868" y="3483012"/>
            <a:ext cx="2884868" cy="318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1871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7134-5F95-4A72-BF54-977F9CCB9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207"/>
            <a:ext cx="10515600" cy="885177"/>
          </a:xfrm>
        </p:spPr>
        <p:txBody>
          <a:bodyPr/>
          <a:lstStyle/>
          <a:p>
            <a:r>
              <a:rPr lang="en-US" b="1" dirty="0"/>
              <a:t>Lattice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2B831-70C4-4449-A8AC-128D57B15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0383"/>
            <a:ext cx="10515600" cy="5542383"/>
          </a:xfrm>
        </p:spPr>
        <p:txBody>
          <a:bodyPr>
            <a:normAutofit/>
          </a:bodyPr>
          <a:lstStyle/>
          <a:p>
            <a:r>
              <a:rPr lang="en-US" b="1" dirty="0" err="1"/>
              <a:t>stripplot</a:t>
            </a:r>
            <a:r>
              <a:rPr lang="en-US" b="1" dirty="0"/>
              <a:t>()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stripplot</a:t>
            </a:r>
            <a:r>
              <a:rPr lang="en-US" dirty="0"/>
              <a:t>() function in R, also known as a </a:t>
            </a:r>
            <a:r>
              <a:rPr lang="en-US" dirty="0" err="1"/>
              <a:t>stripchart</a:t>
            </a:r>
            <a:r>
              <a:rPr lang="en-US" dirty="0"/>
              <a:t> or dot plot, is used to create a one-dimensional scatterplot of the data points along a single axis</a:t>
            </a:r>
          </a:p>
          <a:p>
            <a:pPr lvl="1"/>
            <a:r>
              <a:rPr lang="en-US" dirty="0"/>
              <a:t>It's particularly useful for visualizing the distribution of a continuous variable or comparing the distribution of multiple groups.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1E37DB-52BE-478D-A2DE-C5B69A5AB1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862" y="3616556"/>
            <a:ext cx="5075360" cy="15469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D3A08C0-FE2D-4D63-A98C-51F794FB51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125384"/>
            <a:ext cx="5659264" cy="2837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3161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7134-5F95-4A72-BF54-977F9CCB9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207"/>
            <a:ext cx="10515600" cy="885177"/>
          </a:xfrm>
        </p:spPr>
        <p:txBody>
          <a:bodyPr/>
          <a:lstStyle/>
          <a:p>
            <a:r>
              <a:rPr lang="en-US" b="1" dirty="0"/>
              <a:t>Lattice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2B831-70C4-4449-A8AC-128D57B15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0383"/>
            <a:ext cx="10515600" cy="5542383"/>
          </a:xfrm>
        </p:spPr>
        <p:txBody>
          <a:bodyPr>
            <a:normAutofit/>
          </a:bodyPr>
          <a:lstStyle/>
          <a:p>
            <a:r>
              <a:rPr lang="en-US" b="1" dirty="0"/>
              <a:t>Dot plots</a:t>
            </a:r>
          </a:p>
          <a:p>
            <a:pPr lvl="1"/>
            <a:r>
              <a:rPr lang="en-US" dirty="0"/>
              <a:t>To generate a </a:t>
            </a:r>
            <a:r>
              <a:rPr lang="en-US" dirty="0" err="1"/>
              <a:t>dotplot</a:t>
            </a:r>
            <a:r>
              <a:rPr lang="en-US" dirty="0"/>
              <a:t> you will have to use the </a:t>
            </a:r>
            <a:r>
              <a:rPr lang="en-US" dirty="0" err="1"/>
              <a:t>dotplot</a:t>
            </a:r>
            <a:r>
              <a:rPr lang="en-US" dirty="0"/>
              <a:t>() function.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5C3899-252F-45CE-B0EF-94E38D00D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723" y="2373654"/>
            <a:ext cx="4584879" cy="9723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149F06-2148-40C3-870C-32E454867E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7311" y="2373654"/>
            <a:ext cx="5296012" cy="2655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5084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7134-5F95-4A72-BF54-977F9CCB9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207"/>
            <a:ext cx="10515600" cy="885177"/>
          </a:xfrm>
        </p:spPr>
        <p:txBody>
          <a:bodyPr/>
          <a:lstStyle/>
          <a:p>
            <a:r>
              <a:rPr lang="en-US" b="1" dirty="0"/>
              <a:t>Lattice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2B831-70C4-4449-A8AC-128D57B15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0383"/>
            <a:ext cx="10515600" cy="5542383"/>
          </a:xfrm>
        </p:spPr>
        <p:txBody>
          <a:bodyPr>
            <a:normAutofit/>
          </a:bodyPr>
          <a:lstStyle/>
          <a:p>
            <a:r>
              <a:rPr lang="en-US" b="1" dirty="0" err="1"/>
              <a:t>bwplot</a:t>
            </a:r>
            <a:r>
              <a:rPr lang="en-US" b="1" dirty="0"/>
              <a:t>() - Boxplots</a:t>
            </a:r>
          </a:p>
          <a:p>
            <a:pPr lvl="1"/>
            <a:r>
              <a:rPr lang="en-US" dirty="0"/>
              <a:t>In order to plot Boxplots using the Lattice Package, we should use </a:t>
            </a:r>
            <a:r>
              <a:rPr lang="en-US" dirty="0" err="1"/>
              <a:t>bwplot</a:t>
            </a:r>
            <a:r>
              <a:rPr lang="en-US" dirty="0"/>
              <a:t>() function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833038-0AAF-41DC-8373-B37256565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134" y="2596932"/>
            <a:ext cx="4533363" cy="10109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95A6E2-263B-4ADB-AC69-D4B0EE61E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9385" y="2187477"/>
            <a:ext cx="5324004" cy="2669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9051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7134-5F95-4A72-BF54-977F9CCB9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207"/>
            <a:ext cx="10515600" cy="885177"/>
          </a:xfrm>
        </p:spPr>
        <p:txBody>
          <a:bodyPr/>
          <a:lstStyle/>
          <a:p>
            <a:r>
              <a:rPr lang="en-US" b="1" dirty="0"/>
              <a:t>Lattice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2B831-70C4-4449-A8AC-128D57B15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0383"/>
            <a:ext cx="10515600" cy="5542383"/>
          </a:xfrm>
        </p:spPr>
        <p:txBody>
          <a:bodyPr>
            <a:normAutofit/>
          </a:bodyPr>
          <a:lstStyle/>
          <a:p>
            <a:r>
              <a:rPr lang="en-US" b="1" dirty="0"/>
              <a:t>Histograms</a:t>
            </a:r>
          </a:p>
          <a:p>
            <a:pPr lvl="1"/>
            <a:r>
              <a:rPr lang="en-US" dirty="0"/>
              <a:t>Lattice offers other options to visualize the data such as the histograms. We use the pre-defined function histogram() to create histograms in R just as follows: 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DB06DD-502A-47E8-A293-9D9A54E3C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599" y="2675257"/>
            <a:ext cx="3683358" cy="6117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07BF2A-8CE4-4BA1-BEDB-5066A61AEA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3610" y="2275236"/>
            <a:ext cx="6051791" cy="3034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8235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7134-5F95-4A72-BF54-977F9CCB9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207"/>
            <a:ext cx="10515600" cy="885177"/>
          </a:xfrm>
        </p:spPr>
        <p:txBody>
          <a:bodyPr/>
          <a:lstStyle/>
          <a:p>
            <a:r>
              <a:rPr lang="en-US" b="1" dirty="0"/>
              <a:t>Lattice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2B831-70C4-4449-A8AC-128D57B15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0383"/>
            <a:ext cx="10515600" cy="5542383"/>
          </a:xfrm>
        </p:spPr>
        <p:txBody>
          <a:bodyPr>
            <a:normAutofit/>
          </a:bodyPr>
          <a:lstStyle/>
          <a:p>
            <a:r>
              <a:rPr lang="en-US" b="1" dirty="0"/>
              <a:t>Density plots</a:t>
            </a:r>
          </a:p>
          <a:p>
            <a:pPr lvl="1"/>
            <a:r>
              <a:rPr lang="en-US" dirty="0"/>
              <a:t>Density plots can be created in R using the </a:t>
            </a:r>
            <a:r>
              <a:rPr lang="en-US" dirty="0" err="1"/>
              <a:t>densityplot</a:t>
            </a:r>
            <a:r>
              <a:rPr lang="en-US" dirty="0"/>
              <a:t>() function which is also accessible through the Lattice package.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E26A1F-5193-4187-B12C-2C7C8B23D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68" y="2423659"/>
            <a:ext cx="4971245" cy="5924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C8132E-BE40-4A4C-B2C8-289BC17534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445" y="2154535"/>
            <a:ext cx="5794310" cy="290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3935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7134-5F95-4A72-BF54-977F9CCB9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207"/>
            <a:ext cx="10515600" cy="64257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Customizing Lattice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2B831-70C4-4449-A8AC-128D57B15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216" y="625151"/>
            <a:ext cx="10952584" cy="6147642"/>
          </a:xfrm>
        </p:spPr>
        <p:txBody>
          <a:bodyPr>
            <a:normAutofit/>
          </a:bodyPr>
          <a:lstStyle/>
          <a:p>
            <a:r>
              <a:rPr lang="en-US" b="1" dirty="0"/>
              <a:t>Common Arguments to lattice functions</a:t>
            </a:r>
          </a:p>
          <a:p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C8F2E5-EE87-4EA4-888A-E29639805B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111" y="1202093"/>
            <a:ext cx="10179697" cy="5403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8217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7134-5F95-4A72-BF54-977F9CCB9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207"/>
            <a:ext cx="10515600" cy="64257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Customizing Lattice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2B831-70C4-4449-A8AC-128D57B15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216" y="625151"/>
            <a:ext cx="10952584" cy="6147642"/>
          </a:xfrm>
        </p:spPr>
        <p:txBody>
          <a:bodyPr>
            <a:normAutofit/>
          </a:bodyPr>
          <a:lstStyle/>
          <a:p>
            <a:r>
              <a:rPr lang="en-US" b="1" dirty="0"/>
              <a:t>Common Arguments to lattice functions</a:t>
            </a:r>
          </a:p>
          <a:p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A5206B-2D34-4A9C-BE16-4FF55FC519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06" y="1267729"/>
            <a:ext cx="9134670" cy="396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6237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7134-5F95-4A72-BF54-977F9CCB9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207"/>
            <a:ext cx="10515600" cy="885177"/>
          </a:xfrm>
        </p:spPr>
        <p:txBody>
          <a:bodyPr/>
          <a:lstStyle/>
          <a:p>
            <a:r>
              <a:rPr lang="en-US" b="1" dirty="0"/>
              <a:t>Customizing Lattice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2B831-70C4-4449-A8AC-128D57B15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0383"/>
            <a:ext cx="10515600" cy="5542383"/>
          </a:xfrm>
        </p:spPr>
        <p:txBody>
          <a:bodyPr>
            <a:normAutofit/>
          </a:bodyPr>
          <a:lstStyle/>
          <a:p>
            <a:r>
              <a:rPr lang="en-US" b="1" dirty="0"/>
              <a:t>Controlling how axes are drawn:</a:t>
            </a:r>
          </a:p>
          <a:p>
            <a:r>
              <a:rPr lang="en-US" dirty="0"/>
              <a:t>You can control how axes are drawn in the </a:t>
            </a:r>
            <a:r>
              <a:rPr lang="en-US" sz="2400" dirty="0"/>
              <a:t>lattice </a:t>
            </a:r>
            <a:r>
              <a:rPr lang="en-US" dirty="0"/>
              <a:t>package by named values in the argument </a:t>
            </a:r>
            <a:r>
              <a:rPr lang="en-US" sz="2400" dirty="0"/>
              <a:t>scales</a:t>
            </a:r>
          </a:p>
          <a:p>
            <a:r>
              <a:rPr lang="en-US" dirty="0"/>
              <a:t>You may specify a single list for </a:t>
            </a:r>
            <a:r>
              <a:rPr lang="en-US" i="1" dirty="0"/>
              <a:t>x</a:t>
            </a:r>
            <a:r>
              <a:rPr lang="en-US" dirty="0"/>
              <a:t>- and </a:t>
            </a:r>
            <a:r>
              <a:rPr lang="en-US" i="1" dirty="0"/>
              <a:t>y</a:t>
            </a:r>
            <a:r>
              <a:rPr lang="en-US" dirty="0"/>
              <a:t>-axes or specify a list of lists with separate </a:t>
            </a:r>
            <a:r>
              <a:rPr lang="en-US" i="1" dirty="0"/>
              <a:t>x</a:t>
            </a:r>
            <a:r>
              <a:rPr lang="en-US" dirty="0"/>
              <a:t>- and </a:t>
            </a:r>
            <a:r>
              <a:rPr lang="en-US" i="1" dirty="0"/>
              <a:t>y</a:t>
            </a:r>
            <a:r>
              <a:rPr lang="en-US" dirty="0"/>
              <a:t>-axes</a:t>
            </a:r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To shrink all text by 50% and just plot the </a:t>
            </a:r>
            <a:r>
              <a:rPr lang="en-US" i="1" dirty="0"/>
              <a:t>x</a:t>
            </a:r>
            <a:r>
              <a:rPr lang="en-US" dirty="0"/>
              <a:t>-axis as a base 2 logarithm, use the argument :</a:t>
            </a:r>
          </a:p>
          <a:p>
            <a:pPr lvl="1"/>
            <a:r>
              <a:rPr lang="en-US" sz="2000" dirty="0"/>
              <a:t>scales=list(</a:t>
            </a:r>
            <a:r>
              <a:rPr lang="en-US" sz="2000" dirty="0" err="1"/>
              <a:t>cex</a:t>
            </a:r>
            <a:r>
              <a:rPr lang="en-US" sz="2000" dirty="0"/>
              <a:t>=.5, x = </a:t>
            </a:r>
            <a:r>
              <a:rPr lang="en-US" dirty="0"/>
              <a:t>list(log = 2))</a:t>
            </a:r>
          </a:p>
        </p:txBody>
      </p:sp>
    </p:spTree>
    <p:extLst>
      <p:ext uri="{BB962C8B-B14F-4D97-AF65-F5344CB8AC3E}">
        <p14:creationId xmlns:p14="http://schemas.microsoft.com/office/powerpoint/2010/main" val="18529626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7134-5F95-4A72-BF54-977F9CCB9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207"/>
            <a:ext cx="10515600" cy="885177"/>
          </a:xfrm>
        </p:spPr>
        <p:txBody>
          <a:bodyPr/>
          <a:lstStyle/>
          <a:p>
            <a:r>
              <a:rPr lang="en-US" b="1" dirty="0"/>
              <a:t>Customizing Lattice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2B831-70C4-4449-A8AC-128D57B15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0383"/>
            <a:ext cx="10515600" cy="5542383"/>
          </a:xfrm>
        </p:spPr>
        <p:txBody>
          <a:bodyPr>
            <a:normAutofit/>
          </a:bodyPr>
          <a:lstStyle/>
          <a:p>
            <a:r>
              <a:rPr lang="en-US" b="1" dirty="0"/>
              <a:t>Controlling how axes are drawn:</a:t>
            </a:r>
          </a:p>
          <a:p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1E1546-2911-43F4-A93D-C7AF868C9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49" y="1417272"/>
            <a:ext cx="6096528" cy="46486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FA40B0-E40E-410C-B83C-200C884733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377" y="1342626"/>
            <a:ext cx="5821774" cy="25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2163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7134-5F95-4A72-BF54-977F9CCB9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207"/>
            <a:ext cx="10515600" cy="885177"/>
          </a:xfrm>
        </p:spPr>
        <p:txBody>
          <a:bodyPr/>
          <a:lstStyle/>
          <a:p>
            <a:r>
              <a:rPr lang="en-US" b="1" dirty="0"/>
              <a:t>Customizing Lattice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2B831-70C4-4449-A8AC-128D57B15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0383"/>
            <a:ext cx="10515600" cy="5542383"/>
          </a:xfrm>
        </p:spPr>
        <p:txBody>
          <a:bodyPr>
            <a:normAutofit/>
          </a:bodyPr>
          <a:lstStyle/>
          <a:p>
            <a:r>
              <a:rPr lang="en-US" b="1" dirty="0"/>
              <a:t>Parameters</a:t>
            </a:r>
          </a:p>
          <a:p>
            <a:pPr lvl="1"/>
            <a:r>
              <a:rPr lang="en-US" dirty="0"/>
              <a:t>To check the value of a setting, use the function </a:t>
            </a:r>
            <a:r>
              <a:rPr lang="en-US" dirty="0" err="1"/>
              <a:t>trellis.par.get</a:t>
            </a:r>
            <a:endParaRPr lang="en-US" dirty="0"/>
          </a:p>
          <a:p>
            <a:pPr lvl="1"/>
            <a:r>
              <a:rPr lang="en-US" dirty="0"/>
              <a:t>Example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610E89-B40D-4B4F-A282-9579AB171F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130" y="2339245"/>
            <a:ext cx="2712955" cy="217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7023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7134-5F95-4A72-BF54-977F9CCB9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207"/>
            <a:ext cx="10515600" cy="885177"/>
          </a:xfrm>
        </p:spPr>
        <p:txBody>
          <a:bodyPr/>
          <a:lstStyle/>
          <a:p>
            <a:r>
              <a:rPr lang="en-US" b="1" dirty="0"/>
              <a:t>Customizing Lattice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2B831-70C4-4449-A8AC-128D57B15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0383"/>
            <a:ext cx="10515600" cy="5542383"/>
          </a:xfrm>
        </p:spPr>
        <p:txBody>
          <a:bodyPr>
            <a:normAutofit/>
          </a:bodyPr>
          <a:lstStyle/>
          <a:p>
            <a:r>
              <a:rPr lang="en-US" b="1" dirty="0"/>
              <a:t>Parameters</a:t>
            </a:r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91185C-BF2A-4CC5-A95A-D779591B8B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825" y="1529854"/>
            <a:ext cx="6180356" cy="486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7909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7134-5F95-4A72-BF54-977F9CCB9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207"/>
            <a:ext cx="10515600" cy="885177"/>
          </a:xfrm>
        </p:spPr>
        <p:txBody>
          <a:bodyPr/>
          <a:lstStyle/>
          <a:p>
            <a:r>
              <a:rPr lang="en-US" b="1" dirty="0"/>
              <a:t>Customizing Lattice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2B831-70C4-4449-A8AC-128D57B15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0383"/>
            <a:ext cx="10515600" cy="5542383"/>
          </a:xfrm>
        </p:spPr>
        <p:txBody>
          <a:bodyPr>
            <a:normAutofit/>
          </a:bodyPr>
          <a:lstStyle/>
          <a:p>
            <a:r>
              <a:rPr lang="en-US" b="1" dirty="0"/>
              <a:t>Parameters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AF43CA-DDCB-43E2-8BE3-E8D5657E70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20" y="1711131"/>
            <a:ext cx="6142252" cy="3231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F396B8-0B27-46FD-AD6F-33BEA154DB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4672" y="1795995"/>
            <a:ext cx="5438593" cy="241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059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7134-5F95-4A72-BF54-977F9CCB9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207"/>
            <a:ext cx="10515600" cy="885177"/>
          </a:xfrm>
        </p:spPr>
        <p:txBody>
          <a:bodyPr/>
          <a:lstStyle/>
          <a:p>
            <a:r>
              <a:rPr lang="en-US" b="1" dirty="0"/>
              <a:t>Customizing Lattice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2B831-70C4-4449-A8AC-128D57B15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0383"/>
            <a:ext cx="10515600" cy="5542383"/>
          </a:xfrm>
        </p:spPr>
        <p:txBody>
          <a:bodyPr>
            <a:normAutofit/>
          </a:bodyPr>
          <a:lstStyle/>
          <a:p>
            <a:r>
              <a:rPr lang="en-US" b="1" dirty="0" err="1"/>
              <a:t>Plots.trellis</a:t>
            </a:r>
            <a:endParaRPr lang="en-US" b="1" dirty="0"/>
          </a:p>
          <a:p>
            <a:pPr lvl="1"/>
            <a:r>
              <a:rPr lang="en-US" dirty="0"/>
              <a:t>lattice functions do not plot results; they return lattice objects</a:t>
            </a:r>
          </a:p>
          <a:p>
            <a:pPr lvl="1"/>
            <a:r>
              <a:rPr lang="en-US" dirty="0"/>
              <a:t>To plot a lattice object, you need to call print or plot on the lattice object</a:t>
            </a:r>
          </a:p>
          <a:p>
            <a:pPr lvl="1"/>
            <a:r>
              <a:rPr lang="en-US" dirty="0"/>
              <a:t>It’s possible to control how lattice objects are printed through arguments to </a:t>
            </a:r>
            <a:r>
              <a:rPr lang="en-US" sz="2000" dirty="0" err="1"/>
              <a:t>plot.trellis</a:t>
            </a:r>
            <a:r>
              <a:rPr lang="en-US" dirty="0"/>
              <a:t>.</a:t>
            </a:r>
          </a:p>
          <a:p>
            <a:pPr lvl="1"/>
            <a:endParaRPr lang="en-US" b="1" dirty="0"/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6624CE-B41B-48B3-84D4-C7AC50DFE0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50" y="2931980"/>
            <a:ext cx="6149873" cy="38408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6346FD-7F58-421D-91F0-7FBAB9B7D0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623" y="3039391"/>
            <a:ext cx="5729553" cy="30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8550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7134-5F95-4A72-BF54-977F9CCB9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207"/>
            <a:ext cx="10515600" cy="885177"/>
          </a:xfrm>
        </p:spPr>
        <p:txBody>
          <a:bodyPr/>
          <a:lstStyle/>
          <a:p>
            <a:r>
              <a:rPr lang="en-US" b="1" dirty="0"/>
              <a:t>Customizing Lattice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2B831-70C4-4449-A8AC-128D57B15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0383"/>
            <a:ext cx="10515600" cy="5542383"/>
          </a:xfrm>
        </p:spPr>
        <p:txBody>
          <a:bodyPr>
            <a:normAutofit/>
          </a:bodyPr>
          <a:lstStyle/>
          <a:p>
            <a:r>
              <a:rPr lang="en-US" b="1" dirty="0" err="1"/>
              <a:t>simpleKey</a:t>
            </a:r>
            <a:endParaRPr lang="en-US" b="1" dirty="0"/>
          </a:p>
          <a:p>
            <a:pPr lvl="1"/>
            <a:r>
              <a:rPr lang="en-US" dirty="0"/>
              <a:t>To customize the way that keys (or legends) are drawn for plots with multiple groups of variables, you may specify a custom function to the </a:t>
            </a:r>
            <a:r>
              <a:rPr lang="en-US" sz="2000" dirty="0"/>
              <a:t>key </a:t>
            </a:r>
            <a:r>
              <a:rPr lang="en-US" dirty="0"/>
              <a:t>argument, or you may use the </a:t>
            </a:r>
            <a:r>
              <a:rPr lang="en-US" sz="2000" dirty="0" err="1"/>
              <a:t>auto.key</a:t>
            </a:r>
            <a:r>
              <a:rPr lang="en-US" sz="2000" dirty="0"/>
              <a:t> </a:t>
            </a:r>
            <a:r>
              <a:rPr lang="en-US" dirty="0"/>
              <a:t>argument to automatically draw a key using the </a:t>
            </a:r>
            <a:r>
              <a:rPr lang="en-US" sz="2000" dirty="0" err="1"/>
              <a:t>simpleKey</a:t>
            </a:r>
            <a:r>
              <a:rPr lang="en-US" sz="2000" dirty="0"/>
              <a:t> </a:t>
            </a:r>
            <a:r>
              <a:rPr lang="en-US" dirty="0"/>
              <a:t>function.</a:t>
            </a:r>
          </a:p>
          <a:p>
            <a:pPr lvl="1"/>
            <a:r>
              <a:rPr lang="en-US" dirty="0"/>
              <a:t>If you specify </a:t>
            </a:r>
            <a:r>
              <a:rPr lang="en-US" sz="2000" dirty="0" err="1"/>
              <a:t>autoKey</a:t>
            </a:r>
            <a:r>
              <a:rPr lang="en-US" sz="2000" dirty="0"/>
              <a:t>=TRUE</a:t>
            </a:r>
            <a:r>
              <a:rPr lang="en-US" dirty="0"/>
              <a:t>, then </a:t>
            </a:r>
            <a:r>
              <a:rPr lang="en-US" sz="2000" dirty="0" err="1"/>
              <a:t>simpleKey</a:t>
            </a:r>
            <a:r>
              <a:rPr lang="en-US" sz="2000" dirty="0"/>
              <a:t> </a:t>
            </a:r>
            <a:r>
              <a:rPr lang="en-US" dirty="0"/>
              <a:t>is called with the default arguments to generate the key</a:t>
            </a:r>
          </a:p>
          <a:p>
            <a:pPr lvl="1"/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3B07AF-E3A5-42E2-AA16-E161791818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207" y="3741574"/>
            <a:ext cx="3322608" cy="133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143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25696</TotalTime>
  <Words>4038</Words>
  <Application>Microsoft Office PowerPoint</Application>
  <PresentationFormat>Widescreen</PresentationFormat>
  <Paragraphs>295</Paragraphs>
  <Slides>53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7" baseType="lpstr">
      <vt:lpstr>Arial</vt:lpstr>
      <vt:lpstr>Calibri</vt:lpstr>
      <vt:lpstr>Calibri Light</vt:lpstr>
      <vt:lpstr>Office Theme</vt:lpstr>
      <vt:lpstr>MODULE 4</vt:lpstr>
      <vt:lpstr>R Graphics</vt:lpstr>
      <vt:lpstr>R Graphics</vt:lpstr>
      <vt:lpstr>Scatter plots</vt:lpstr>
      <vt:lpstr>Scatter plot</vt:lpstr>
      <vt:lpstr>Scatter plots </vt:lpstr>
      <vt:lpstr>Base Histograms</vt:lpstr>
      <vt:lpstr>Plotting Time Series</vt:lpstr>
      <vt:lpstr>barplot</vt:lpstr>
      <vt:lpstr>Pie charts</vt:lpstr>
      <vt:lpstr>Heatmap</vt:lpstr>
      <vt:lpstr>Contours</vt:lpstr>
      <vt:lpstr>Histograms</vt:lpstr>
      <vt:lpstr>Boxplot</vt:lpstr>
      <vt:lpstr>Customizing Charts</vt:lpstr>
      <vt:lpstr>Graphical Parameters</vt:lpstr>
      <vt:lpstr>Graphical Parameters</vt:lpstr>
      <vt:lpstr>Graphical Parameters</vt:lpstr>
      <vt:lpstr>Plotting Multiple Figures</vt:lpstr>
      <vt:lpstr>Graphical Parameters</vt:lpstr>
      <vt:lpstr>Graphical Parameters</vt:lpstr>
      <vt:lpstr>Graphical Parameters</vt:lpstr>
      <vt:lpstr>Basic Graphic Functions</vt:lpstr>
      <vt:lpstr>Basic Graphic Functions</vt:lpstr>
      <vt:lpstr>Basic Graphic Functions</vt:lpstr>
      <vt:lpstr>Basic Graphic Functions</vt:lpstr>
      <vt:lpstr>Basic Graphic Functions</vt:lpstr>
      <vt:lpstr>Basic Graphic Functions</vt:lpstr>
      <vt:lpstr>Basic Graphic Functions</vt:lpstr>
      <vt:lpstr>Basic Graphic Functions</vt:lpstr>
      <vt:lpstr>PowerPoint Presentation</vt:lpstr>
      <vt:lpstr>LATTICE GRAPHICS</vt:lpstr>
      <vt:lpstr>Lattice Graphics</vt:lpstr>
      <vt:lpstr>Lattice Graphics</vt:lpstr>
      <vt:lpstr>Lattice Graphics</vt:lpstr>
      <vt:lpstr>Lattice Graphics</vt:lpstr>
      <vt:lpstr>Lattice Graphics</vt:lpstr>
      <vt:lpstr>Lattice Graphics</vt:lpstr>
      <vt:lpstr>Lattice Graphics</vt:lpstr>
      <vt:lpstr>Lattice Graphics</vt:lpstr>
      <vt:lpstr>Lattice Graphics</vt:lpstr>
      <vt:lpstr>Lattice Graphics</vt:lpstr>
      <vt:lpstr>Lattice Graphics</vt:lpstr>
      <vt:lpstr>Lattice Graphics</vt:lpstr>
      <vt:lpstr>Customizing Lattice Graphics</vt:lpstr>
      <vt:lpstr>Customizing Lattice Graphics</vt:lpstr>
      <vt:lpstr>Customizing Lattice Graphics</vt:lpstr>
      <vt:lpstr>Customizing Lattice Graphics</vt:lpstr>
      <vt:lpstr>Customizing Lattice Graphics</vt:lpstr>
      <vt:lpstr>Customizing Lattice Graphics</vt:lpstr>
      <vt:lpstr>Customizing Lattice Graphics</vt:lpstr>
      <vt:lpstr>Customizing Lattice Graphics</vt:lpstr>
      <vt:lpstr>Customizing Lattice Graphics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</dc:title>
  <dc:creator>soorya</dc:creator>
  <cp:lastModifiedBy>soorya</cp:lastModifiedBy>
  <cp:revision>72</cp:revision>
  <dcterms:created xsi:type="dcterms:W3CDTF">2024-04-02T07:59:07Z</dcterms:created>
  <dcterms:modified xsi:type="dcterms:W3CDTF">2025-03-08T13:41:42Z</dcterms:modified>
</cp:coreProperties>
</file>